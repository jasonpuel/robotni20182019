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1"/>
  </p:notesMasterIdLst>
  <p:sldIdLst>
    <p:sldId id="256" r:id="rId2"/>
    <p:sldId id="262" r:id="rId3"/>
    <p:sldId id="267" r:id="rId4"/>
    <p:sldId id="263" r:id="rId5"/>
    <p:sldId id="265" r:id="rId6"/>
    <p:sldId id="257" r:id="rId7"/>
    <p:sldId id="266" r:id="rId8"/>
    <p:sldId id="264" r:id="rId9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2781BA02-8259-4563-8138-6F25F6852E71}">
          <p14:sldIdLst>
            <p14:sldId id="256"/>
            <p14:sldId id="262"/>
            <p14:sldId id="267"/>
            <p14:sldId id="263"/>
            <p14:sldId id="265"/>
            <p14:sldId id="257"/>
            <p14:sldId id="266"/>
            <p14:sldId id="264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Nicolas\Desktop\M2\Bureau%20d'&#233;tude\Timeline%20Robot%20test.xlsx" TargetMode="External"/><Relationship Id="rId1" Type="http://schemas.openxmlformats.org/officeDocument/2006/relationships/image" Target="../media/image6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t" anchorCtr="1"/>
          <a:lstStyle/>
          <a:p>
            <a:pPr>
              <a:defRPr sz="1800" b="1" i="0" u="none" strike="noStrike" kern="1200" spc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  <a:latin typeface="+mn-lt"/>
              </a:rPr>
              <a:t>Bureau</a:t>
            </a:r>
            <a:r>
              <a:rPr lang="en-US" sz="1800" b="1" baseline="0">
                <a:solidFill>
                  <a:schemeClr val="accent1">
                    <a:lumMod val="75000"/>
                  </a:schemeClr>
                </a:solidFill>
                <a:latin typeface="+mn-lt"/>
              </a:rPr>
              <a:t> d'étude - Robot NI</a:t>
            </a:r>
            <a:endParaRPr lang="en-US" sz="1800" b="1">
              <a:solidFill>
                <a:schemeClr val="accent1">
                  <a:lumMod val="75000"/>
                </a:schemeClr>
              </a:solidFill>
              <a:latin typeface="+mn-lt"/>
            </a:endParaRPr>
          </a:p>
        </c:rich>
      </c:tx>
      <c:layout>
        <c:manualLayout>
          <c:xMode val="edge"/>
          <c:yMode val="edge"/>
          <c:x val="0.36354408426755197"/>
          <c:y val="1.1643232649711001E-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5.6978185383786448E-2"/>
          <c:y val="7.8828945337177894E-2"/>
          <c:w val="0.87548045355302873"/>
          <c:h val="0.89401558523578717"/>
        </c:manualLayout>
      </c:layout>
      <c:scatterChart>
        <c:scatterStyle val="lineMarker"/>
        <c:varyColors val="0"/>
        <c:ser>
          <c:idx val="1"/>
          <c:order val="0"/>
          <c:tx>
            <c:v>Tasks</c:v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12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EFC-4493-8724-756B5220D6C3}"/>
                </c:ext>
              </c:extLst>
            </c:dLbl>
            <c:dLbl>
              <c:idx val="1"/>
              <c:layout>
                <c:manualLayout>
                  <c:x val="-9.7988934752198428E-2"/>
                  <c:y val="4.0032866878634214E-2"/>
                </c:manualLayout>
              </c:layout>
              <c:tx>
                <c:rich>
                  <a:bodyPr/>
                  <a:lstStyle/>
                  <a:p>
                    <a:fld id="{C2B0BF25-2D42-465B-B100-3359C9E0D24B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3EFC-4493-8724-756B5220D6C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5613C16-A54F-4854-8B5C-A0959186EB64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3EFC-4493-8724-756B5220D6C3}"/>
                </c:ext>
              </c:extLst>
            </c:dLbl>
            <c:dLbl>
              <c:idx val="3"/>
              <c:layout>
                <c:manualLayout>
                  <c:x val="3.7916032487911857E-3"/>
                  <c:y val="-5.5060217310038885E-2"/>
                </c:manualLayout>
              </c:layout>
              <c:tx>
                <c:rich>
                  <a:bodyPr/>
                  <a:lstStyle/>
                  <a:p>
                    <a:fld id="{D5EAA218-5AFC-4B0F-8FC0-B4334EB078C6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3EFC-4493-8724-756B5220D6C3}"/>
                </c:ext>
              </c:extLst>
            </c:dLbl>
            <c:dLbl>
              <c:idx val="4"/>
              <c:layout>
                <c:manualLayout>
                  <c:x val="-7.336021926135379E-2"/>
                  <c:y val="-4.6726615209018649E-3"/>
                </c:manualLayout>
              </c:layout>
              <c:tx>
                <c:rich>
                  <a:bodyPr/>
                  <a:lstStyle/>
                  <a:p>
                    <a:fld id="{DA0735AE-10FB-4FFC-ADC7-B2913BFB5C9D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3EFC-4493-8724-756B5220D6C3}"/>
                </c:ext>
              </c:extLst>
            </c:dLbl>
            <c:dLbl>
              <c:idx val="5"/>
              <c:layout>
                <c:manualLayout>
                  <c:x val="-0.10557978994420465"/>
                  <c:y val="9.8574607709209661E-4"/>
                </c:manualLayout>
              </c:layout>
              <c:tx>
                <c:rich>
                  <a:bodyPr/>
                  <a:lstStyle/>
                  <a:p>
                    <a:fld id="{A6AB8D6E-327C-43BB-B986-8330892D49ED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3EFC-4493-8724-756B5220D6C3}"/>
                </c:ext>
              </c:extLst>
            </c:dLbl>
            <c:dLbl>
              <c:idx val="6"/>
              <c:layout>
                <c:manualLayout>
                  <c:x val="-9.6568292351279034E-2"/>
                  <c:y val="-2.6688577919089479E-3"/>
                </c:manualLayout>
              </c:layout>
              <c:tx>
                <c:rich>
                  <a:bodyPr/>
                  <a:lstStyle/>
                  <a:p>
                    <a:fld id="{71A8A36A-A6E3-40E5-ADFD-08BE873585EB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3EFC-4493-8724-756B5220D6C3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33D296FB-EA41-4976-B128-D88C36D12901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3EFC-4493-8724-756B5220D6C3}"/>
                </c:ext>
              </c:extLst>
            </c:dLbl>
            <c:dLbl>
              <c:idx val="8"/>
              <c:layout>
                <c:manualLayout>
                  <c:x val="-9.6124741786048962E-2"/>
                  <c:y val="-5.3377155838178958E-3"/>
                </c:manualLayout>
              </c:layout>
              <c:tx>
                <c:rich>
                  <a:bodyPr/>
                  <a:lstStyle/>
                  <a:p>
                    <a:fld id="{7C8C9FE2-B183-40AB-95A6-BAE7C30362C4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3EFC-4493-8724-756B5220D6C3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49A3098F-8ADA-4221-BA67-85D7F3090F2E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3EFC-4493-8724-756B5220D6C3}"/>
                </c:ext>
              </c:extLst>
            </c:dLbl>
            <c:dLbl>
              <c:idx val="10"/>
              <c:layout>
                <c:manualLayout>
                  <c:x val="-1.1065712917553589E-2"/>
                  <c:y val="-5.6045963387130984E-2"/>
                </c:manualLayout>
              </c:layout>
              <c:tx>
                <c:rich>
                  <a:bodyPr/>
                  <a:lstStyle/>
                  <a:p>
                    <a:fld id="{D050E76E-73ED-49B3-92E2-000B489F1312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3EFC-4493-8724-756B5220D6C3}"/>
                </c:ext>
              </c:extLst>
            </c:dLbl>
            <c:dLbl>
              <c:idx val="11"/>
              <c:layout>
                <c:manualLayout>
                  <c:x val="-0.13009969127473767"/>
                  <c:y val="5.1774397053065135E-3"/>
                </c:manualLayout>
              </c:layout>
              <c:tx>
                <c:rich>
                  <a:bodyPr/>
                  <a:lstStyle/>
                  <a:p>
                    <a:fld id="{125A7AA5-CAF3-47BC-8097-124F7AD4FD1A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3EFC-4493-8724-756B5220D6C3}"/>
                </c:ext>
              </c:extLst>
            </c:dLbl>
            <c:dLbl>
              <c:idx val="12"/>
              <c:layout>
                <c:manualLayout>
                  <c:x val="-6.4759385187597038E-2"/>
                  <c:y val="2.7490064073495009E-3"/>
                </c:manualLayout>
              </c:layout>
              <c:tx>
                <c:rich>
                  <a:bodyPr/>
                  <a:lstStyle/>
                  <a:p>
                    <a:fld id="{72E7E916-167E-461B-AEE8-94D595DC3BEC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3EFC-4493-8724-756B5220D6C3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EFC-4493-8724-756B5220D6C3}"/>
                </c:ext>
              </c:extLst>
            </c:dLbl>
            <c:spPr>
              <a:solidFill>
                <a:schemeClr val="bg1">
                  <a:alpha val="6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DataLabelsRange val="1"/>
                <c15:showLeaderLines val="0"/>
              </c:ext>
            </c:extLst>
          </c:dLbls>
          <c:errBars>
            <c:errDir val="x"/>
            <c:errBarType val="plus"/>
            <c:errValType val="cust"/>
            <c:noEndCap val="1"/>
            <c:plus>
              <c:numRef>
                <c:f>Timeline!$C$30:$C$43</c:f>
                <c:numCache>
                  <c:formatCode>General</c:formatCode>
                  <c:ptCount val="14"/>
                  <c:pt idx="1">
                    <c:v>2</c:v>
                  </c:pt>
                  <c:pt idx="2">
                    <c:v>62</c:v>
                  </c:pt>
                  <c:pt idx="3">
                    <c:v>30</c:v>
                  </c:pt>
                  <c:pt idx="4">
                    <c:v>65</c:v>
                  </c:pt>
                  <c:pt idx="5">
                    <c:v>36</c:v>
                  </c:pt>
                  <c:pt idx="6">
                    <c:v>9</c:v>
                  </c:pt>
                  <c:pt idx="7">
                    <c:v>16</c:v>
                  </c:pt>
                  <c:pt idx="8">
                    <c:v>12</c:v>
                  </c:pt>
                  <c:pt idx="9">
                    <c:v>120</c:v>
                  </c:pt>
                  <c:pt idx="10">
                    <c:v>28</c:v>
                  </c:pt>
                  <c:pt idx="11">
                    <c:v>13</c:v>
                  </c:pt>
                  <c:pt idx="12">
                    <c:v>13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152400" cap="flat" cmpd="sng" algn="ctr">
                <a:solidFill>
                  <a:schemeClr val="accent1"/>
                </a:solidFill>
                <a:round/>
              </a:ln>
              <a:effectLst/>
            </c:spPr>
          </c:errBars>
          <c:errBars>
            <c:errDir val="y"/>
            <c:errBarType val="minus"/>
            <c:errValType val="cust"/>
            <c:noEndCap val="1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Ref>
                <c:f>Timeline!$F$30:$F$43</c:f>
                <c:numCache>
                  <c:formatCode>General</c:formatCode>
                  <c:ptCount val="14"/>
                  <c:pt idx="1">
                    <c:v>-90</c:v>
                  </c:pt>
                  <c:pt idx="2">
                    <c:v>-75</c:v>
                  </c:pt>
                  <c:pt idx="3">
                    <c:v>-60</c:v>
                  </c:pt>
                  <c:pt idx="4">
                    <c:v>-30</c:v>
                  </c:pt>
                  <c:pt idx="5">
                    <c:v>-60</c:v>
                  </c:pt>
                  <c:pt idx="6">
                    <c:v>-15</c:v>
                  </c:pt>
                  <c:pt idx="7">
                    <c:v>-45</c:v>
                  </c:pt>
                  <c:pt idx="8">
                    <c:v>-15</c:v>
                  </c:pt>
                  <c:pt idx="9">
                    <c:v>-90</c:v>
                  </c:pt>
                  <c:pt idx="10">
                    <c:v>-80</c:v>
                  </c:pt>
                  <c:pt idx="11">
                    <c:v>-15</c:v>
                  </c:pt>
                  <c:pt idx="12">
                    <c:v>-30</c:v>
                  </c:pt>
                </c:numCache>
              </c:numRef>
            </c:minus>
            <c:spPr>
              <a:noFill/>
              <a:ln w="12700" cap="flat" cmpd="sng" algn="ctr">
                <a:solidFill>
                  <a:schemeClr val="accent1">
                    <a:lumMod val="75000"/>
                    <a:alpha val="70000"/>
                  </a:schemeClr>
                </a:solidFill>
                <a:prstDash val="solid"/>
                <a:round/>
              </a:ln>
              <a:effectLst/>
            </c:spPr>
          </c:errBars>
          <c:xVal>
            <c:numRef>
              <c:f>Timeline!$A$30:$A$43</c:f>
              <c:numCache>
                <c:formatCode>m/d/yyyy</c:formatCode>
                <c:ptCount val="14"/>
                <c:pt idx="1">
                  <c:v>43376</c:v>
                </c:pt>
                <c:pt idx="2">
                  <c:v>43383</c:v>
                </c:pt>
                <c:pt idx="3">
                  <c:v>43446</c:v>
                </c:pt>
                <c:pt idx="4">
                  <c:v>43383</c:v>
                </c:pt>
                <c:pt idx="5">
                  <c:v>43403</c:v>
                </c:pt>
                <c:pt idx="6">
                  <c:v>43401</c:v>
                </c:pt>
                <c:pt idx="7">
                  <c:v>43424</c:v>
                </c:pt>
                <c:pt idx="8">
                  <c:v>43429</c:v>
                </c:pt>
                <c:pt idx="9">
                  <c:v>43405</c:v>
                </c:pt>
                <c:pt idx="10">
                  <c:v>43448</c:v>
                </c:pt>
                <c:pt idx="11">
                  <c:v>43472</c:v>
                </c:pt>
                <c:pt idx="12">
                  <c:v>43472</c:v>
                </c:pt>
              </c:numCache>
            </c:numRef>
          </c:xVal>
          <c:yVal>
            <c:numRef>
              <c:f>Timeline!$E$30:$E$43</c:f>
              <c:numCache>
                <c:formatCode>General</c:formatCode>
                <c:ptCount val="14"/>
                <c:pt idx="1">
                  <c:v>-90</c:v>
                </c:pt>
                <c:pt idx="2">
                  <c:v>-75</c:v>
                </c:pt>
                <c:pt idx="3">
                  <c:v>-60</c:v>
                </c:pt>
                <c:pt idx="4">
                  <c:v>-30</c:v>
                </c:pt>
                <c:pt idx="5">
                  <c:v>-60</c:v>
                </c:pt>
                <c:pt idx="6">
                  <c:v>-15</c:v>
                </c:pt>
                <c:pt idx="7">
                  <c:v>-45</c:v>
                </c:pt>
                <c:pt idx="8">
                  <c:v>-15</c:v>
                </c:pt>
                <c:pt idx="9">
                  <c:v>-90</c:v>
                </c:pt>
                <c:pt idx="10">
                  <c:v>-80</c:v>
                </c:pt>
                <c:pt idx="11">
                  <c:v>-15</c:v>
                </c:pt>
                <c:pt idx="12">
                  <c:v>-30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Timeline!$D$30:$D$43</c15:f>
                <c15:dlblRangeCache>
                  <c:ptCount val="14"/>
                  <c:pt idx="1">
                    <c:v>NI DAYS - 05/10</c:v>
                  </c:pt>
                  <c:pt idx="2">
                    <c:v>PCB Alimentation 
10/10</c:v>
                  </c:pt>
                  <c:pt idx="3">
                    <c:v>PCB connectique 
12/12</c:v>
                  </c:pt>
                  <c:pt idx="4">
                    <c:v>Lanceur 
10/10</c:v>
                  </c:pt>
                  <c:pt idx="5">
                    <c:v>Raspberry PI 
30/10</c:v>
                  </c:pt>
                  <c:pt idx="6">
                    <c:v>Executable 
28/10</c:v>
                  </c:pt>
                  <c:pt idx="7">
                    <c:v>Scénarii 1 &amp; 2 
20/11</c:v>
                  </c:pt>
                  <c:pt idx="8">
                    <c:v>Prépa JPO 
25/11</c:v>
                  </c:pt>
                  <c:pt idx="9">
                    <c:v>Formation M1 
01/11</c:v>
                  </c:pt>
                  <c:pt idx="10">
                    <c:v>Docs/Présentations 
14/12</c:v>
                  </c:pt>
                  <c:pt idx="11">
                    <c:v>Corrections code 
07/01</c:v>
                  </c:pt>
                  <c:pt idx="12">
                    <c:v>Trieur 
07/01</c:v>
                  </c:pt>
                  <c:pt idx="13">
                    <c:v>Insert new rows above this one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E-3EFC-4493-8724-756B5220D6C3}"/>
            </c:ext>
          </c:extLst>
        </c:ser>
        <c:ser>
          <c:idx val="0"/>
          <c:order val="1"/>
          <c:tx>
            <c:v>Milestones</c:v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14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dPt>
            <c:idx val="0"/>
            <c:marker>
              <c:spPr>
                <a:solidFill>
                  <a:schemeClr val="accent6">
                    <a:lumMod val="75000"/>
                  </a:scheme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3EFC-4493-8724-756B5220D6C3}"/>
              </c:ext>
            </c:extLst>
          </c:dPt>
          <c:dPt>
            <c:idx val="1"/>
            <c:marker>
              <c:symbol val="circle"/>
              <c:size val="14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3EFC-4493-8724-756B5220D6C3}"/>
              </c:ext>
            </c:extLst>
          </c:dPt>
          <c:dPt>
            <c:idx val="5"/>
            <c:marker>
              <c:symbol val="picture"/>
              <c:spPr>
                <a:blipFill>
                  <a:blip xmlns:r="http://schemas.openxmlformats.org/officeDocument/2006/relationships" r:embed="rId1"/>
                  <a:stretch>
                    <a:fillRect/>
                  </a:stretch>
                </a:blip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3EFC-4493-8724-756B5220D6C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EFC-4493-8724-756B5220D6C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3EF7063-C661-4AE5-8756-B8A07394E9AE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3EFC-4493-8724-756B5220D6C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F87E31D-B5E7-4663-9AAE-F50660CCAD19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3EFC-4493-8724-756B5220D6C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1DA8AB2-573B-42FC-9A07-D9F482FFA280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3EFC-4493-8724-756B5220D6C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A412760C-8E5F-498E-BF3B-421BD945D5B1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3EFC-4493-8724-756B5220D6C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A6D5F85-7E57-4680-97C4-80A70F6775F1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3EFC-4493-8724-756B5220D6C3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3EFC-4493-8724-756B5220D6C3}"/>
                </c:ext>
              </c:extLst>
            </c:dLbl>
            <c:spPr>
              <a:solidFill>
                <a:schemeClr val="bg1">
                  <a:alpha val="5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Dir val="y"/>
            <c:errBarType val="minus"/>
            <c:errValType val="percentage"/>
            <c:noEndCap val="1"/>
            <c:val val="100"/>
            <c:spPr>
              <a:noFill/>
              <a:ln w="1270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</a:ln>
              <a:effectLst/>
            </c:spPr>
          </c:errBars>
          <c:xVal>
            <c:numRef>
              <c:f>Timeline!$A$47:$A$53</c:f>
              <c:numCache>
                <c:formatCode>m/d/yyyy</c:formatCode>
                <c:ptCount val="7"/>
                <c:pt idx="1">
                  <c:v>43378</c:v>
                </c:pt>
                <c:pt idx="2">
                  <c:v>43425</c:v>
                </c:pt>
                <c:pt idx="3">
                  <c:v>43442</c:v>
                </c:pt>
                <c:pt idx="4">
                  <c:v>43483</c:v>
                </c:pt>
                <c:pt idx="5">
                  <c:v>43528</c:v>
                </c:pt>
              </c:numCache>
            </c:numRef>
          </c:xVal>
          <c:yVal>
            <c:numRef>
              <c:f>Timeline!$E$47:$E$53</c:f>
              <c:numCache>
                <c:formatCode>General</c:formatCode>
                <c:ptCount val="7"/>
                <c:pt idx="1">
                  <c:v>30</c:v>
                </c:pt>
                <c:pt idx="2">
                  <c:v>10</c:v>
                </c:pt>
                <c:pt idx="3">
                  <c:v>40</c:v>
                </c:pt>
                <c:pt idx="4">
                  <c:v>10</c:v>
                </c:pt>
                <c:pt idx="5">
                  <c:v>15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Timeline!$D$47:$D$53</c15:f>
                <c15:dlblRangeCache>
                  <c:ptCount val="7"/>
                  <c:pt idx="1">
                    <c:v>Début des projets à l'ISEN, 05/10/18</c:v>
                  </c:pt>
                  <c:pt idx="2">
                    <c:v>Pitch n°1 :  Project Management, 21/11/18</c:v>
                  </c:pt>
                  <c:pt idx="3">
                    <c:v>JPO ISEN, 08/12/18</c:v>
                  </c:pt>
                  <c:pt idx="4">
                    <c:v>Pitch n°2 : Global Technical,  18/01/19</c:v>
                  </c:pt>
                  <c:pt idx="5">
                    <c:v>Pitch final , 04/03/19</c:v>
                  </c:pt>
                  <c:pt idx="6">
                    <c:v>Insert new rows above this one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6-3EFC-4493-8724-756B5220D6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4833240"/>
        <c:axId val="484834552"/>
      </c:scatterChart>
      <c:valAx>
        <c:axId val="484833240"/>
        <c:scaling>
          <c:orientation val="minMax"/>
          <c:min val="43370"/>
        </c:scaling>
        <c:delete val="0"/>
        <c:axPos val="b"/>
        <c:numFmt formatCode="dd/mm/yy" sourceLinked="0"/>
        <c:majorTickMark val="cross"/>
        <c:minorTickMark val="none"/>
        <c:tickLblPos val="nextTo"/>
        <c:spPr>
          <a:noFill/>
          <a:ln w="63500" cap="flat" cmpd="sng" algn="ctr">
            <a:solidFill>
              <a:schemeClr val="tx1">
                <a:lumMod val="50000"/>
                <a:lumOff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84834552"/>
        <c:crosses val="autoZero"/>
        <c:crossBetween val="midCat"/>
        <c:majorUnit val="30"/>
      </c:valAx>
      <c:valAx>
        <c:axId val="484834552"/>
        <c:scaling>
          <c:orientation val="minMax"/>
          <c:max val="50"/>
          <c:min val="-100"/>
        </c:scaling>
        <c:delete val="1"/>
        <c:axPos val="l"/>
        <c:numFmt formatCode="General" sourceLinked="1"/>
        <c:majorTickMark val="out"/>
        <c:minorTickMark val="none"/>
        <c:tickLblPos val="nextTo"/>
        <c:crossAx val="484833240"/>
        <c:crosses val="autoZero"/>
        <c:crossBetween val="midCat"/>
        <c:majorUnit val="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38100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29632-B014-4844-8D61-F020150B7767}" type="datetimeFigureOut">
              <a:rPr lang="fr-FR" smtClean="0"/>
              <a:t>28/01/2019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E5FB4-A863-4A99-A0DA-E8EA1E41E8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018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FD1E-7F8B-43A0-A002-1E85B148FD8D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AF21-5E6B-430C-951A-3AE1FFC91461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A0C5-1C83-488B-B945-99618E3B54D4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399D-AF7A-4C67-9196-F6D08FD333B4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FAF6-80BA-414B-9CAD-D9EE1C90E916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FE48-7F01-4822-BB99-9E7A464ADB55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8DDB-DBAA-405D-AFF3-992C965F4D5A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78F1-4974-4ABD-A0F1-BC508149B0C2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392B-F772-4AC7-950F-9A733AEA2D4D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1FF1-3427-4399-8698-1E1E0DB0194F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A6299-99E0-424E-A149-B3879D2AEF62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E06809D-4C73-46EA-91E5-C6051C3DB1A4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hyperlink" Target="https://gitlab.com/Corentin.M/Coupe_NI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tree.taiga.io/project/nicolascourt-robot-isen-20182019/kanban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4ADCDA-841B-42BC-985D-31FF956D9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003300"/>
            <a:ext cx="7315200" cy="2077212"/>
          </a:xfrm>
        </p:spPr>
        <p:txBody>
          <a:bodyPr/>
          <a:lstStyle/>
          <a:p>
            <a:r>
              <a:rPr lang="fr-FR" dirty="0"/>
              <a:t>Weekly report -</a:t>
            </a:r>
            <a:br>
              <a:rPr lang="fr-FR" dirty="0"/>
            </a:br>
            <a:r>
              <a:rPr lang="fr-FR" dirty="0"/>
              <a:t>Robot NI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7D93C9-84E1-4CF8-A985-A9AC782EA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3095446"/>
            <a:ext cx="7315200" cy="914400"/>
          </a:xfrm>
        </p:spPr>
        <p:txBody>
          <a:bodyPr/>
          <a:lstStyle/>
          <a:p>
            <a:r>
              <a:rPr lang="fr-FR" dirty="0"/>
              <a:t>BAUDIN Quentin, BOKHCHEN </a:t>
            </a:r>
            <a:r>
              <a:rPr lang="fr-FR" dirty="0" err="1"/>
              <a:t>Azelarab</a:t>
            </a:r>
            <a:r>
              <a:rPr lang="fr-FR" dirty="0"/>
              <a:t>, BRULC Mélanie, COURT Nicolas, MOJIKA Adrien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891C091-AC57-4546-B7A1-67A18A05C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185" y="1298448"/>
            <a:ext cx="2381250" cy="23812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0289750-EF00-4A12-8A8B-8620C1C5A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80263"/>
            <a:ext cx="2954951" cy="2323286"/>
          </a:xfrm>
          <a:prstGeom prst="rect">
            <a:avLst/>
          </a:pr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5E270AAF-E700-46C9-BC85-16469BA4A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2000" dirty="0"/>
              <a:t>11/01/2019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27D21C2-96A4-4786-AC22-065B10AAF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506" y="4064863"/>
            <a:ext cx="2614609" cy="121076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4AAD160-ED2A-4423-BE11-5FDAE7D534A7}"/>
              </a:ext>
            </a:extLst>
          </p:cNvPr>
          <p:cNvSpPr/>
          <p:nvPr/>
        </p:nvSpPr>
        <p:spPr>
          <a:xfrm>
            <a:off x="1277815" y="4349099"/>
            <a:ext cx="12367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err="1">
                <a:hlinkClick r:id="rId5"/>
              </a:rPr>
              <a:t>Taiga</a:t>
            </a:r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D9B5B42-7225-4CF0-A2E7-5C60484AC4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3750" y="4349099"/>
            <a:ext cx="501699" cy="5016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92DECB0-77D4-4CA1-88C1-A53D4B7FC65F}"/>
              </a:ext>
            </a:extLst>
          </p:cNvPr>
          <p:cNvSpPr/>
          <p:nvPr/>
        </p:nvSpPr>
        <p:spPr>
          <a:xfrm>
            <a:off x="1277815" y="4985527"/>
            <a:ext cx="827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 err="1">
                <a:hlinkClick r:id="rId7"/>
              </a:rPr>
              <a:t>Gitlab</a:t>
            </a:r>
            <a:endParaRPr lang="fr-FR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BF43C570-D8E7-4C06-B557-511A885AB5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3750" y="4949060"/>
            <a:ext cx="1355750" cy="48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54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Timeline</a:t>
            </a:r>
          </a:p>
        </p:txBody>
      </p:sp>
      <p:sp>
        <p:nvSpPr>
          <p:cNvPr id="15" name="Sous-titre 14">
            <a:extLst>
              <a:ext uri="{FF2B5EF4-FFF2-40B4-BE49-F238E27FC236}">
                <a16:creationId xmlns:a16="http://schemas.microsoft.com/office/drawing/2014/main" id="{310E7952-1D9E-49FE-AADC-C97C99AF7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4670" y="5600713"/>
            <a:ext cx="7315200" cy="537161"/>
          </a:xfrm>
        </p:spPr>
        <p:txBody>
          <a:bodyPr/>
          <a:lstStyle/>
          <a:p>
            <a:pPr algn="ctr"/>
            <a:r>
              <a:rPr lang="fr-FR" dirty="0"/>
              <a:t>Timeline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CADC67-AF7E-4B06-8895-0709F0CDA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800" dirty="0"/>
              <a:t>11/01/2019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2</a:t>
            </a:fld>
            <a:endParaRPr lang="en-US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985" y="6125770"/>
            <a:ext cx="732230" cy="73223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7DE3B3F-8C84-4786-AD82-5E44E7A51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graphicFrame>
        <p:nvGraphicFramePr>
          <p:cNvPr id="10" name="Chart 2" descr="Project timeline chart">
            <a:extLst>
              <a:ext uri="{FF2B5EF4-FFF2-40B4-BE49-F238E27FC236}">
                <a16:creationId xmlns:a16="http://schemas.microsoft.com/office/drawing/2014/main" id="{804101E9-334F-4A84-8D62-96D9C4F484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5166632"/>
              </p:ext>
            </p:extLst>
          </p:nvPr>
        </p:nvGraphicFramePr>
        <p:xfrm>
          <a:off x="368300" y="1119075"/>
          <a:ext cx="11377499" cy="436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7725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/>
              <a:t>Quentin</a:t>
            </a:r>
            <a:br>
              <a:rPr lang="fr-FR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CADC67-AF7E-4B06-8895-0709F0CDA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2000" dirty="0"/>
              <a:t>11/01/2019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3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917450"/>
              </p:ext>
            </p:extLst>
          </p:nvPr>
        </p:nvGraphicFramePr>
        <p:xfrm>
          <a:off x="3811081" y="405353"/>
          <a:ext cx="7812168" cy="5545791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113168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Envoyer le Schématique à </a:t>
                      </a:r>
                      <a:r>
                        <a:rPr lang="fr-FR" dirty="0" err="1"/>
                        <a:t>Severine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83710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PCB principal</a:t>
                      </a:r>
                    </a:p>
                    <a:p>
                      <a:r>
                        <a:rPr lang="fr-FR" dirty="0"/>
                        <a:t>Documentation sur l’utilisation des PCB et de leurs implémentations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67684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Souder PCB principal</a:t>
                      </a:r>
                    </a:p>
                    <a:p>
                      <a:r>
                        <a:rPr lang="fr-FR" dirty="0"/>
                        <a:t>Test PCB principal</a:t>
                      </a:r>
                    </a:p>
                    <a:p>
                      <a:r>
                        <a:rPr lang="fr-FR" dirty="0"/>
                        <a:t>Test PCB alim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251269"/>
                  </a:ext>
                </a:extLst>
              </a:tr>
              <a:tr h="112226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Empreinte de certains composants 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133153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Souder PCB principal</a:t>
                      </a:r>
                    </a:p>
                    <a:p>
                      <a:r>
                        <a:rPr lang="fr-FR" dirty="0"/>
                        <a:t>Test de fonctionnement en réel et implémentation sur le robot PCB principal</a:t>
                      </a:r>
                    </a:p>
                    <a:p>
                      <a:r>
                        <a:rPr lang="fr-FR" dirty="0"/>
                        <a:t>Test PCB alim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82BF485A-5A26-4229-BA4D-1C62FFD33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71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 err="1"/>
              <a:t>Azelarab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4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139303"/>
              </p:ext>
            </p:extLst>
          </p:nvPr>
        </p:nvGraphicFramePr>
        <p:xfrm>
          <a:off x="3811081" y="772998"/>
          <a:ext cx="7812168" cy="5007986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68815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Présentation Ni Max (10/01)</a:t>
                      </a:r>
                    </a:p>
                    <a:p>
                      <a:r>
                        <a:rPr lang="fr-FR" dirty="0"/>
                        <a:t>Installation </a:t>
                      </a:r>
                      <a:r>
                        <a:rPr lang="fr-FR" dirty="0" err="1"/>
                        <a:t>Labview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MyRio</a:t>
                      </a:r>
                      <a:r>
                        <a:rPr lang="fr-FR" dirty="0"/>
                        <a:t> pour les M1 (09/01 après midi)</a:t>
                      </a:r>
                    </a:p>
                    <a:p>
                      <a:r>
                        <a:rPr lang="fr-FR" dirty="0"/>
                        <a:t>Mettre les présentation/documentations sur Git (11/01)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80976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Docs installation reprise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107371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Présentation NI max + documentation installation </a:t>
                      </a:r>
                      <a:r>
                        <a:rPr lang="fr-FR" dirty="0" err="1"/>
                        <a:t>Labview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503411"/>
                  </a:ext>
                </a:extLst>
              </a:tr>
              <a:tr h="747071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M1 en rattrapage, Manque d’infos NI 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133153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Reprendre docs (15/01)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Mettre les présentation/documentations sur Git (15/01)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Présentation Ni Max (17/01)</a:t>
                      </a:r>
                    </a:p>
                    <a:p>
                      <a:r>
                        <a:rPr lang="fr-FR" dirty="0"/>
                        <a:t>Installation </a:t>
                      </a:r>
                      <a:r>
                        <a:rPr lang="fr-FR" dirty="0" err="1"/>
                        <a:t>Labview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MyRio</a:t>
                      </a:r>
                      <a:r>
                        <a:rPr lang="fr-FR" dirty="0"/>
                        <a:t> pour les M1 (semaine d’après)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Tester installation </a:t>
                      </a:r>
                      <a:r>
                        <a:rPr lang="fr-FR" dirty="0" err="1"/>
                        <a:t>labview</a:t>
                      </a:r>
                      <a:r>
                        <a:rPr lang="fr-FR" dirty="0"/>
                        <a:t>  (semaine d’après)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4F42CBC7-9329-4B74-86D4-7CE085F0D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96469D18-1A4C-4C38-84BB-F980406F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/>
          <a:lstStyle/>
          <a:p>
            <a:r>
              <a:rPr lang="en-US" sz="1800" dirty="0"/>
              <a:t>11/01/2019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4380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/>
              <a:t>Mélanie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5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587032"/>
              </p:ext>
            </p:extLst>
          </p:nvPr>
        </p:nvGraphicFramePr>
        <p:xfrm>
          <a:off x="3811081" y="772998"/>
          <a:ext cx="7812168" cy="5290363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141270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Adresse statique + WIFISEN pour </a:t>
                      </a:r>
                      <a:r>
                        <a:rPr lang="fr-FR" dirty="0" err="1"/>
                        <a:t>raspberry</a:t>
                      </a:r>
                      <a:r>
                        <a:rPr lang="fr-FR" dirty="0"/>
                        <a:t> pi (9/01)</a:t>
                      </a:r>
                    </a:p>
                    <a:p>
                      <a:r>
                        <a:rPr lang="fr-FR" dirty="0"/>
                        <a:t>Optimisation du code Concours + </a:t>
                      </a:r>
                      <a:r>
                        <a:rPr lang="fr-FR" dirty="0" err="1"/>
                        <a:t>cablage</a:t>
                      </a:r>
                      <a:r>
                        <a:rPr lang="fr-FR" dirty="0"/>
                        <a:t> des erreurs (9/01)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105406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Adresse statique + WIFISEN pour </a:t>
                      </a:r>
                      <a:r>
                        <a:rPr lang="fr-FR" dirty="0" err="1"/>
                        <a:t>raspberry</a:t>
                      </a:r>
                      <a:r>
                        <a:rPr lang="fr-FR" dirty="0"/>
                        <a:t> pi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Mise en beauté du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60986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42588"/>
                  </a:ext>
                </a:extLst>
              </a:tr>
              <a:tr h="80101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Lidar </a:t>
                      </a:r>
                      <a:r>
                        <a:rPr lang="fr-FR"/>
                        <a:t>: communication UART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141270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Lidar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AA9BE52C-10E1-4A60-BEE5-38308E865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12CD1898-9369-4299-B94C-C02053585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800" dirty="0"/>
              <a:t>11/01/2019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59235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/>
              <a:t>Nicolas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6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868376"/>
              </p:ext>
            </p:extLst>
          </p:nvPr>
        </p:nvGraphicFramePr>
        <p:xfrm>
          <a:off x="3745093" y="994471"/>
          <a:ext cx="7812168" cy="445622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104597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PCB </a:t>
                      </a:r>
                    </a:p>
                    <a:p>
                      <a:r>
                        <a:rPr lang="fr-FR" dirty="0"/>
                        <a:t>Lidar</a:t>
                      </a:r>
                    </a:p>
                    <a:p>
                      <a:r>
                        <a:rPr lang="fr-FR" dirty="0"/>
                        <a:t>Réunion (</a:t>
                      </a:r>
                      <a:r>
                        <a:rPr lang="fr-FR" dirty="0" err="1"/>
                        <a:t>cf</a:t>
                      </a:r>
                      <a:r>
                        <a:rPr lang="fr-FR" dirty="0"/>
                        <a:t> doodle)</a:t>
                      </a:r>
                    </a:p>
                    <a:p>
                      <a:r>
                        <a:rPr lang="fr-FR" dirty="0" err="1"/>
                        <a:t>Taiga</a:t>
                      </a:r>
                      <a:r>
                        <a:rPr lang="fr-FR" dirty="0"/>
                        <a:t> (11/01)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83359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Taiga</a:t>
                      </a:r>
                      <a:endParaRPr lang="fr-FR" dirty="0"/>
                    </a:p>
                    <a:p>
                      <a:r>
                        <a:rPr lang="fr-FR" dirty="0"/>
                        <a:t>PCB déposé chez </a:t>
                      </a:r>
                      <a:r>
                        <a:rPr lang="fr-FR" dirty="0" err="1"/>
                        <a:t>severine</a:t>
                      </a:r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38149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Visio Mr Girod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148179"/>
                  </a:ext>
                </a:extLst>
              </a:tr>
              <a:tr h="46364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ym typeface="Wingdings" panose="05000000000000000000" pitchFamily="2" charset="2"/>
                        </a:rPr>
                        <a:t>Dates réunion, des cours vont être planifiés.</a:t>
                      </a:r>
                    </a:p>
                    <a:p>
                      <a:r>
                        <a:rPr lang="fr-FR" dirty="0">
                          <a:sym typeface="Wingdings" panose="05000000000000000000" pitchFamily="2" charset="2"/>
                        </a:rPr>
                        <a:t>Lidar/</a:t>
                      </a:r>
                      <a:r>
                        <a:rPr lang="fr-FR" dirty="0" err="1">
                          <a:sym typeface="Wingdings" panose="05000000000000000000" pitchFamily="2" charset="2"/>
                        </a:rPr>
                        <a:t>Labview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133153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Lidar</a:t>
                      </a:r>
                    </a:p>
                    <a:p>
                      <a:r>
                        <a:rPr lang="fr-FR" dirty="0"/>
                        <a:t>Visio Mr Girod</a:t>
                      </a:r>
                    </a:p>
                    <a:p>
                      <a:r>
                        <a:rPr lang="fr-FR" dirty="0" err="1"/>
                        <a:t>Taiga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505F51C6-2EFB-42A0-982A-162A6842A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75D37FAE-8C51-444E-A3EF-2B8D8D1E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800" dirty="0"/>
              <a:t>11/01/2019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4560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/>
              <a:t>Adrien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CADC67-AF7E-4B06-8895-0709F0CDA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2000" dirty="0"/>
              <a:t>11/01/2019</a:t>
            </a:r>
          </a:p>
          <a:p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7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328172"/>
              </p:ext>
            </p:extLst>
          </p:nvPr>
        </p:nvGraphicFramePr>
        <p:xfrm>
          <a:off x="3707386" y="775364"/>
          <a:ext cx="7812168" cy="5307272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120719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Mise en fonctionnement du Lidar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80823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Lidar: </a:t>
                      </a:r>
                      <a:r>
                        <a:rPr lang="fr-FR" dirty="0" err="1"/>
                        <a:t>cablage</a:t>
                      </a:r>
                      <a:r>
                        <a:rPr lang="fr-FR" dirty="0"/>
                        <a:t>, contrôle, réception de la communication </a:t>
                      </a:r>
                      <a:r>
                        <a:rPr lang="fr-FR" dirty="0" err="1"/>
                        <a:t>uart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36483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Réceptionner les données du lidar pour les exploiter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769976"/>
                  </a:ext>
                </a:extLst>
              </a:tr>
              <a:tr h="182706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Lidar réceptions des données du capteur:</a:t>
                      </a:r>
                    </a:p>
                    <a:p>
                      <a:r>
                        <a:rPr lang="fr-FR" dirty="0"/>
                        <a:t>Les données ne semble ne pas être </a:t>
                      </a:r>
                      <a:r>
                        <a:rPr lang="fr-FR" dirty="0" err="1"/>
                        <a:t>émisent</a:t>
                      </a:r>
                      <a:r>
                        <a:rPr lang="fr-FR" dirty="0"/>
                        <a:t> ( nécessite probablement d’être paramétré, utilisation </a:t>
                      </a:r>
                      <a:r>
                        <a:rPr lang="fr-FR" dirty="0" err="1"/>
                        <a:t>visual</a:t>
                      </a:r>
                      <a:r>
                        <a:rPr lang="fr-FR" dirty="0"/>
                        <a:t> studio et du </a:t>
                      </a:r>
                      <a:r>
                        <a:rPr lang="fr-FR" dirty="0" err="1"/>
                        <a:t>sdk</a:t>
                      </a:r>
                      <a:r>
                        <a:rPr lang="fr-FR" dirty="0"/>
                        <a:t> pour l’instant infructueuse)</a:t>
                      </a:r>
                    </a:p>
                    <a:p>
                      <a:endParaRPr lang="fr-FR" dirty="0"/>
                    </a:p>
                    <a:p>
                      <a:r>
                        <a:rPr lang="fr-FR" dirty="0"/>
                        <a:t>Problème de fonctionnement du trieur de balle ( origine à déterminer)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83048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FR" dirty="0"/>
                        <a:t>Mise en place du code relatif à l’utilisation du lidar (25/01)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fr-FR" dirty="0"/>
                        <a:t>Implémenter les modification de code pour que la machine d’état fonctionne en temps réel (25/01)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82BF485A-5A26-4229-BA4D-1C62FFD33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9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/>
              <a:t>M1</a:t>
            </a:r>
            <a:br>
              <a:rPr lang="fr-FR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8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731834"/>
              </p:ext>
            </p:extLst>
          </p:nvPr>
        </p:nvGraphicFramePr>
        <p:xfrm>
          <a:off x="3811081" y="405353"/>
          <a:ext cx="7812168" cy="5696166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13758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FR"/>
                        <a:t>Découpe </a:t>
                      </a:r>
                      <a:r>
                        <a:rPr lang="fr-FR" dirty="0"/>
                        <a:t>laser trieurs de balles(</a:t>
                      </a:r>
                      <a:r>
                        <a:rPr lang="fr-FR" dirty="0" err="1"/>
                        <a:t>justin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christian</a:t>
                      </a:r>
                      <a:r>
                        <a:rPr lang="fr-FR" dirty="0"/>
                        <a:t>) (11/01) , PCB (</a:t>
                      </a:r>
                      <a:r>
                        <a:rPr lang="fr-FR" dirty="0" err="1"/>
                        <a:t>jason</a:t>
                      </a:r>
                      <a:r>
                        <a:rPr lang="fr-FR" dirty="0"/>
                        <a:t>)(18/12)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Etiquettes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85988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Design découpe laser :trieurs de balles</a:t>
                      </a:r>
                    </a:p>
                    <a:p>
                      <a:r>
                        <a:rPr lang="fr-FR" dirty="0"/>
                        <a:t>Engrenage (</a:t>
                      </a:r>
                      <a:r>
                        <a:rPr lang="fr-FR"/>
                        <a:t>non concluant)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60192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Etiquettes </a:t>
                      </a:r>
                    </a:p>
                    <a:p>
                      <a:r>
                        <a:rPr lang="fr-FR" dirty="0"/>
                        <a:t>Présentations docs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251269"/>
                  </a:ext>
                </a:extLst>
              </a:tr>
              <a:tr h="92861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Nous n’avons pas accès au dernier mise a jour de code LabVIEW.</a:t>
                      </a:r>
                    </a:p>
                    <a:p>
                      <a:r>
                        <a:rPr lang="fr-FR" dirty="0"/>
                        <a:t>Découpe laser trieurs de balles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189175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découpe laser trieurs de balles(</a:t>
                      </a:r>
                      <a:r>
                        <a:rPr lang="fr-FR" dirty="0" err="1"/>
                        <a:t>justin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christian</a:t>
                      </a:r>
                      <a:r>
                        <a:rPr lang="fr-FR" dirty="0"/>
                        <a:t>) (11/01) </a:t>
                      </a:r>
                    </a:p>
                    <a:p>
                      <a:r>
                        <a:rPr lang="fr-FR" dirty="0"/>
                        <a:t>Présentation docs</a:t>
                      </a:r>
                    </a:p>
                    <a:p>
                      <a:r>
                        <a:rPr lang="fr-FR" dirty="0" err="1"/>
                        <a:t>Presentation</a:t>
                      </a:r>
                      <a:r>
                        <a:rPr lang="fr-FR" dirty="0"/>
                        <a:t> engrenage (</a:t>
                      </a:r>
                      <a:r>
                        <a:rPr lang="fr-FR" dirty="0" err="1"/>
                        <a:t>jason</a:t>
                      </a:r>
                      <a:r>
                        <a:rPr lang="fr-FR" dirty="0"/>
                        <a:t>) (18/01)</a:t>
                      </a:r>
                    </a:p>
                    <a:p>
                      <a:r>
                        <a:rPr lang="fr-FR" dirty="0"/>
                        <a:t>Etiquettes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82BF485A-5A26-4229-BA4D-1C62FFD33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EE16949B-D2BB-412A-AF8E-F313D89F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800" dirty="0"/>
              <a:t>11/01/2019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45102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Liste matériel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46034B-0038-44F2-A752-E73ABD7EA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Clef </a:t>
            </a:r>
            <a:r>
              <a:rPr lang="fr-FR" dirty="0" err="1"/>
              <a:t>allen</a:t>
            </a:r>
            <a:r>
              <a:rPr lang="fr-FR" dirty="0"/>
              <a:t> américaine (taille à définir)</a:t>
            </a:r>
          </a:p>
          <a:p>
            <a:r>
              <a:rPr lang="fr-FR" dirty="0"/>
              <a:t>Lidar (commandé)</a:t>
            </a:r>
          </a:p>
          <a:p>
            <a:r>
              <a:rPr lang="fr-FR" dirty="0"/>
              <a:t>Connecteur XT60L mâle (A vérifier)</a:t>
            </a:r>
          </a:p>
          <a:p>
            <a:r>
              <a:rPr lang="fr-FR" dirty="0"/>
              <a:t>Nappe  + connecteur  HE10/25 … ?</a:t>
            </a:r>
          </a:p>
          <a:p>
            <a:r>
              <a:rPr lang="fr-FR" dirty="0"/>
              <a:t>Servo-moteur 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9</a:t>
            </a:fld>
            <a:endParaRPr lang="en-US" sz="20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F2C041C-950E-493A-865C-789F8C524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6DB92EEC-CFD7-4408-B416-ED460DDE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800" dirty="0"/>
              <a:t>11/01/2019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10039705"/>
      </p:ext>
    </p:extLst>
  </p:cSld>
  <p:clrMapOvr>
    <a:masterClrMapping/>
  </p:clrMapOvr>
</p:sld>
</file>

<file path=ppt/theme/theme1.xml><?xml version="1.0" encoding="utf-8"?>
<a:theme xmlns:a="http://schemas.openxmlformats.org/drawingml/2006/main" name="Cadre">
  <a:themeElements>
    <a:clrScheme name="Fra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39D77354-939E-4A26-AE51-B3F9618B14B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TM03457475[[fn=Cadre]]</Template>
  <TotalTime>1329</TotalTime>
  <Words>624</Words>
  <Application>Microsoft Office PowerPoint</Application>
  <PresentationFormat>Grand écran</PresentationFormat>
  <Paragraphs>143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Calibri</vt:lpstr>
      <vt:lpstr>Corbel</vt:lpstr>
      <vt:lpstr>Wingdings</vt:lpstr>
      <vt:lpstr>Wingdings 2</vt:lpstr>
      <vt:lpstr>Cadre</vt:lpstr>
      <vt:lpstr>Weekly report - Robot NI </vt:lpstr>
      <vt:lpstr>Timeline</vt:lpstr>
      <vt:lpstr>Weekly report –  Quentin </vt:lpstr>
      <vt:lpstr>Weekly report –  Azelarab</vt:lpstr>
      <vt:lpstr>Weekly report –  Mélanie</vt:lpstr>
      <vt:lpstr>Weekly report –  Nicolas</vt:lpstr>
      <vt:lpstr>Weekly report –  Adrien</vt:lpstr>
      <vt:lpstr>Weekly report –  M1 </vt:lpstr>
      <vt:lpstr>Liste matériel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- Robot NI</dc:title>
  <dc:creator>Nicolas COURT</dc:creator>
  <cp:lastModifiedBy>Jason Puel</cp:lastModifiedBy>
  <cp:revision>107</cp:revision>
  <dcterms:created xsi:type="dcterms:W3CDTF">2018-12-14T09:47:46Z</dcterms:created>
  <dcterms:modified xsi:type="dcterms:W3CDTF">2019-01-28T17:15:48Z</dcterms:modified>
</cp:coreProperties>
</file>