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1"/>
  </p:notesMasterIdLst>
  <p:sldIdLst>
    <p:sldId id="256" r:id="rId2"/>
    <p:sldId id="262" r:id="rId3"/>
    <p:sldId id="261" r:id="rId4"/>
    <p:sldId id="263" r:id="rId5"/>
    <p:sldId id="265" r:id="rId6"/>
    <p:sldId id="257" r:id="rId7"/>
    <p:sldId id="260" r:id="rId8"/>
    <p:sldId id="264" r:id="rId9"/>
    <p:sldId id="25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sans titre" id="{2781BA02-8259-4563-8138-6F25F6852E71}">
          <p14:sldIdLst>
            <p14:sldId id="256"/>
            <p14:sldId id="262"/>
            <p14:sldId id="261"/>
            <p14:sldId id="263"/>
            <p14:sldId id="265"/>
            <p14:sldId id="257"/>
            <p14:sldId id="260"/>
            <p14:sldId id="264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Nicolas\Desktop\M2\Bureau%20d'&#233;tude\Timeline%20Robot%20test.xlsx" TargetMode="External"/><Relationship Id="rId1" Type="http://schemas.openxmlformats.org/officeDocument/2006/relationships/image" Target="../media/image6.pn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t" anchorCtr="1"/>
          <a:lstStyle/>
          <a:p>
            <a:pPr>
              <a:defRPr sz="1800" b="1" i="0" u="none" strike="noStrike" kern="1200" spc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>
                <a:solidFill>
                  <a:schemeClr val="accent1">
                    <a:lumMod val="75000"/>
                  </a:schemeClr>
                </a:solidFill>
                <a:latin typeface="+mn-lt"/>
              </a:rPr>
              <a:t>Bureau</a:t>
            </a:r>
            <a:r>
              <a:rPr lang="en-US" sz="1800" b="1" baseline="0">
                <a:solidFill>
                  <a:schemeClr val="accent1">
                    <a:lumMod val="75000"/>
                  </a:schemeClr>
                </a:solidFill>
                <a:latin typeface="+mn-lt"/>
              </a:rPr>
              <a:t> d'étude - Robot NI</a:t>
            </a:r>
            <a:endParaRPr lang="en-US" sz="1800" b="1">
              <a:solidFill>
                <a:schemeClr val="accent1">
                  <a:lumMod val="75000"/>
                </a:schemeClr>
              </a:solidFill>
              <a:latin typeface="+mn-lt"/>
            </a:endParaRPr>
          </a:p>
        </c:rich>
      </c:tx>
      <c:layout>
        <c:manualLayout>
          <c:xMode val="edge"/>
          <c:yMode val="edge"/>
          <c:x val="0.36354408426755197"/>
          <c:y val="1.1643232649711001E-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5.6978185383786448E-2"/>
          <c:y val="7.8828945337177894E-2"/>
          <c:w val="0.87548045355302873"/>
          <c:h val="0.89401558523578717"/>
        </c:manualLayout>
      </c:layout>
      <c:scatterChart>
        <c:scatterStyle val="lineMarker"/>
        <c:varyColors val="0"/>
        <c:ser>
          <c:idx val="1"/>
          <c:order val="0"/>
          <c:tx>
            <c:v>Tasks</c:v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12"/>
            <c:spPr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80F-47C4-9A20-AC31141E4CA5}"/>
                </c:ext>
              </c:extLst>
            </c:dLbl>
            <c:dLbl>
              <c:idx val="1"/>
              <c:layout>
                <c:manualLayout>
                  <c:x val="-9.7988934752198428E-2"/>
                  <c:y val="4.0032866878634214E-2"/>
                </c:manualLayout>
              </c:layout>
              <c:tx>
                <c:rich>
                  <a:bodyPr/>
                  <a:lstStyle/>
                  <a:p>
                    <a:fld id="{3181CC97-DEE5-4A97-86B7-441F36E12BAF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080F-47C4-9A20-AC31141E4CA5}"/>
                </c:ext>
              </c:extLst>
            </c:dLbl>
            <c:dLbl>
              <c:idx val="2"/>
              <c:layout>
                <c:manualLayout>
                  <c:x val="-0.1152598178482267"/>
                  <c:y val="2.3295827662236233E-2"/>
                </c:manualLayout>
              </c:layout>
              <c:tx>
                <c:rich>
                  <a:bodyPr/>
                  <a:lstStyle/>
                  <a:p>
                    <a:fld id="{D42DE710-42E6-418E-85EA-564E8837EB5D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080F-47C4-9A20-AC31141E4CA5}"/>
                </c:ext>
              </c:extLst>
            </c:dLbl>
            <c:dLbl>
              <c:idx val="3"/>
              <c:layout>
                <c:manualLayout>
                  <c:x val="2.9153752958350002E-3"/>
                  <c:y val="6.6710904281663069E-2"/>
                </c:manualLayout>
              </c:layout>
              <c:tx>
                <c:rich>
                  <a:bodyPr/>
                  <a:lstStyle/>
                  <a:p>
                    <a:fld id="{79389DA4-1E28-42F0-9DD5-4B84A67800C8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080F-47C4-9A20-AC31141E4CA5}"/>
                </c:ext>
              </c:extLst>
            </c:dLbl>
            <c:dLbl>
              <c:idx val="4"/>
              <c:layout>
                <c:manualLayout>
                  <c:x val="-4.3867150901257493E-2"/>
                  <c:y val="6.4052587005814648E-2"/>
                </c:manualLayout>
              </c:layout>
              <c:tx>
                <c:rich>
                  <a:bodyPr/>
                  <a:lstStyle/>
                  <a:p>
                    <a:fld id="{C976C2C3-9C20-41DA-9963-C7984C043AB4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080F-47C4-9A20-AC31141E4CA5}"/>
                </c:ext>
              </c:extLst>
            </c:dLbl>
            <c:dLbl>
              <c:idx val="5"/>
              <c:layout>
                <c:manualLayout>
                  <c:x val="-0.10557981954360629"/>
                  <c:y val="5.8714871421996849E-2"/>
                </c:manualLayout>
              </c:layout>
              <c:tx>
                <c:rich>
                  <a:bodyPr/>
                  <a:lstStyle/>
                  <a:p>
                    <a:fld id="{24DBCE9F-448F-4CE3-9533-F4BEF231B38F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080F-47C4-9A20-AC31141E4CA5}"/>
                </c:ext>
              </c:extLst>
            </c:dLbl>
            <c:dLbl>
              <c:idx val="6"/>
              <c:layout>
                <c:manualLayout>
                  <c:x val="-9.6568292351279034E-2"/>
                  <c:y val="-2.6688577919089479E-3"/>
                </c:manualLayout>
              </c:layout>
              <c:tx>
                <c:rich>
                  <a:bodyPr/>
                  <a:lstStyle/>
                  <a:p>
                    <a:fld id="{77B73002-C4C4-4ADD-A81C-0FCD7869E0D0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6-080F-47C4-9A20-AC31141E4CA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613191D3-12C9-485D-A850-B04F2F0FC29C}" type="CELLRANGE">
                      <a:rPr lang="fr-FR"/>
                      <a:pPr/>
                      <a:t>[PLAGECELL]</a:t>
                    </a:fld>
                    <a:endParaRPr lang="fr-FR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080F-47C4-9A20-AC31141E4CA5}"/>
                </c:ext>
              </c:extLst>
            </c:dLbl>
            <c:dLbl>
              <c:idx val="8"/>
              <c:layout>
                <c:manualLayout>
                  <c:x val="-9.6124741786048962E-2"/>
                  <c:y val="-5.3377155838178958E-3"/>
                </c:manualLayout>
              </c:layout>
              <c:tx>
                <c:rich>
                  <a:bodyPr/>
                  <a:lstStyle/>
                  <a:p>
                    <a:fld id="{5DE12F85-840A-4514-9FA8-4EB8C1EE3675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8-080F-47C4-9A20-AC31141E4CA5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21056296-A3C2-4A99-AA22-E9C9E5A77CD0}" type="CELLRANGE">
                      <a:rPr lang="fr-FR"/>
                      <a:pPr/>
                      <a:t>[PLAGECELL]</a:t>
                    </a:fld>
                    <a:endParaRPr lang="fr-FR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080F-47C4-9A20-AC31141E4CA5}"/>
                </c:ext>
              </c:extLst>
            </c:dLbl>
            <c:dLbl>
              <c:idx val="10"/>
              <c:layout>
                <c:manualLayout>
                  <c:x val="-2.2177528261505307E-3"/>
                  <c:y val="-5.6046013630087904E-2"/>
                </c:manualLayout>
              </c:layout>
              <c:tx>
                <c:rich>
                  <a:bodyPr/>
                  <a:lstStyle/>
                  <a:p>
                    <a:fld id="{A2660DB2-AEBD-4B27-90A2-C39B75B8CCBE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A-080F-47C4-9A20-AC31141E4CA5}"/>
                </c:ext>
              </c:extLst>
            </c:dLbl>
            <c:dLbl>
              <c:idx val="11"/>
              <c:layout>
                <c:manualLayout>
                  <c:x val="-0.13009969127473767"/>
                  <c:y val="5.1774397053065135E-3"/>
                </c:manualLayout>
              </c:layout>
              <c:tx>
                <c:rich>
                  <a:bodyPr/>
                  <a:lstStyle/>
                  <a:p>
                    <a:fld id="{42A41E07-83FA-4D64-9C05-BCAB5976AD69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B-080F-47C4-9A20-AC31141E4CA5}"/>
                </c:ext>
              </c:extLst>
            </c:dLbl>
            <c:dLbl>
              <c:idx val="12"/>
              <c:layout>
                <c:manualLayout>
                  <c:x val="-3.9690262219078357E-2"/>
                  <c:y val="5.498012814699002E-2"/>
                </c:manualLayout>
              </c:layout>
              <c:tx>
                <c:rich>
                  <a:bodyPr/>
                  <a:lstStyle/>
                  <a:p>
                    <a:fld id="{74F4EFF8-BB4F-4568-BCC0-1C50E675AE6B}" type="CELLRANGE">
                      <a:rPr lang="en-US"/>
                      <a:pPr/>
                      <a:t>[PLAGECELL]</a:t>
                    </a:fld>
                    <a:endParaRPr lang="fr-FR"/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C-080F-47C4-9A20-AC31141E4CA5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80F-47C4-9A20-AC31141E4CA5}"/>
                </c:ext>
              </c:extLst>
            </c:dLbl>
            <c:spPr>
              <a:solidFill>
                <a:schemeClr val="bg1">
                  <a:alpha val="6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l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DataLabelsRange val="1"/>
                <c15:showLeaderLines val="0"/>
              </c:ext>
            </c:extLst>
          </c:dLbls>
          <c:errBars>
            <c:errDir val="x"/>
            <c:errBarType val="plus"/>
            <c:errValType val="cust"/>
            <c:noEndCap val="1"/>
            <c:plus>
              <c:numRef>
                <c:f>Timeline!$C$30:$C$43</c:f>
                <c:numCache>
                  <c:formatCode>General</c:formatCode>
                  <c:ptCount val="14"/>
                  <c:pt idx="1">
                    <c:v>2</c:v>
                  </c:pt>
                  <c:pt idx="2">
                    <c:v>62</c:v>
                  </c:pt>
                  <c:pt idx="3">
                    <c:v>30</c:v>
                  </c:pt>
                  <c:pt idx="4">
                    <c:v>65</c:v>
                  </c:pt>
                  <c:pt idx="5">
                    <c:v>36</c:v>
                  </c:pt>
                  <c:pt idx="6">
                    <c:v>9</c:v>
                  </c:pt>
                  <c:pt idx="7">
                    <c:v>6</c:v>
                  </c:pt>
                  <c:pt idx="8">
                    <c:v>12</c:v>
                  </c:pt>
                  <c:pt idx="9">
                    <c:v>120</c:v>
                  </c:pt>
                  <c:pt idx="10">
                    <c:v>28</c:v>
                  </c:pt>
                  <c:pt idx="11">
                    <c:v>13</c:v>
                  </c:pt>
                  <c:pt idx="12">
                    <c:v>13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152400" cap="flat" cmpd="sng" algn="ctr">
                <a:solidFill>
                  <a:schemeClr val="accent1"/>
                </a:solidFill>
                <a:round/>
              </a:ln>
              <a:effectLst/>
            </c:spPr>
          </c:errBars>
          <c:errBars>
            <c:errDir val="y"/>
            <c:errBarType val="minus"/>
            <c:errValType val="cust"/>
            <c:noEndCap val="1"/>
            <c:plus>
              <c:numLit>
                <c:formatCode>General</c:formatCode>
                <c:ptCount val="1"/>
                <c:pt idx="0">
                  <c:v>0</c:v>
                </c:pt>
              </c:numLit>
            </c:plus>
            <c:minus>
              <c:numRef>
                <c:f>Timeline!$F$30:$F$43</c:f>
                <c:numCache>
                  <c:formatCode>General</c:formatCode>
                  <c:ptCount val="14"/>
                  <c:pt idx="1">
                    <c:v>-90</c:v>
                  </c:pt>
                  <c:pt idx="2">
                    <c:v>-15</c:v>
                  </c:pt>
                  <c:pt idx="3">
                    <c:v>-30</c:v>
                  </c:pt>
                  <c:pt idx="4">
                    <c:v>-45</c:v>
                  </c:pt>
                  <c:pt idx="5">
                    <c:v>-60</c:v>
                  </c:pt>
                  <c:pt idx="6">
                    <c:v>-30</c:v>
                  </c:pt>
                  <c:pt idx="7">
                    <c:v>-30</c:v>
                  </c:pt>
                  <c:pt idx="8">
                    <c:v>-75</c:v>
                  </c:pt>
                  <c:pt idx="9">
                    <c:v>-90</c:v>
                  </c:pt>
                  <c:pt idx="10">
                    <c:v>-80</c:v>
                  </c:pt>
                  <c:pt idx="11">
                    <c:v>-15</c:v>
                  </c:pt>
                  <c:pt idx="12">
                    <c:v>-45</c:v>
                  </c:pt>
                </c:numCache>
              </c:numRef>
            </c:minus>
            <c:spPr>
              <a:noFill/>
              <a:ln w="12700" cap="flat" cmpd="sng" algn="ctr">
                <a:solidFill>
                  <a:schemeClr val="accent1">
                    <a:lumMod val="75000"/>
                    <a:alpha val="70000"/>
                  </a:schemeClr>
                </a:solidFill>
                <a:prstDash val="solid"/>
                <a:round/>
              </a:ln>
              <a:effectLst/>
            </c:spPr>
          </c:errBars>
          <c:xVal>
            <c:numRef>
              <c:f>Timeline!$A$30:$A$43</c:f>
              <c:numCache>
                <c:formatCode>m/d/yyyy</c:formatCode>
                <c:ptCount val="14"/>
                <c:pt idx="1">
                  <c:v>43376</c:v>
                </c:pt>
                <c:pt idx="2">
                  <c:v>43383</c:v>
                </c:pt>
                <c:pt idx="3">
                  <c:v>43446</c:v>
                </c:pt>
                <c:pt idx="4">
                  <c:v>43383</c:v>
                </c:pt>
                <c:pt idx="5">
                  <c:v>43403</c:v>
                </c:pt>
                <c:pt idx="6">
                  <c:v>43401</c:v>
                </c:pt>
                <c:pt idx="7">
                  <c:v>43434</c:v>
                </c:pt>
                <c:pt idx="8">
                  <c:v>43429</c:v>
                </c:pt>
                <c:pt idx="9">
                  <c:v>43405</c:v>
                </c:pt>
                <c:pt idx="10">
                  <c:v>43448</c:v>
                </c:pt>
                <c:pt idx="11">
                  <c:v>43472</c:v>
                </c:pt>
                <c:pt idx="12">
                  <c:v>43472</c:v>
                </c:pt>
              </c:numCache>
            </c:numRef>
          </c:xVal>
          <c:yVal>
            <c:numRef>
              <c:f>Timeline!$E$30:$E$43</c:f>
              <c:numCache>
                <c:formatCode>General</c:formatCode>
                <c:ptCount val="14"/>
                <c:pt idx="1">
                  <c:v>-90</c:v>
                </c:pt>
                <c:pt idx="2">
                  <c:v>-15</c:v>
                </c:pt>
                <c:pt idx="3">
                  <c:v>-30</c:v>
                </c:pt>
                <c:pt idx="4">
                  <c:v>-45</c:v>
                </c:pt>
                <c:pt idx="5">
                  <c:v>-60</c:v>
                </c:pt>
                <c:pt idx="6">
                  <c:v>-30</c:v>
                </c:pt>
                <c:pt idx="7">
                  <c:v>-30</c:v>
                </c:pt>
                <c:pt idx="8">
                  <c:v>-75</c:v>
                </c:pt>
                <c:pt idx="9">
                  <c:v>-90</c:v>
                </c:pt>
                <c:pt idx="10">
                  <c:v>-80</c:v>
                </c:pt>
                <c:pt idx="11">
                  <c:v>-15</c:v>
                </c:pt>
                <c:pt idx="12">
                  <c:v>-45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Timeline!$D$30:$D$43</c15:f>
                <c15:dlblRangeCache>
                  <c:ptCount val="14"/>
                  <c:pt idx="1">
                    <c:v>NI DAYS - 05/10</c:v>
                  </c:pt>
                  <c:pt idx="2">
                    <c:v>PCB Alimentation 
10/10</c:v>
                  </c:pt>
                  <c:pt idx="3">
                    <c:v>PCB connectique 
12/12</c:v>
                  </c:pt>
                  <c:pt idx="4">
                    <c:v>Lanceur 
10/10</c:v>
                  </c:pt>
                  <c:pt idx="5">
                    <c:v>Raspberry PI 
30/10</c:v>
                  </c:pt>
                  <c:pt idx="6">
                    <c:v>Executable 
28/10</c:v>
                  </c:pt>
                  <c:pt idx="7">
                    <c:v>Scénarii 1 &amp; 2 
30/11</c:v>
                  </c:pt>
                  <c:pt idx="8">
                    <c:v>Prépa JPO 
25/11</c:v>
                  </c:pt>
                  <c:pt idx="9">
                    <c:v>Formation M1 
01/11</c:v>
                  </c:pt>
                  <c:pt idx="10">
                    <c:v>Docs/Présentations 
14/12</c:v>
                  </c:pt>
                  <c:pt idx="11">
                    <c:v>Corrections code 
07/01</c:v>
                  </c:pt>
                  <c:pt idx="12">
                    <c:v>Trieur 
07/01</c:v>
                  </c:pt>
                  <c:pt idx="13">
                    <c:v>Insert new rows above this one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E-080F-47C4-9A20-AC31141E4CA5}"/>
            </c:ext>
          </c:extLst>
        </c:ser>
        <c:ser>
          <c:idx val="0"/>
          <c:order val="1"/>
          <c:tx>
            <c:v>Milestones</c:v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14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dPt>
            <c:idx val="0"/>
            <c:marker>
              <c:spPr>
                <a:solidFill>
                  <a:schemeClr val="accent6">
                    <a:lumMod val="75000"/>
                  </a:schemeClr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080F-47C4-9A20-AC31141E4CA5}"/>
              </c:ext>
            </c:extLst>
          </c:dPt>
          <c:dPt>
            <c:idx val="1"/>
            <c:marker>
              <c:symbol val="circle"/>
              <c:size val="14"/>
              <c:spPr>
                <a:solidFill>
                  <a:srgbClr val="00B050"/>
                </a:solid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080F-47C4-9A20-AC31141E4CA5}"/>
              </c:ext>
            </c:extLst>
          </c:dPt>
          <c:dPt>
            <c:idx val="5"/>
            <c:marker>
              <c:symbol val="picture"/>
              <c:spPr>
                <a:blipFill>
                  <a:blip xmlns:r="http://schemas.openxmlformats.org/officeDocument/2006/relationships" r:embed="rId1"/>
                  <a:stretch>
                    <a:fillRect/>
                  </a:stretch>
                </a:blipFill>
                <a:ln w="9525">
                  <a:noFill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080F-47C4-9A20-AC31141E4CA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80F-47C4-9A20-AC31141E4CA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00C9951-64DB-4819-B085-BF117E8A321C}" type="CELLRANGE">
                      <a:rPr lang="fr-FR"/>
                      <a:pPr/>
                      <a:t>[PLAGECELL]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080F-47C4-9A20-AC31141E4CA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C61C227-7D03-4312-9AAA-389403D71EBB}" type="CELLRANGE">
                      <a:rPr lang="fr-FR"/>
                      <a:pPr/>
                      <a:t>[PLAGECELL]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080F-47C4-9A20-AC31141E4CA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2E98793E-5722-4496-A00E-AEFEC648243E}" type="CELLRANGE">
                      <a:rPr lang="fr-FR"/>
                      <a:pPr/>
                      <a:t>[PLAGECELL]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080F-47C4-9A20-AC31141E4CA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18BD1C22-6F56-4467-AFDC-F66DC288C818}" type="CELLRANGE">
                      <a:rPr lang="fr-FR"/>
                      <a:pPr/>
                      <a:t>[PLAGECELL]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080F-47C4-9A20-AC31141E4CA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A22B9E92-6D38-42E3-B58E-DC8E56300A94}" type="CELLRANGE">
                      <a:rPr lang="fr-FR"/>
                      <a:pPr/>
                      <a:t>[PLAGECELL]</a:t>
                    </a:fld>
                    <a:endParaRPr lang="fr-FR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080F-47C4-9A20-AC31141E4CA5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080F-47C4-9A20-AC31141E4CA5}"/>
                </c:ext>
              </c:extLst>
            </c:dLbl>
            <c:spPr>
              <a:solidFill>
                <a:schemeClr val="bg1">
                  <a:alpha val="5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Dir val="y"/>
            <c:errBarType val="minus"/>
            <c:errValType val="percentage"/>
            <c:noEndCap val="1"/>
            <c:val val="100"/>
            <c:spPr>
              <a:noFill/>
              <a:ln w="1270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  <a:round/>
              </a:ln>
              <a:effectLst/>
            </c:spPr>
          </c:errBars>
          <c:xVal>
            <c:numRef>
              <c:f>Timeline!$A$47:$A$53</c:f>
              <c:numCache>
                <c:formatCode>m/d/yyyy</c:formatCode>
                <c:ptCount val="7"/>
                <c:pt idx="1">
                  <c:v>43378</c:v>
                </c:pt>
                <c:pt idx="2">
                  <c:v>43425</c:v>
                </c:pt>
                <c:pt idx="3">
                  <c:v>43442</c:v>
                </c:pt>
                <c:pt idx="4">
                  <c:v>43483</c:v>
                </c:pt>
                <c:pt idx="5">
                  <c:v>43528</c:v>
                </c:pt>
              </c:numCache>
            </c:numRef>
          </c:xVal>
          <c:yVal>
            <c:numRef>
              <c:f>Timeline!$E$47:$E$53</c:f>
              <c:numCache>
                <c:formatCode>General</c:formatCode>
                <c:ptCount val="7"/>
                <c:pt idx="1">
                  <c:v>30</c:v>
                </c:pt>
                <c:pt idx="2">
                  <c:v>10</c:v>
                </c:pt>
                <c:pt idx="3">
                  <c:v>40</c:v>
                </c:pt>
                <c:pt idx="4">
                  <c:v>10</c:v>
                </c:pt>
                <c:pt idx="5">
                  <c:v>15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Timeline!$D$47:$D$53</c15:f>
                <c15:dlblRangeCache>
                  <c:ptCount val="7"/>
                  <c:pt idx="1">
                    <c:v>Début des projets à l'ISEN, 05/10/18</c:v>
                  </c:pt>
                  <c:pt idx="2">
                    <c:v>Pitch n°1 :  Project Management, 21/11/18</c:v>
                  </c:pt>
                  <c:pt idx="3">
                    <c:v>JPO ISEN, 08/12/18</c:v>
                  </c:pt>
                  <c:pt idx="4">
                    <c:v>Pitch n°2 : Global Technical,  18/01/19</c:v>
                  </c:pt>
                  <c:pt idx="5">
                    <c:v>Pitch final , 04/03/19</c:v>
                  </c:pt>
                  <c:pt idx="6">
                    <c:v>Insert new rows above this one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6-080F-47C4-9A20-AC31141E4C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4833240"/>
        <c:axId val="484834552"/>
      </c:scatterChart>
      <c:valAx>
        <c:axId val="484833240"/>
        <c:scaling>
          <c:orientation val="minMax"/>
          <c:min val="43370"/>
        </c:scaling>
        <c:delete val="0"/>
        <c:axPos val="b"/>
        <c:numFmt formatCode="dd/mm/yy" sourceLinked="0"/>
        <c:majorTickMark val="cross"/>
        <c:minorTickMark val="none"/>
        <c:tickLblPos val="nextTo"/>
        <c:spPr>
          <a:noFill/>
          <a:ln w="63500" cap="flat" cmpd="sng" algn="ctr">
            <a:solidFill>
              <a:schemeClr val="tx1">
                <a:lumMod val="50000"/>
                <a:lumOff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84834552"/>
        <c:crosses val="autoZero"/>
        <c:crossBetween val="midCat"/>
        <c:majorUnit val="30"/>
      </c:valAx>
      <c:valAx>
        <c:axId val="484834552"/>
        <c:scaling>
          <c:orientation val="minMax"/>
          <c:max val="50"/>
          <c:min val="-100"/>
        </c:scaling>
        <c:delete val="1"/>
        <c:axPos val="l"/>
        <c:numFmt formatCode="General" sourceLinked="1"/>
        <c:majorTickMark val="out"/>
        <c:minorTickMark val="none"/>
        <c:tickLblPos val="nextTo"/>
        <c:crossAx val="484833240"/>
        <c:crosses val="autoZero"/>
        <c:crossBetween val="midCat"/>
        <c:majorUnit val="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38100" cap="flat" cmpd="sng" algn="ctr">
      <a:solidFill>
        <a:schemeClr val="bg1">
          <a:lumMod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29632-B014-4844-8D61-F020150B7767}" type="datetimeFigureOut">
              <a:rPr lang="fr-FR" smtClean="0"/>
              <a:t>28/01/2019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E5FB4-A863-4A99-A0DA-E8EA1E41E8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018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7FD1E-7F8B-43A0-A002-1E85B148FD8D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AF21-5E6B-430C-951A-3AE1FFC91461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A0C5-1C83-488B-B945-99618E3B54D4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399D-AF7A-4C67-9196-F6D08FD333B4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FAF6-80BA-414B-9CAD-D9EE1C90E916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FE48-7F01-4822-BB99-9E7A464ADB55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28DDB-DBAA-405D-AFF3-992C965F4D5A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278F1-4974-4ABD-A0F1-BC508149B0C2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9392B-F772-4AC7-950F-9A733AEA2D4D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F1FF1-3427-4399-8698-1E1E0DB0194F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A6299-99E0-424E-A149-B3879D2AEF62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E06809D-4C73-46EA-91E5-C6051C3DB1A4}" type="datetime1">
              <a:rPr lang="en-US" smtClean="0"/>
              <a:t>1/28/2019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hyperlink" Target="https://gitlab.com/Corentin.M/Coupe_NI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tree.taiga.io/project/nicolascourt-robot-isen-20182019/kanban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4ADCDA-841B-42BC-985D-31FF956D9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003300"/>
            <a:ext cx="7315200" cy="2077212"/>
          </a:xfrm>
        </p:spPr>
        <p:txBody>
          <a:bodyPr/>
          <a:lstStyle/>
          <a:p>
            <a:r>
              <a:rPr lang="fr-FR" dirty="0"/>
              <a:t>Weekly report -</a:t>
            </a:r>
            <a:br>
              <a:rPr lang="fr-FR" dirty="0"/>
            </a:br>
            <a:r>
              <a:rPr lang="fr-FR" dirty="0"/>
              <a:t>Robot NI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07D93C9-84E1-4CF8-A985-A9AC782EA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5" y="3095446"/>
            <a:ext cx="7315200" cy="914400"/>
          </a:xfrm>
        </p:spPr>
        <p:txBody>
          <a:bodyPr/>
          <a:lstStyle/>
          <a:p>
            <a:r>
              <a:rPr lang="fr-FR" dirty="0"/>
              <a:t>BAUDIN Quentin, BOKHCHEN </a:t>
            </a:r>
            <a:r>
              <a:rPr lang="fr-FR" dirty="0" err="1"/>
              <a:t>Azelarab</a:t>
            </a:r>
            <a:r>
              <a:rPr lang="fr-FR" dirty="0"/>
              <a:t>, BRULC Mélanie, COURT Nicolas, MOJIKA Adrien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891C091-AC57-4546-B7A1-67A18A05C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0185" y="1298448"/>
            <a:ext cx="2381250" cy="23812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0289750-EF00-4A12-8A8B-8620C1C5A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80263"/>
            <a:ext cx="2954951" cy="2323286"/>
          </a:xfrm>
          <a:prstGeom prst="rect">
            <a:avLst/>
          </a:prstGeom>
        </p:spPr>
      </p:pic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5E270AAF-E700-46C9-BC85-16469BA4A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92E91-0B2E-48FE-80C1-08A0127A9C9F}" type="datetime1">
              <a:rPr lang="en-US" sz="2000" smtClean="0"/>
              <a:t>1/28/2019</a:t>
            </a:fld>
            <a:endParaRPr lang="en-US" sz="20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27D21C2-96A4-4786-AC22-065B10AAF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506" y="4064863"/>
            <a:ext cx="2614609" cy="121076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4AAD160-ED2A-4423-BE11-5FDAE7D534A7}"/>
              </a:ext>
            </a:extLst>
          </p:cNvPr>
          <p:cNvSpPr/>
          <p:nvPr/>
        </p:nvSpPr>
        <p:spPr>
          <a:xfrm>
            <a:off x="1277815" y="4349099"/>
            <a:ext cx="12367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 err="1">
                <a:hlinkClick r:id="rId5"/>
              </a:rPr>
              <a:t>Taiga</a:t>
            </a:r>
            <a:endParaRPr lang="fr-FR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D9B5B42-7225-4CF0-A2E7-5C60484AC4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3750" y="4349099"/>
            <a:ext cx="501699" cy="5016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92DECB0-77D4-4CA1-88C1-A53D4B7FC65F}"/>
              </a:ext>
            </a:extLst>
          </p:cNvPr>
          <p:cNvSpPr/>
          <p:nvPr/>
        </p:nvSpPr>
        <p:spPr>
          <a:xfrm>
            <a:off x="1277815" y="4985527"/>
            <a:ext cx="827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 err="1">
                <a:hlinkClick r:id="rId7"/>
              </a:rPr>
              <a:t>Gitlab</a:t>
            </a:r>
            <a:endParaRPr lang="fr-FR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BF43C570-D8E7-4C06-B557-511A885AB5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3750" y="4949060"/>
            <a:ext cx="1355750" cy="48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654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/>
              <a:t>Timeline</a:t>
            </a:r>
          </a:p>
        </p:txBody>
      </p:sp>
      <p:sp>
        <p:nvSpPr>
          <p:cNvPr id="15" name="Sous-titre 14">
            <a:extLst>
              <a:ext uri="{FF2B5EF4-FFF2-40B4-BE49-F238E27FC236}">
                <a16:creationId xmlns:a16="http://schemas.microsoft.com/office/drawing/2014/main" id="{310E7952-1D9E-49FE-AADC-C97C99AF7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4670" y="5600713"/>
            <a:ext cx="7315200" cy="537161"/>
          </a:xfrm>
        </p:spPr>
        <p:txBody>
          <a:bodyPr/>
          <a:lstStyle/>
          <a:p>
            <a:pPr algn="ctr"/>
            <a:r>
              <a:rPr lang="fr-FR" dirty="0"/>
              <a:t>Timeline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CADC67-AF7E-4B06-8895-0709F0CDA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800" dirty="0"/>
              <a:t>19/12/2018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2</a:t>
            </a:fld>
            <a:endParaRPr lang="en-US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985" y="6125770"/>
            <a:ext cx="732230" cy="73223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7DE3B3F-8C84-4786-AD82-5E44E7A51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  <p:graphicFrame>
        <p:nvGraphicFramePr>
          <p:cNvPr id="12" name="Chart 2" descr="Project timeline chart">
            <a:extLst>
              <a:ext uri="{FF2B5EF4-FFF2-40B4-BE49-F238E27FC236}">
                <a16:creationId xmlns:a16="http://schemas.microsoft.com/office/drawing/2014/main" id="{804101E9-334F-4A84-8D62-96D9C4F484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0329001"/>
              </p:ext>
            </p:extLst>
          </p:nvPr>
        </p:nvGraphicFramePr>
        <p:xfrm>
          <a:off x="593889" y="1100689"/>
          <a:ext cx="11151909" cy="4361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77251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2196445"/>
            <a:ext cx="2947482" cy="3528575"/>
          </a:xfrm>
        </p:spPr>
        <p:txBody>
          <a:bodyPr/>
          <a:lstStyle/>
          <a:p>
            <a:pPr algn="ctr"/>
            <a:r>
              <a:rPr lang="fr-FR" dirty="0"/>
              <a:t>Weekly report – </a:t>
            </a:r>
            <a:br>
              <a:rPr lang="fr-FR" dirty="0"/>
            </a:br>
            <a:r>
              <a:rPr lang="fr-FR" dirty="0"/>
              <a:t>Quentin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7" y="965167"/>
            <a:ext cx="1617885" cy="1617885"/>
          </a:xfrm>
          <a:prstGeom prst="rect">
            <a:avLst/>
          </a:prstGeom>
        </p:spPr>
      </p:pic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3</a:t>
            </a:fld>
            <a:endParaRPr lang="en-US" sz="2000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798B8FD0-DE2F-4A93-BA6A-52EB0795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193348"/>
              </p:ext>
            </p:extLst>
          </p:nvPr>
        </p:nvGraphicFramePr>
        <p:xfrm>
          <a:off x="3811081" y="772998"/>
          <a:ext cx="7812168" cy="5290363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533917">
                  <a:extLst>
                    <a:ext uri="{9D8B030D-6E8A-4147-A177-3AD203B41FA5}">
                      <a16:colId xmlns:a16="http://schemas.microsoft.com/office/drawing/2014/main" val="3604210546"/>
                    </a:ext>
                  </a:extLst>
                </a:gridCol>
                <a:gridCol w="6278251">
                  <a:extLst>
                    <a:ext uri="{9D8B030D-6E8A-4147-A177-3AD203B41FA5}">
                      <a16:colId xmlns:a16="http://schemas.microsoft.com/office/drawing/2014/main" val="32619007"/>
                    </a:ext>
                  </a:extLst>
                </a:gridCol>
              </a:tblGrid>
              <a:tr h="115854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Prévu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Pcb</a:t>
                      </a:r>
                      <a:r>
                        <a:rPr lang="fr-FR" dirty="0"/>
                        <a:t> Connectiques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273556"/>
                  </a:ext>
                </a:extLst>
              </a:tr>
              <a:tr h="63309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Fait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990522"/>
                  </a:ext>
                </a:extLst>
              </a:tr>
              <a:tr h="69615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Reste à faire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Pcb</a:t>
                      </a:r>
                      <a:r>
                        <a:rPr lang="fr-FR" dirty="0"/>
                        <a:t> connectiques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892070"/>
                  </a:ext>
                </a:extLst>
              </a:tr>
              <a:tr h="135437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Point(s) bloquant(s)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Pb </a:t>
                      </a:r>
                      <a:r>
                        <a:rPr lang="fr-FR" dirty="0" err="1"/>
                        <a:t>pcb</a:t>
                      </a:r>
                      <a:r>
                        <a:rPr lang="fr-FR" dirty="0"/>
                        <a:t>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906068"/>
                  </a:ext>
                </a:extLst>
              </a:tr>
              <a:tr h="144818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à venir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Finir PCB connectiques (11/01)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0672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DCC3C2F7-E0FA-45E6-8B11-F6BD18E4D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  <p:sp>
        <p:nvSpPr>
          <p:cNvPr id="11" name="Espace réservé de la date 4">
            <a:extLst>
              <a:ext uri="{FF2B5EF4-FFF2-40B4-BE49-F238E27FC236}">
                <a16:creationId xmlns:a16="http://schemas.microsoft.com/office/drawing/2014/main" id="{5184BFA6-C80A-46BE-B893-E28AEEF821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/>
          <a:lstStyle/>
          <a:p>
            <a:r>
              <a:rPr lang="en-US" sz="1800" dirty="0"/>
              <a:t>19/12/2018</a:t>
            </a:r>
          </a:p>
        </p:txBody>
      </p:sp>
    </p:spTree>
    <p:extLst>
      <p:ext uri="{BB962C8B-B14F-4D97-AF65-F5344CB8AC3E}">
        <p14:creationId xmlns:p14="http://schemas.microsoft.com/office/powerpoint/2010/main" val="2685451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2196445"/>
            <a:ext cx="2947482" cy="3528575"/>
          </a:xfrm>
        </p:spPr>
        <p:txBody>
          <a:bodyPr/>
          <a:lstStyle/>
          <a:p>
            <a:pPr algn="ctr"/>
            <a:r>
              <a:rPr lang="fr-FR" dirty="0"/>
              <a:t>Weekly report – </a:t>
            </a:r>
            <a:br>
              <a:rPr lang="fr-FR" dirty="0"/>
            </a:br>
            <a:r>
              <a:rPr lang="fr-FR" dirty="0" err="1"/>
              <a:t>Azelarab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7" y="965167"/>
            <a:ext cx="1617885" cy="1617885"/>
          </a:xfrm>
          <a:prstGeom prst="rect">
            <a:avLst/>
          </a:prstGeom>
        </p:spPr>
      </p:pic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4</a:t>
            </a:fld>
            <a:endParaRPr lang="en-US" sz="2000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798B8FD0-DE2F-4A93-BA6A-52EB0795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086613"/>
              </p:ext>
            </p:extLst>
          </p:nvPr>
        </p:nvGraphicFramePr>
        <p:xfrm>
          <a:off x="3811081" y="772998"/>
          <a:ext cx="7812168" cy="5255441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533917">
                  <a:extLst>
                    <a:ext uri="{9D8B030D-6E8A-4147-A177-3AD203B41FA5}">
                      <a16:colId xmlns:a16="http://schemas.microsoft.com/office/drawing/2014/main" val="3604210546"/>
                    </a:ext>
                  </a:extLst>
                </a:gridCol>
                <a:gridCol w="6278251">
                  <a:extLst>
                    <a:ext uri="{9D8B030D-6E8A-4147-A177-3AD203B41FA5}">
                      <a16:colId xmlns:a16="http://schemas.microsoft.com/office/drawing/2014/main" val="32619007"/>
                    </a:ext>
                  </a:extLst>
                </a:gridCol>
              </a:tblGrid>
              <a:tr h="68815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Prévu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Documentation installation </a:t>
                      </a:r>
                      <a:r>
                        <a:rPr lang="fr-FR" dirty="0" err="1"/>
                        <a:t>Labview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MyRio</a:t>
                      </a:r>
                      <a:r>
                        <a:rPr lang="fr-FR" dirty="0"/>
                        <a:t> (1) 18/12</a:t>
                      </a:r>
                    </a:p>
                    <a:p>
                      <a:r>
                        <a:rPr lang="fr-FR" dirty="0"/>
                        <a:t>Installation </a:t>
                      </a:r>
                      <a:r>
                        <a:rPr lang="fr-FR" dirty="0" err="1"/>
                        <a:t>Labview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MyRiorio</a:t>
                      </a:r>
                      <a:r>
                        <a:rPr lang="fr-FR" dirty="0"/>
                        <a:t> pour </a:t>
                      </a:r>
                      <a:r>
                        <a:rPr lang="fr-FR" dirty="0" err="1"/>
                        <a:t>Azel</a:t>
                      </a:r>
                      <a:r>
                        <a:rPr lang="fr-FR" dirty="0"/>
                        <a:t> (1) 18/12</a:t>
                      </a:r>
                    </a:p>
                    <a:p>
                      <a:r>
                        <a:rPr lang="fr-FR" dirty="0"/>
                        <a:t>Recherche récupération code sur une carte </a:t>
                      </a:r>
                      <a:r>
                        <a:rPr lang="fr-FR" dirty="0" err="1"/>
                        <a:t>Myrio</a:t>
                      </a:r>
                      <a:r>
                        <a:rPr lang="fr-FR" dirty="0"/>
                        <a:t>  (2) 18/12</a:t>
                      </a:r>
                    </a:p>
                    <a:p>
                      <a:r>
                        <a:rPr lang="fr-FR" dirty="0"/>
                        <a:t>Tuto </a:t>
                      </a:r>
                      <a:r>
                        <a:rPr lang="fr-FR" dirty="0" err="1"/>
                        <a:t>NiMax</a:t>
                      </a:r>
                      <a:r>
                        <a:rPr lang="fr-FR" dirty="0"/>
                        <a:t> (2) 18/12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273556"/>
                  </a:ext>
                </a:extLst>
              </a:tr>
              <a:tr h="80976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Fait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Docs installation</a:t>
                      </a:r>
                    </a:p>
                    <a:p>
                      <a:r>
                        <a:rPr lang="fr-FR" dirty="0"/>
                        <a:t>Installation </a:t>
                      </a:r>
                      <a:r>
                        <a:rPr lang="fr-FR" dirty="0" err="1"/>
                        <a:t>MyRio</a:t>
                      </a:r>
                      <a:endParaRPr lang="fr-FR" dirty="0"/>
                    </a:p>
                    <a:p>
                      <a:r>
                        <a:rPr lang="fr-FR" dirty="0"/>
                        <a:t>Tuto </a:t>
                      </a:r>
                      <a:r>
                        <a:rPr lang="fr-FR" dirty="0" err="1"/>
                        <a:t>NiMax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990522"/>
                  </a:ext>
                </a:extLst>
              </a:tr>
              <a:tr h="107371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Reste à faire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Présentation NI max + documentation installation </a:t>
                      </a:r>
                      <a:r>
                        <a:rPr lang="fr-FR" dirty="0" err="1"/>
                        <a:t>Labview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503411"/>
                  </a:ext>
                </a:extLst>
              </a:tr>
              <a:tr h="747071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Point(s) bloquant(s)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Recup</a:t>
                      </a:r>
                      <a:r>
                        <a:rPr lang="fr-FR" dirty="0"/>
                        <a:t> code sur </a:t>
                      </a:r>
                      <a:r>
                        <a:rPr lang="fr-FR" dirty="0" err="1"/>
                        <a:t>MyRio</a:t>
                      </a:r>
                      <a:r>
                        <a:rPr lang="fr-FR" dirty="0"/>
                        <a:t> impossible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906068"/>
                  </a:ext>
                </a:extLst>
              </a:tr>
              <a:tr h="133153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à venir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Présentation Ni Max (10/01)</a:t>
                      </a:r>
                    </a:p>
                    <a:p>
                      <a:r>
                        <a:rPr lang="fr-FR" dirty="0"/>
                        <a:t>Installation </a:t>
                      </a:r>
                      <a:r>
                        <a:rPr lang="fr-FR" dirty="0" err="1"/>
                        <a:t>Labview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MyRio</a:t>
                      </a:r>
                      <a:r>
                        <a:rPr lang="fr-FR" dirty="0"/>
                        <a:t> pour les M1 (09/01 après midi)</a:t>
                      </a:r>
                    </a:p>
                    <a:p>
                      <a:r>
                        <a:rPr lang="fr-FR" dirty="0"/>
                        <a:t>Mettre les présentation/documentations sur Git (11/01)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0672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4F42CBC7-9329-4B74-86D4-7CE085F0D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  <p:sp>
        <p:nvSpPr>
          <p:cNvPr id="10" name="Espace réservé de la date 4">
            <a:extLst>
              <a:ext uri="{FF2B5EF4-FFF2-40B4-BE49-F238E27FC236}">
                <a16:creationId xmlns:a16="http://schemas.microsoft.com/office/drawing/2014/main" id="{96469D18-1A4C-4C38-84BB-F980406F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/>
          <a:lstStyle/>
          <a:p>
            <a:r>
              <a:rPr lang="en-US" sz="1800" dirty="0"/>
              <a:t>19/12/2018</a:t>
            </a:r>
          </a:p>
        </p:txBody>
      </p:sp>
    </p:spTree>
    <p:extLst>
      <p:ext uri="{BB962C8B-B14F-4D97-AF65-F5344CB8AC3E}">
        <p14:creationId xmlns:p14="http://schemas.microsoft.com/office/powerpoint/2010/main" val="3643803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2196445"/>
            <a:ext cx="2947482" cy="3528575"/>
          </a:xfrm>
        </p:spPr>
        <p:txBody>
          <a:bodyPr/>
          <a:lstStyle/>
          <a:p>
            <a:pPr algn="ctr"/>
            <a:r>
              <a:rPr lang="fr-FR" dirty="0"/>
              <a:t>Weekly report – </a:t>
            </a:r>
            <a:br>
              <a:rPr lang="fr-FR" dirty="0"/>
            </a:br>
            <a:r>
              <a:rPr lang="fr-FR" dirty="0"/>
              <a:t>Mélanie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7" y="965167"/>
            <a:ext cx="1617885" cy="1617885"/>
          </a:xfrm>
          <a:prstGeom prst="rect">
            <a:avLst/>
          </a:prstGeom>
        </p:spPr>
      </p:pic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5</a:t>
            </a:fld>
            <a:endParaRPr lang="en-US" sz="2000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798B8FD0-DE2F-4A93-BA6A-52EB0795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689522"/>
              </p:ext>
            </p:extLst>
          </p:nvPr>
        </p:nvGraphicFramePr>
        <p:xfrm>
          <a:off x="3811081" y="772998"/>
          <a:ext cx="7812168" cy="5370911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533917">
                  <a:extLst>
                    <a:ext uri="{9D8B030D-6E8A-4147-A177-3AD203B41FA5}">
                      <a16:colId xmlns:a16="http://schemas.microsoft.com/office/drawing/2014/main" val="3604210546"/>
                    </a:ext>
                  </a:extLst>
                </a:gridCol>
                <a:gridCol w="6278251">
                  <a:extLst>
                    <a:ext uri="{9D8B030D-6E8A-4147-A177-3AD203B41FA5}">
                      <a16:colId xmlns:a16="http://schemas.microsoft.com/office/drawing/2014/main" val="32619007"/>
                    </a:ext>
                  </a:extLst>
                </a:gridCol>
              </a:tblGrid>
              <a:tr h="141270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Prévu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Veille reset </a:t>
                      </a:r>
                      <a:r>
                        <a:rPr lang="fr-FR" dirty="0" err="1"/>
                        <a:t>MyRio</a:t>
                      </a:r>
                      <a:r>
                        <a:rPr lang="fr-FR" dirty="0"/>
                        <a:t> (21/12)</a:t>
                      </a:r>
                    </a:p>
                    <a:p>
                      <a:r>
                        <a:rPr lang="fr-FR" dirty="0"/>
                        <a:t>Assigner des </a:t>
                      </a:r>
                      <a:r>
                        <a:rPr lang="fr-FR" dirty="0" err="1"/>
                        <a:t>MyRio</a:t>
                      </a:r>
                      <a:r>
                        <a:rPr lang="fr-FR" dirty="0"/>
                        <a:t> au développement et d’autres aux démonstrations (21/12)</a:t>
                      </a:r>
                    </a:p>
                    <a:p>
                      <a:r>
                        <a:rPr lang="fr-FR" dirty="0"/>
                        <a:t>Adresse statique + WIFISEN pour </a:t>
                      </a:r>
                      <a:r>
                        <a:rPr lang="fr-FR" dirty="0" err="1"/>
                        <a:t>raspberry</a:t>
                      </a:r>
                      <a:r>
                        <a:rPr lang="fr-FR" dirty="0"/>
                        <a:t> pi (9/01)</a:t>
                      </a:r>
                    </a:p>
                    <a:p>
                      <a:r>
                        <a:rPr lang="fr-FR" dirty="0"/>
                        <a:t>Optimisation du code Concours + </a:t>
                      </a:r>
                      <a:r>
                        <a:rPr lang="fr-FR" dirty="0" err="1"/>
                        <a:t>cablage</a:t>
                      </a:r>
                      <a:r>
                        <a:rPr lang="fr-FR" dirty="0"/>
                        <a:t> des erreurs (9/01)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273556"/>
                  </a:ext>
                </a:extLst>
              </a:tr>
              <a:tr h="105406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Fait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Assigner </a:t>
                      </a:r>
                      <a:r>
                        <a:rPr lang="fr-FR" dirty="0" err="1"/>
                        <a:t>Rio’s</a:t>
                      </a:r>
                      <a:endParaRPr lang="fr-FR" dirty="0"/>
                    </a:p>
                    <a:p>
                      <a:r>
                        <a:rPr lang="fr-FR" dirty="0"/>
                        <a:t>Veille mais non concluante</a:t>
                      </a:r>
                    </a:p>
                    <a:p>
                      <a:r>
                        <a:rPr lang="fr-FR" dirty="0"/>
                        <a:t>Mise en beauté du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990522"/>
                  </a:ext>
                </a:extLst>
              </a:tr>
              <a:tr h="60986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Reste à faire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Aller voir Willy pour </a:t>
                      </a:r>
                      <a:r>
                        <a:rPr lang="fr-FR" dirty="0" err="1"/>
                        <a:t>wifisen</a:t>
                      </a:r>
                      <a:r>
                        <a:rPr lang="fr-FR" dirty="0"/>
                        <a:t> !! </a:t>
                      </a:r>
                      <a:br>
                        <a:rPr lang="fr-FR" dirty="0"/>
                      </a:br>
                      <a:r>
                        <a:rPr lang="fr-FR" dirty="0"/>
                        <a:t>Revoir Girod pour les reset </a:t>
                      </a:r>
                      <a:r>
                        <a:rPr lang="fr-FR" dirty="0" err="1"/>
                        <a:t>pcq</a:t>
                      </a:r>
                      <a:r>
                        <a:rPr lang="fr-FR" dirty="0"/>
                        <a:t> non concluant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42588"/>
                  </a:ext>
                </a:extLst>
              </a:tr>
              <a:tr h="80101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Point(s) bloquant(s)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Problème de connexion </a:t>
                      </a:r>
                      <a:r>
                        <a:rPr lang="fr-FR" dirty="0" err="1"/>
                        <a:t>wi-fi</a:t>
                      </a:r>
                      <a:r>
                        <a:rPr lang="fr-FR" dirty="0"/>
                        <a:t> </a:t>
                      </a:r>
                    </a:p>
                    <a:p>
                      <a:r>
                        <a:rPr lang="fr-FR" dirty="0"/>
                        <a:t>Partage de </a:t>
                      </a:r>
                      <a:r>
                        <a:rPr lang="fr-FR" dirty="0" err="1"/>
                        <a:t>co</a:t>
                      </a:r>
                      <a:r>
                        <a:rPr lang="fr-FR" dirty="0"/>
                        <a:t> </a:t>
                      </a:r>
                      <a:r>
                        <a:rPr lang="fr-FR" dirty="0">
                          <a:sym typeface="Wingdings" panose="05000000000000000000" pitchFamily="2" charset="2"/>
                        </a:rPr>
                        <a:t> besoin d’une adresse </a:t>
                      </a:r>
                      <a:r>
                        <a:rPr lang="fr-FR" dirty="0" err="1">
                          <a:sym typeface="Wingdings" panose="05000000000000000000" pitchFamily="2" charset="2"/>
                        </a:rPr>
                        <a:t>ip</a:t>
                      </a:r>
                      <a:r>
                        <a:rPr lang="fr-FR" dirty="0">
                          <a:sym typeface="Wingdings" panose="05000000000000000000" pitchFamily="2" charset="2"/>
                        </a:rPr>
                        <a:t> statique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906068"/>
                  </a:ext>
                </a:extLst>
              </a:tr>
              <a:tr h="141270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à venir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Adresse statique + WIFISEN pour </a:t>
                      </a:r>
                      <a:r>
                        <a:rPr lang="fr-FR" dirty="0" err="1"/>
                        <a:t>raspberry</a:t>
                      </a:r>
                      <a:r>
                        <a:rPr lang="fr-FR" dirty="0"/>
                        <a:t> pi (9/01)</a:t>
                      </a:r>
                    </a:p>
                    <a:p>
                      <a:r>
                        <a:rPr lang="fr-FR" dirty="0" err="1"/>
                        <a:t>Cablage</a:t>
                      </a:r>
                      <a:r>
                        <a:rPr lang="fr-FR" dirty="0"/>
                        <a:t> erreurs code Concours (9/01)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0672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AA9BE52C-10E1-4A60-BEE5-38308E865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  <p:sp>
        <p:nvSpPr>
          <p:cNvPr id="10" name="Espace réservé de la date 4">
            <a:extLst>
              <a:ext uri="{FF2B5EF4-FFF2-40B4-BE49-F238E27FC236}">
                <a16:creationId xmlns:a16="http://schemas.microsoft.com/office/drawing/2014/main" id="{12CD1898-9369-4299-B94C-C02053585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800" dirty="0"/>
              <a:t>19/12/2018</a:t>
            </a:r>
          </a:p>
        </p:txBody>
      </p:sp>
    </p:spTree>
    <p:extLst>
      <p:ext uri="{BB962C8B-B14F-4D97-AF65-F5344CB8AC3E}">
        <p14:creationId xmlns:p14="http://schemas.microsoft.com/office/powerpoint/2010/main" val="559235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2196445"/>
            <a:ext cx="2947482" cy="3528575"/>
          </a:xfrm>
        </p:spPr>
        <p:txBody>
          <a:bodyPr/>
          <a:lstStyle/>
          <a:p>
            <a:pPr algn="ctr"/>
            <a:r>
              <a:rPr lang="fr-FR" dirty="0"/>
              <a:t>Weekly report – </a:t>
            </a:r>
            <a:br>
              <a:rPr lang="fr-FR" dirty="0"/>
            </a:br>
            <a:r>
              <a:rPr lang="fr-FR" dirty="0"/>
              <a:t>Nicolas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7" y="965167"/>
            <a:ext cx="1617885" cy="1617885"/>
          </a:xfrm>
          <a:prstGeom prst="rect">
            <a:avLst/>
          </a:prstGeom>
        </p:spPr>
      </p:pic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6</a:t>
            </a:fld>
            <a:endParaRPr lang="en-US" sz="2000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798B8FD0-DE2F-4A93-BA6A-52EB0795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847270"/>
              </p:ext>
            </p:extLst>
          </p:nvPr>
        </p:nvGraphicFramePr>
        <p:xfrm>
          <a:off x="3745093" y="994471"/>
          <a:ext cx="7812168" cy="473054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533917">
                  <a:extLst>
                    <a:ext uri="{9D8B030D-6E8A-4147-A177-3AD203B41FA5}">
                      <a16:colId xmlns:a16="http://schemas.microsoft.com/office/drawing/2014/main" val="3604210546"/>
                    </a:ext>
                  </a:extLst>
                </a:gridCol>
                <a:gridCol w="6278251">
                  <a:extLst>
                    <a:ext uri="{9D8B030D-6E8A-4147-A177-3AD203B41FA5}">
                      <a16:colId xmlns:a16="http://schemas.microsoft.com/office/drawing/2014/main" val="32619007"/>
                    </a:ext>
                  </a:extLst>
                </a:gridCol>
              </a:tblGrid>
              <a:tr h="104597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Prévu :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Attribution des cartes </a:t>
                      </a:r>
                      <a:r>
                        <a:rPr lang="fr-FR" dirty="0" err="1"/>
                        <a:t>MyRIO</a:t>
                      </a:r>
                      <a:r>
                        <a:rPr lang="fr-FR" dirty="0"/>
                        <a:t> + Mail (7/01)</a:t>
                      </a:r>
                    </a:p>
                    <a:p>
                      <a:r>
                        <a:rPr lang="fr-FR" dirty="0"/>
                        <a:t>Remplir issues sur </a:t>
                      </a:r>
                      <a:r>
                        <a:rPr lang="fr-FR" dirty="0" err="1"/>
                        <a:t>taiga</a:t>
                      </a:r>
                      <a:r>
                        <a:rPr lang="fr-FR" dirty="0"/>
                        <a:t> avec niveau de priorités (7/01)</a:t>
                      </a:r>
                    </a:p>
                    <a:p>
                      <a:r>
                        <a:rPr lang="fr-FR" dirty="0"/>
                        <a:t>Préparer réunion début janvier (doodle)(7/01), salle  écran tout </a:t>
                      </a:r>
                      <a:r>
                        <a:rPr lang="fr-FR" dirty="0" err="1"/>
                        <a:t>tout</a:t>
                      </a:r>
                      <a:r>
                        <a:rPr lang="fr-FR" dirty="0"/>
                        <a:t> le monde(7/01)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273556"/>
                  </a:ext>
                </a:extLst>
              </a:tr>
              <a:tr h="83359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Fait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Cartes </a:t>
                      </a:r>
                      <a:r>
                        <a:rPr lang="fr-FR" dirty="0" err="1"/>
                        <a:t>MyRio</a:t>
                      </a:r>
                      <a:endParaRPr lang="fr-FR" dirty="0"/>
                    </a:p>
                    <a:p>
                      <a:r>
                        <a:rPr lang="fr-FR" dirty="0"/>
                        <a:t>Weekly report</a:t>
                      </a:r>
                    </a:p>
                    <a:p>
                      <a:r>
                        <a:rPr lang="fr-FR" dirty="0"/>
                        <a:t>Timeline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990522"/>
                  </a:ext>
                </a:extLst>
              </a:tr>
              <a:tr h="38149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Reste à faire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Taiga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148179"/>
                  </a:ext>
                </a:extLst>
              </a:tr>
              <a:tr h="360541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Point(s) bloquant(s)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PCB </a:t>
                      </a:r>
                    </a:p>
                    <a:p>
                      <a:r>
                        <a:rPr lang="fr-FR" dirty="0"/>
                        <a:t>Vacance </a:t>
                      </a:r>
                      <a:r>
                        <a:rPr lang="fr-FR" dirty="0">
                          <a:sym typeface="Wingdings" panose="05000000000000000000" pitchFamily="2" charset="2"/>
                        </a:rPr>
                        <a:t> retard(s)</a:t>
                      </a:r>
                    </a:p>
                    <a:p>
                      <a:r>
                        <a:rPr lang="fr-FR" dirty="0">
                          <a:sym typeface="Wingdings" panose="05000000000000000000" pitchFamily="2" charset="2"/>
                        </a:rPr>
                        <a:t>Dates réunion, des cours vont être planifiés.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906068"/>
                  </a:ext>
                </a:extLst>
              </a:tr>
              <a:tr h="1331537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à venir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PCB (11/01)</a:t>
                      </a:r>
                    </a:p>
                    <a:p>
                      <a:r>
                        <a:rPr lang="fr-FR" dirty="0"/>
                        <a:t>Lidar</a:t>
                      </a:r>
                    </a:p>
                    <a:p>
                      <a:r>
                        <a:rPr lang="fr-FR" dirty="0"/>
                        <a:t>Réunion (</a:t>
                      </a:r>
                      <a:r>
                        <a:rPr lang="fr-FR" dirty="0" err="1"/>
                        <a:t>cf</a:t>
                      </a:r>
                      <a:r>
                        <a:rPr lang="fr-FR" dirty="0"/>
                        <a:t> doodle)</a:t>
                      </a:r>
                    </a:p>
                    <a:p>
                      <a:r>
                        <a:rPr lang="fr-FR" dirty="0" err="1"/>
                        <a:t>Taiga</a:t>
                      </a:r>
                      <a:r>
                        <a:rPr lang="fr-FR"/>
                        <a:t> (11/01)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0672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505F51C6-2EFB-42A0-982A-162A6842A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  <p:sp>
        <p:nvSpPr>
          <p:cNvPr id="10" name="Espace réservé de la date 4">
            <a:extLst>
              <a:ext uri="{FF2B5EF4-FFF2-40B4-BE49-F238E27FC236}">
                <a16:creationId xmlns:a16="http://schemas.microsoft.com/office/drawing/2014/main" id="{75D37FAE-8C51-444E-A3EF-2B8D8D1EE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800" dirty="0"/>
              <a:t>19/12/2018</a:t>
            </a:r>
          </a:p>
        </p:txBody>
      </p:sp>
    </p:spTree>
    <p:extLst>
      <p:ext uri="{BB962C8B-B14F-4D97-AF65-F5344CB8AC3E}">
        <p14:creationId xmlns:p14="http://schemas.microsoft.com/office/powerpoint/2010/main" val="3445609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2196445"/>
            <a:ext cx="2947482" cy="3528575"/>
          </a:xfrm>
        </p:spPr>
        <p:txBody>
          <a:bodyPr/>
          <a:lstStyle/>
          <a:p>
            <a:pPr algn="ctr"/>
            <a:r>
              <a:rPr lang="fr-FR" dirty="0"/>
              <a:t>Weekly report – </a:t>
            </a:r>
            <a:br>
              <a:rPr lang="fr-FR" dirty="0"/>
            </a:br>
            <a:r>
              <a:rPr lang="fr-FR" dirty="0"/>
              <a:t>Adrien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7" y="965167"/>
            <a:ext cx="1617885" cy="1617885"/>
          </a:xfrm>
          <a:prstGeom prst="rect">
            <a:avLst/>
          </a:prstGeom>
        </p:spPr>
      </p:pic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7</a:t>
            </a:fld>
            <a:endParaRPr lang="en-US" sz="2000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798B8FD0-DE2F-4A93-BA6A-52EB0795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678554"/>
              </p:ext>
            </p:extLst>
          </p:nvPr>
        </p:nvGraphicFramePr>
        <p:xfrm>
          <a:off x="3716813" y="521096"/>
          <a:ext cx="7812168" cy="5426886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533917">
                  <a:extLst>
                    <a:ext uri="{9D8B030D-6E8A-4147-A177-3AD203B41FA5}">
                      <a16:colId xmlns:a16="http://schemas.microsoft.com/office/drawing/2014/main" val="3604210546"/>
                    </a:ext>
                  </a:extLst>
                </a:gridCol>
                <a:gridCol w="6278251">
                  <a:extLst>
                    <a:ext uri="{9D8B030D-6E8A-4147-A177-3AD203B41FA5}">
                      <a16:colId xmlns:a16="http://schemas.microsoft.com/office/drawing/2014/main" val="32619007"/>
                    </a:ext>
                  </a:extLst>
                </a:gridCol>
              </a:tblGrid>
              <a:tr h="140129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Prévu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fr-FR" dirty="0"/>
                        <a:t>Mise au propre et commentaires (++) du code de la coupe (9/01)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fr-FR" dirty="0"/>
                        <a:t>Finition et test du code scenario 1 (9/01)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273556"/>
                  </a:ext>
                </a:extLst>
              </a:tr>
              <a:tr h="1138548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Fait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Code Scénario 1 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990522"/>
                  </a:ext>
                </a:extLst>
              </a:tr>
              <a:tr h="51394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Reste à faire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Code au propre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769976"/>
                  </a:ext>
                </a:extLst>
              </a:tr>
              <a:tr h="140129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Point(s) bloquant(s)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Lien erreur pour les roues en série, peut entrainer des décalages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906068"/>
                  </a:ext>
                </a:extLst>
              </a:tr>
              <a:tr h="971815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à venir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fr-FR" dirty="0"/>
                        <a:t>Recherche lidar (11/01)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0672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82BF485A-5A26-4229-BA4D-1C62FFD33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  <p:sp>
        <p:nvSpPr>
          <p:cNvPr id="10" name="Espace réservé de la date 4">
            <a:extLst>
              <a:ext uri="{FF2B5EF4-FFF2-40B4-BE49-F238E27FC236}">
                <a16:creationId xmlns:a16="http://schemas.microsoft.com/office/drawing/2014/main" id="{9996FC34-6AD9-4C85-824E-820F26CF0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800" dirty="0"/>
              <a:t>19/12/2018</a:t>
            </a:r>
          </a:p>
        </p:txBody>
      </p:sp>
    </p:spTree>
    <p:extLst>
      <p:ext uri="{BB962C8B-B14F-4D97-AF65-F5344CB8AC3E}">
        <p14:creationId xmlns:p14="http://schemas.microsoft.com/office/powerpoint/2010/main" val="1422464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2196445"/>
            <a:ext cx="2947482" cy="3528575"/>
          </a:xfrm>
        </p:spPr>
        <p:txBody>
          <a:bodyPr/>
          <a:lstStyle/>
          <a:p>
            <a:pPr algn="ctr"/>
            <a:r>
              <a:rPr lang="fr-FR" dirty="0"/>
              <a:t>Weekly report – </a:t>
            </a:r>
            <a:br>
              <a:rPr lang="fr-FR" dirty="0"/>
            </a:br>
            <a:r>
              <a:rPr lang="fr-FR" dirty="0"/>
              <a:t>M1</a:t>
            </a:r>
            <a:br>
              <a:rPr lang="fr-FR" dirty="0"/>
            </a:b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7" y="965167"/>
            <a:ext cx="1617885" cy="1617885"/>
          </a:xfrm>
          <a:prstGeom prst="rect">
            <a:avLst/>
          </a:prstGeom>
        </p:spPr>
      </p:pic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8</a:t>
            </a:fld>
            <a:endParaRPr lang="en-US" sz="2000" dirty="0"/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798B8FD0-DE2F-4A93-BA6A-52EB0795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554769"/>
              </p:ext>
            </p:extLst>
          </p:nvPr>
        </p:nvGraphicFramePr>
        <p:xfrm>
          <a:off x="3811081" y="405353"/>
          <a:ext cx="7812168" cy="544985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533917">
                  <a:extLst>
                    <a:ext uri="{9D8B030D-6E8A-4147-A177-3AD203B41FA5}">
                      <a16:colId xmlns:a16="http://schemas.microsoft.com/office/drawing/2014/main" val="3604210546"/>
                    </a:ext>
                  </a:extLst>
                </a:gridCol>
                <a:gridCol w="6278251">
                  <a:extLst>
                    <a:ext uri="{9D8B030D-6E8A-4147-A177-3AD203B41FA5}">
                      <a16:colId xmlns:a16="http://schemas.microsoft.com/office/drawing/2014/main" val="32619007"/>
                    </a:ext>
                  </a:extLst>
                </a:gridCol>
              </a:tblGrid>
              <a:tr h="137582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Prévu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Docs Raspberry pi,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Découpe laser trieurs de balles(</a:t>
                      </a:r>
                      <a:r>
                        <a:rPr lang="fr-FR" dirty="0" err="1"/>
                        <a:t>justin</a:t>
                      </a:r>
                      <a:r>
                        <a:rPr lang="fr-FR" dirty="0"/>
                        <a:t>, </a:t>
                      </a:r>
                      <a:r>
                        <a:rPr lang="fr-FR" dirty="0" err="1"/>
                        <a:t>christian</a:t>
                      </a:r>
                      <a:r>
                        <a:rPr lang="fr-FR" dirty="0"/>
                        <a:t>) (11/01),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PCB (</a:t>
                      </a:r>
                      <a:r>
                        <a:rPr lang="fr-FR" dirty="0" err="1"/>
                        <a:t>jason</a:t>
                      </a:r>
                      <a:r>
                        <a:rPr lang="fr-FR" dirty="0"/>
                        <a:t>)(18/12)Etiquettes,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Tester engrenage et teste Bra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273556"/>
                  </a:ext>
                </a:extLst>
              </a:tr>
              <a:tr h="859889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Fait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Docs Raspberry pi et caméra, Reprise code de scenario 1 JPO </a:t>
                      </a:r>
                    </a:p>
                    <a:p>
                      <a:r>
                        <a:rPr lang="fr-FR"/>
                        <a:t>Test engrenages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990522"/>
                  </a:ext>
                </a:extLst>
              </a:tr>
              <a:tr h="60192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Reste à faire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Etiquettes, Découpe </a:t>
                      </a:r>
                      <a:r>
                        <a:rPr lang="fr-FR" dirty="0"/>
                        <a:t>laser trieurs de balles</a:t>
                      </a:r>
                    </a:p>
                    <a:p>
                      <a:r>
                        <a:rPr lang="fr-FR" dirty="0"/>
                        <a:t>Présentations docs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251269"/>
                  </a:ext>
                </a:extLst>
              </a:tr>
              <a:tr h="68230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Point(s) bloquant(s)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Nous n’avons pas accès à la salle de L’IE et au robot durant les heurs de projet.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906068"/>
                  </a:ext>
                </a:extLst>
              </a:tr>
              <a:tr h="189175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Semaine à venir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découpe laser trieurs de balles(</a:t>
                      </a:r>
                      <a:r>
                        <a:rPr lang="fr-FR" dirty="0" err="1"/>
                        <a:t>justin</a:t>
                      </a:r>
                      <a:r>
                        <a:rPr lang="fr-FR" dirty="0"/>
                        <a:t>, </a:t>
                      </a:r>
                      <a:r>
                        <a:rPr lang="fr-FR" dirty="0" err="1"/>
                        <a:t>christian</a:t>
                      </a:r>
                      <a:r>
                        <a:rPr lang="fr-FR" dirty="0"/>
                        <a:t>) (11/01) </a:t>
                      </a:r>
                    </a:p>
                    <a:p>
                      <a:r>
                        <a:rPr lang="fr-FR" dirty="0"/>
                        <a:t>Présentation docs</a:t>
                      </a:r>
                    </a:p>
                    <a:p>
                      <a:r>
                        <a:rPr lang="fr-FR" dirty="0" err="1"/>
                        <a:t>Presentation</a:t>
                      </a:r>
                      <a:r>
                        <a:rPr lang="fr-FR" dirty="0"/>
                        <a:t> engrenage (</a:t>
                      </a:r>
                      <a:r>
                        <a:rPr lang="fr-FR" dirty="0" err="1"/>
                        <a:t>jason</a:t>
                      </a:r>
                      <a:r>
                        <a:rPr lang="fr-FR" dirty="0"/>
                        <a:t>) (18/01)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50672"/>
                  </a:ext>
                </a:extLst>
              </a:tr>
            </a:tbl>
          </a:graphicData>
        </a:graphic>
      </p:graphicFrame>
      <p:pic>
        <p:nvPicPr>
          <p:cNvPr id="9" name="Image 8">
            <a:extLst>
              <a:ext uri="{FF2B5EF4-FFF2-40B4-BE49-F238E27FC236}">
                <a16:creationId xmlns:a16="http://schemas.microsoft.com/office/drawing/2014/main" id="{82BF485A-5A26-4229-BA4D-1C62FFD33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  <p:sp>
        <p:nvSpPr>
          <p:cNvPr id="10" name="Espace réservé de la date 4">
            <a:extLst>
              <a:ext uri="{FF2B5EF4-FFF2-40B4-BE49-F238E27FC236}">
                <a16:creationId xmlns:a16="http://schemas.microsoft.com/office/drawing/2014/main" id="{EE16949B-D2BB-412A-AF8E-F313D89FE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800" dirty="0"/>
              <a:t>19/12/2018</a:t>
            </a:r>
          </a:p>
        </p:txBody>
      </p:sp>
    </p:spTree>
    <p:extLst>
      <p:ext uri="{BB962C8B-B14F-4D97-AF65-F5344CB8AC3E}">
        <p14:creationId xmlns:p14="http://schemas.microsoft.com/office/powerpoint/2010/main" val="2845102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DF959-796A-4D76-9C2E-0A7938C4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2196445"/>
            <a:ext cx="2947482" cy="3528575"/>
          </a:xfrm>
        </p:spPr>
        <p:txBody>
          <a:bodyPr/>
          <a:lstStyle/>
          <a:p>
            <a:pPr algn="ctr"/>
            <a:r>
              <a:rPr lang="fr-FR" dirty="0"/>
              <a:t>Liste matériel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46034B-0038-44F2-A752-E73ABD7EA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Clef </a:t>
            </a:r>
            <a:r>
              <a:rPr lang="fr-FR" dirty="0" err="1"/>
              <a:t>allen</a:t>
            </a:r>
            <a:r>
              <a:rPr lang="fr-FR" dirty="0"/>
              <a:t> américaine (taille à définir)</a:t>
            </a:r>
          </a:p>
          <a:p>
            <a:r>
              <a:rPr lang="fr-FR" dirty="0"/>
              <a:t>Lidar (commandé)</a:t>
            </a:r>
          </a:p>
          <a:p>
            <a:r>
              <a:rPr lang="fr-FR" dirty="0"/>
              <a:t>Connecteur XT60L mâle</a:t>
            </a:r>
          </a:p>
          <a:p>
            <a:r>
              <a:rPr lang="fr-FR" dirty="0"/>
              <a:t>Nappe  + connecteur  HE10/25 … ?</a:t>
            </a:r>
          </a:p>
          <a:p>
            <a:r>
              <a:rPr lang="fr-FR" dirty="0"/>
              <a:t>Servo-moteur ?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2A57759-185D-4312-8F10-0C035D8FB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17" y="965167"/>
            <a:ext cx="1617885" cy="1617885"/>
          </a:xfrm>
          <a:prstGeom prst="rect">
            <a:avLst/>
          </a:prstGeom>
        </p:spPr>
      </p:pic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0EE7A6-160D-43A6-B6CA-26D57A10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Robot NI 2018/2019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B7C276-214D-47CE-BA09-1985EB9C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z="2000" smtClean="0"/>
              <a:pPr/>
              <a:t>9</a:t>
            </a:fld>
            <a:endParaRPr lang="en-US" sz="20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F2C041C-950E-493A-865C-789F8C524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420" y="6199886"/>
            <a:ext cx="1421178" cy="658114"/>
          </a:xfrm>
          <a:prstGeom prst="rect">
            <a:avLst/>
          </a:prstGeom>
        </p:spPr>
      </p:pic>
      <p:sp>
        <p:nvSpPr>
          <p:cNvPr id="9" name="Espace réservé de la date 4">
            <a:extLst>
              <a:ext uri="{FF2B5EF4-FFF2-40B4-BE49-F238E27FC236}">
                <a16:creationId xmlns:a16="http://schemas.microsoft.com/office/drawing/2014/main" id="{6DB92EEC-CFD7-4408-B416-ED460DDE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800" dirty="0"/>
              <a:t>19/12/2018</a:t>
            </a:r>
          </a:p>
        </p:txBody>
      </p:sp>
    </p:spTree>
    <p:extLst>
      <p:ext uri="{BB962C8B-B14F-4D97-AF65-F5344CB8AC3E}">
        <p14:creationId xmlns:p14="http://schemas.microsoft.com/office/powerpoint/2010/main" val="1810039705"/>
      </p:ext>
    </p:extLst>
  </p:cSld>
  <p:clrMapOvr>
    <a:masterClrMapping/>
  </p:clrMapOvr>
</p:sld>
</file>

<file path=ppt/theme/theme1.xml><?xml version="1.0" encoding="utf-8"?>
<a:theme xmlns:a="http://schemas.openxmlformats.org/drawingml/2006/main" name="Cadre">
  <a:themeElements>
    <a:clrScheme name="Fra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39D77354-939E-4A26-AE51-B3F9618B14B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TM03457475[[fn=Cadre]]</Template>
  <TotalTime>1178</TotalTime>
  <Words>635</Words>
  <Application>Microsoft Office PowerPoint</Application>
  <PresentationFormat>Grand écran</PresentationFormat>
  <Paragraphs>144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Calibri</vt:lpstr>
      <vt:lpstr>Corbel</vt:lpstr>
      <vt:lpstr>Wingdings</vt:lpstr>
      <vt:lpstr>Wingdings 2</vt:lpstr>
      <vt:lpstr>Cadre</vt:lpstr>
      <vt:lpstr>Weekly report - Robot NI </vt:lpstr>
      <vt:lpstr>Timeline</vt:lpstr>
      <vt:lpstr>Weekly report –  Quentin</vt:lpstr>
      <vt:lpstr>Weekly report –  Azelarab</vt:lpstr>
      <vt:lpstr>Weekly report –  Mélanie</vt:lpstr>
      <vt:lpstr>Weekly report –  Nicolas</vt:lpstr>
      <vt:lpstr>Weekly report –  Adrien</vt:lpstr>
      <vt:lpstr>Weekly report –  M1 </vt:lpstr>
      <vt:lpstr>Liste matériel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- Robot NI</dc:title>
  <dc:creator>Nicolas COURT</dc:creator>
  <cp:lastModifiedBy>Jason Puel</cp:lastModifiedBy>
  <cp:revision>93</cp:revision>
  <dcterms:created xsi:type="dcterms:W3CDTF">2018-12-14T09:47:46Z</dcterms:created>
  <dcterms:modified xsi:type="dcterms:W3CDTF">2019-01-28T17:14:42Z</dcterms:modified>
</cp:coreProperties>
</file>