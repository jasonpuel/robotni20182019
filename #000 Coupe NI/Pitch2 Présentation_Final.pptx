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5" r:id="rId6"/>
    <p:sldId id="266" r:id="rId7"/>
    <p:sldId id="262" r:id="rId8"/>
    <p:sldId id="263" r:id="rId9"/>
    <p:sldId id="269" r:id="rId10"/>
    <p:sldId id="268" r:id="rId11"/>
    <p:sldId id="261" r:id="rId12"/>
    <p:sldId id="270" r:id="rId13"/>
    <p:sldId id="264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FEDE3"/>
    <a:srgbClr val="99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41" d="100"/>
          <a:sy n="41" d="100"/>
        </p:scale>
        <p:origin x="808" y="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e de titr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15128" y="1788454"/>
            <a:ext cx="8361229" cy="2098226"/>
          </a:xfrm>
        </p:spPr>
        <p:txBody>
          <a:bodyPr anchor="b">
            <a:noAutofit/>
          </a:bodyPr>
          <a:lstStyle>
            <a:lvl1pPr algn="ct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79906" y="3956279"/>
            <a:ext cx="6831673" cy="1086237"/>
          </a:xfrm>
        </p:spPr>
        <p:txBody>
          <a:bodyPr>
            <a:normAutofit/>
          </a:bodyPr>
          <a:lstStyle>
            <a:lvl1pPr marL="0" indent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3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52858" y="6453386"/>
            <a:ext cx="1607944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9DC794BB-3135-415A-96E9-E89EB773C15B}" type="datetimeFigureOut">
              <a:rPr lang="fr-FR" smtClean="0"/>
              <a:t>22/05/2019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054" y="6453386"/>
            <a:ext cx="7023377" cy="404614"/>
          </a:xfrm>
        </p:spPr>
        <p:txBody>
          <a:bodyPr/>
          <a:lstStyle>
            <a:lvl1pPr algn="ctr">
              <a:defRPr baseline="0">
                <a:solidFill>
                  <a:schemeClr val="tx2"/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DC9D47D2-6AEE-4C6A-B9DB-0E8C6B5F6E39}" type="slidenum">
              <a:rPr lang="fr-FR" smtClean="0"/>
              <a:t>‹N°›</a:t>
            </a:fld>
            <a:endParaRPr lang="fr-FR"/>
          </a:p>
        </p:txBody>
      </p:sp>
      <p:grpSp>
        <p:nvGrpSpPr>
          <p:cNvPr id="7" name="Group 6"/>
          <p:cNvGrpSpPr/>
          <p:nvPr/>
        </p:nvGrpSpPr>
        <p:grpSpPr>
          <a:xfrm>
            <a:off x="752858" y="744469"/>
            <a:ext cx="10674117" cy="5349671"/>
            <a:chOff x="752858" y="744469"/>
            <a:chExt cx="10674117" cy="5349671"/>
          </a:xfrm>
        </p:grpSpPr>
        <p:sp>
          <p:nvSpPr>
            <p:cNvPr id="11" name="Freeform 6"/>
            <p:cNvSpPr/>
            <p:nvPr/>
          </p:nvSpPr>
          <p:spPr bwMode="auto">
            <a:xfrm>
              <a:off x="8151962" y="1685652"/>
              <a:ext cx="3275013" cy="4408488"/>
            </a:xfrm>
            <a:custGeom>
              <a:avLst/>
              <a:gdLst/>
              <a:ahLst/>
              <a:cxnLst/>
              <a:rect l="l" t="t" r="r" b="b"/>
              <a:pathLst>
                <a:path w="10000" h="10000">
                  <a:moveTo>
                    <a:pt x="8761" y="0"/>
                  </a:moveTo>
                  <a:lnTo>
                    <a:pt x="10000" y="0"/>
                  </a:lnTo>
                  <a:lnTo>
                    <a:pt x="10000" y="10000"/>
                  </a:lnTo>
                  <a:lnTo>
                    <a:pt x="0" y="10000"/>
                  </a:lnTo>
                  <a:lnTo>
                    <a:pt x="0" y="9126"/>
                  </a:lnTo>
                  <a:lnTo>
                    <a:pt x="8761" y="9127"/>
                  </a:lnTo>
                  <a:lnTo>
                    <a:pt x="8761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  <p:sp>
          <p:nvSpPr>
            <p:cNvPr id="14" name="Freeform 6"/>
            <p:cNvSpPr/>
            <p:nvPr/>
          </p:nvSpPr>
          <p:spPr bwMode="auto">
            <a:xfrm flipH="1" flipV="1">
              <a:off x="752858" y="744469"/>
              <a:ext cx="3275668" cy="4408488"/>
            </a:xfrm>
            <a:custGeom>
              <a:avLst/>
              <a:gdLst/>
              <a:ahLst/>
              <a:cxnLst/>
              <a:rect l="l" t="t" r="r" b="b"/>
              <a:pathLst>
                <a:path w="10002" h="10000">
                  <a:moveTo>
                    <a:pt x="8763" y="0"/>
                  </a:moveTo>
                  <a:lnTo>
                    <a:pt x="10002" y="0"/>
                  </a:lnTo>
                  <a:lnTo>
                    <a:pt x="10002" y="10000"/>
                  </a:lnTo>
                  <a:lnTo>
                    <a:pt x="2" y="10000"/>
                  </a:lnTo>
                  <a:cubicBezTo>
                    <a:pt x="-2" y="9698"/>
                    <a:pt x="4" y="9427"/>
                    <a:pt x="0" y="9125"/>
                  </a:cubicBezTo>
                  <a:lnTo>
                    <a:pt x="8763" y="9128"/>
                  </a:lnTo>
                  <a:lnTo>
                    <a:pt x="8763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</p:grpSp>
    </p:spTree>
    <p:extLst>
      <p:ext uri="{BB962C8B-B14F-4D97-AF65-F5344CB8AC3E}">
        <p14:creationId xmlns:p14="http://schemas.microsoft.com/office/powerpoint/2010/main" val="158109381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C794BB-3135-415A-96E9-E89EB773C15B}" type="datetimeFigureOut">
              <a:rPr lang="fr-FR" smtClean="0"/>
              <a:t>22/05/2019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9D47D2-6AEE-4C6A-B9DB-0E8C6B5F6E3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88711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Titre de sectio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5025" y="1301360"/>
            <a:ext cx="9612971" cy="2852737"/>
          </a:xfrm>
        </p:spPr>
        <p:txBody>
          <a:bodyPr anchor="b">
            <a:normAutofit/>
          </a:bodyPr>
          <a:lstStyle>
            <a:lvl1pPr algn="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5025" y="4216328"/>
            <a:ext cx="9612971" cy="1143324"/>
          </a:xfrm>
        </p:spPr>
        <p:txBody>
          <a:bodyPr/>
          <a:lstStyle>
            <a:lvl1pPr marL="0" indent="0"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8908" y="6453386"/>
            <a:ext cx="1622409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9DC794BB-3135-415A-96E9-E89EB773C15B}" type="datetimeFigureOut">
              <a:rPr lang="fr-FR" smtClean="0"/>
              <a:t>22/05/2019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312" y="6453386"/>
            <a:ext cx="7023377" cy="404614"/>
          </a:xfrm>
        </p:spPr>
        <p:txBody>
          <a:bodyPr/>
          <a:lstStyle>
            <a:lvl1pPr algn="ctr">
              <a:defRPr>
                <a:solidFill>
                  <a:schemeClr val="tx2"/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DC9D47D2-6AEE-4C6A-B9DB-0E8C6B5F6E39}" type="slidenum">
              <a:rPr lang="fr-FR" smtClean="0"/>
              <a:t>‹N°›</a:t>
            </a:fld>
            <a:endParaRPr lang="fr-FR"/>
          </a:p>
        </p:txBody>
      </p:sp>
      <p:sp>
        <p:nvSpPr>
          <p:cNvPr id="7" name="Freeform 6" title="Crop Mark"/>
          <p:cNvSpPr/>
          <p:nvPr/>
        </p:nvSpPr>
        <p:spPr bwMode="auto">
          <a:xfrm>
            <a:off x="8151962" y="1685652"/>
            <a:ext cx="3275013" cy="4408488"/>
          </a:xfrm>
          <a:custGeom>
            <a:avLst/>
            <a:gdLst/>
            <a:ahLst/>
            <a:cxnLst/>
            <a:rect l="0" t="0" r="r" b="b"/>
            <a:pathLst>
              <a:path w="4125" h="5554">
                <a:moveTo>
                  <a:pt x="3614" y="0"/>
                </a:moveTo>
                <a:lnTo>
                  <a:pt x="4125" y="0"/>
                </a:lnTo>
                <a:lnTo>
                  <a:pt x="4125" y="5554"/>
                </a:lnTo>
                <a:lnTo>
                  <a:pt x="0" y="5554"/>
                </a:lnTo>
                <a:lnTo>
                  <a:pt x="0" y="5074"/>
                </a:lnTo>
                <a:lnTo>
                  <a:pt x="3614" y="5074"/>
                </a:lnTo>
                <a:lnTo>
                  <a:pt x="3614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</p:spTree>
    <p:extLst>
      <p:ext uri="{BB962C8B-B14F-4D97-AF65-F5344CB8AC3E}">
        <p14:creationId xmlns:p14="http://schemas.microsoft.com/office/powerpoint/2010/main" val="186017084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371600" y="2285999"/>
            <a:ext cx="4447786" cy="3581401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25403" y="2285999"/>
            <a:ext cx="4447786" cy="3581401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C794BB-3135-415A-96E9-E89EB773C15B}" type="datetimeFigureOut">
              <a:rPr lang="fr-FR" smtClean="0"/>
              <a:t>22/05/2019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9D47D2-6AEE-4C6A-B9DB-0E8C6B5F6E3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782471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71600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5014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25014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C794BB-3135-415A-96E9-E89EB773C15B}" type="datetimeFigureOut">
              <a:rPr lang="fr-FR" smtClean="0"/>
              <a:t>22/05/2019</a:t>
            </a:fld>
            <a:endParaRPr lang="fr-F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9D47D2-6AEE-4C6A-B9DB-0E8C6B5F6E3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925966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C794BB-3135-415A-96E9-E89EB773C15B}" type="datetimeFigureOut">
              <a:rPr lang="fr-FR" smtClean="0"/>
              <a:t>22/05/2019</a:t>
            </a:fld>
            <a:endParaRPr lang="fr-F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9D47D2-6AEE-4C6A-B9DB-0E8C6B5F6E3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512074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C794BB-3135-415A-96E9-E89EB773C15B}" type="datetimeFigureOut">
              <a:rPr lang="fr-FR" smtClean="0"/>
              <a:t>22/05/2019</a:t>
            </a:fld>
            <a:endParaRPr lang="fr-F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9D47D2-6AEE-4C6A-B9DB-0E8C6B5F6E3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083087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Autofit/>
          </a:bodyPr>
          <a:lstStyle>
            <a:lvl1pPr>
              <a:lnSpc>
                <a:spcPct val="84000"/>
              </a:lnSpc>
              <a:defRPr sz="4800" baseline="0">
                <a:solidFill>
                  <a:schemeClr val="tx2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56020" y="685801"/>
            <a:ext cx="5212080" cy="517525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6344"/>
            <a:ext cx="3855720" cy="3011056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9DC794BB-3135-415A-96E9-E89EB773C15B}" type="datetimeFigureOut">
              <a:rPr lang="fr-FR" smtClean="0"/>
              <a:t>22/05/2019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DC9D47D2-6AEE-4C6A-B9DB-0E8C6B5F6E39}" type="slidenum">
              <a:rPr lang="fr-FR" smtClean="0"/>
              <a:t>‹N°›</a:t>
            </a:fld>
            <a:endParaRPr lang="fr-FR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4424577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rmAutofit/>
          </a:bodyPr>
          <a:lstStyle>
            <a:lvl1pPr>
              <a:lnSpc>
                <a:spcPct val="84000"/>
              </a:lnSpc>
              <a:defRPr sz="4800" baseline="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532120" y="0"/>
            <a:ext cx="6659880" cy="6857999"/>
          </a:xfrm>
        </p:spPr>
        <p:txBody>
          <a:bodyPr anchor="t"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5968"/>
            <a:ext cx="3855720" cy="3011432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9DC794BB-3135-415A-96E9-E89EB773C15B}" type="datetimeFigureOut">
              <a:rPr lang="fr-FR" smtClean="0"/>
              <a:t>22/05/2019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DC9D47D2-6AEE-4C6A-B9DB-0E8C6B5F6E39}" type="slidenum">
              <a:rPr lang="fr-FR" smtClean="0"/>
              <a:t>‹N°›</a:t>
            </a:fld>
            <a:endParaRPr lang="fr-FR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7891019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2295525"/>
            <a:ext cx="9601200" cy="3571875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C794BB-3135-415A-96E9-E89EB773C15B}" type="datetimeFigureOut">
              <a:rPr lang="fr-FR" smtClean="0"/>
              <a:t>22/05/2019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9D47D2-6AEE-4C6A-B9DB-0E8C6B5F6E3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318462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596561" y="624156"/>
            <a:ext cx="1565766" cy="5243244"/>
          </a:xfrm>
        </p:spPr>
        <p:txBody>
          <a:bodyPr vert="eaVert"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624156"/>
            <a:ext cx="8179641" cy="5243244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C794BB-3135-415A-96E9-E89EB773C15B}" type="datetimeFigureOut">
              <a:rPr lang="fr-FR" smtClean="0"/>
              <a:t>22/05/2019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9D47D2-6AEE-4C6A-B9DB-0E8C6B5F6E3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587488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286000"/>
            <a:ext cx="9601200" cy="3581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390650" y="6453386"/>
            <a:ext cx="120457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fld id="{9DC794BB-3135-415A-96E9-E89EB773C15B}" type="datetimeFigureOut">
              <a:rPr lang="fr-FR" smtClean="0"/>
              <a:t>22/05/2019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893564" y="6453386"/>
            <a:ext cx="6280830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472736" y="6453386"/>
            <a:ext cx="159629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2"/>
                </a:solidFill>
              </a:defRPr>
            </a:lvl1pPr>
          </a:lstStyle>
          <a:p>
            <a:fld id="{DC9D47D2-6AEE-4C6A-B9DB-0E8C6B5F6E39}" type="slidenum">
              <a:rPr lang="fr-FR" smtClean="0"/>
              <a:t>‹N°›</a:t>
            </a:fld>
            <a:endParaRPr lang="fr-FR"/>
          </a:p>
        </p:txBody>
      </p:sp>
      <p:sp>
        <p:nvSpPr>
          <p:cNvPr id="9" name="Rectangle 8" title="Side bar"/>
          <p:cNvSpPr/>
          <p:nvPr/>
        </p:nvSpPr>
        <p:spPr>
          <a:xfrm>
            <a:off x="478095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F7C67DDB-0543-41F4-A784-0C225882D9CD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86925" y="5781675"/>
            <a:ext cx="2505075" cy="1076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71200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89000"/>
        </a:lnSpc>
        <a:spcBef>
          <a:spcPct val="0"/>
        </a:spcBef>
        <a:buNone/>
        <a:defRPr sz="4400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84048" indent="-384048" algn="l" defTabSz="914400" rtl="0" eaLnBrk="1" latinLnBrk="0" hangingPunct="1">
        <a:lnSpc>
          <a:spcPct val="94000"/>
        </a:lnSpc>
        <a:spcBef>
          <a:spcPts val="1000"/>
        </a:spcBef>
        <a:spcAft>
          <a:spcPts val="200"/>
        </a:spcAft>
        <a:buFont typeface="Franklin Gothic Book" panose="020B0503020102020204" pitchFamily="34" charset="0"/>
        <a:buChar char="■"/>
        <a:defRPr sz="2000" kern="1200" baseline="0">
          <a:solidFill>
            <a:schemeClr val="tx2"/>
          </a:solidFill>
          <a:latin typeface="+mn-lt"/>
          <a:ea typeface="+mn-ea"/>
          <a:cs typeface="+mn-cs"/>
        </a:defRPr>
      </a:lvl1pPr>
      <a:lvl2pPr marL="914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2000" i="1" kern="1200" baseline="0">
          <a:solidFill>
            <a:schemeClr val="tx2"/>
          </a:solidFill>
          <a:latin typeface="+mn-lt"/>
          <a:ea typeface="+mn-ea"/>
          <a:cs typeface="+mn-cs"/>
        </a:defRPr>
      </a:lvl2pPr>
      <a:lvl3pPr marL="1371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800" kern="1200" baseline="0">
          <a:solidFill>
            <a:schemeClr val="tx2"/>
          </a:solidFill>
          <a:latin typeface="+mn-lt"/>
          <a:ea typeface="+mn-ea"/>
          <a:cs typeface="+mn-cs"/>
        </a:defRPr>
      </a:lvl3pPr>
      <a:lvl4pPr marL="1828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800" i="1" kern="1200" baseline="0">
          <a:solidFill>
            <a:schemeClr val="tx2"/>
          </a:solidFill>
          <a:latin typeface="+mn-lt"/>
          <a:ea typeface="+mn-ea"/>
          <a:cs typeface="+mn-cs"/>
        </a:defRPr>
      </a:lvl4pPr>
      <a:lvl5pPr marL="22860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600" kern="1200" baseline="0">
          <a:solidFill>
            <a:schemeClr val="tx2"/>
          </a:solidFill>
          <a:latin typeface="+mn-lt"/>
          <a:ea typeface="+mn-ea"/>
          <a:cs typeface="+mn-cs"/>
        </a:defRPr>
      </a:lvl5pPr>
      <a:lvl6pPr marL="27432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600" i="1" kern="1200" baseline="0">
          <a:solidFill>
            <a:schemeClr val="tx2"/>
          </a:solidFill>
          <a:latin typeface="+mn-lt"/>
          <a:ea typeface="+mn-ea"/>
          <a:cs typeface="+mn-cs"/>
        </a:defRPr>
      </a:lvl6pPr>
      <a:lvl7pPr marL="3200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3657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400" i="1" kern="1200" baseline="0">
          <a:solidFill>
            <a:schemeClr val="tx2"/>
          </a:solidFill>
          <a:latin typeface="+mn-lt"/>
          <a:ea typeface="+mn-ea"/>
          <a:cs typeface="+mn-cs"/>
        </a:defRPr>
      </a:lvl8pPr>
      <a:lvl9pPr marL="4114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>
        <p15:guide id="3" orient="horz" pos="1368">
          <p15:clr>
            <a:srgbClr val="F26B43"/>
          </p15:clr>
        </p15:guide>
        <p15:guide id="4" orient="horz" pos="1440">
          <p15:clr>
            <a:srgbClr val="F26B43"/>
          </p15:clr>
        </p15:guide>
        <p15:guide id="6" orient="horz" pos="3696">
          <p15:clr>
            <a:srgbClr val="F26B43"/>
          </p15:clr>
        </p15:guide>
        <p15:guide id="7" orient="horz" pos="432">
          <p15:clr>
            <a:srgbClr val="F26B43"/>
          </p15:clr>
        </p15:guide>
        <p15:guide id="8" orient="horz" pos="1512">
          <p15:clr>
            <a:srgbClr val="F26B43"/>
          </p15:clr>
        </p15:guide>
        <p15:guide id="9" pos="6912">
          <p15:clr>
            <a:srgbClr val="F26B43"/>
          </p15:clr>
        </p15:guide>
        <p15:guide id="10" pos="936">
          <p15:clr>
            <a:srgbClr val="F26B43"/>
          </p15:clr>
        </p15:guide>
        <p15:guide id="11" pos="86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jpeg"/><Relationship Id="rId4" Type="http://schemas.openxmlformats.org/officeDocument/2006/relationships/image" Target="../media/image5.jp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7" Type="http://schemas.openxmlformats.org/officeDocument/2006/relationships/image" Target="../media/image15.jp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jpg"/><Relationship Id="rId5" Type="http://schemas.openxmlformats.org/officeDocument/2006/relationships/image" Target="../media/image13.jpeg"/><Relationship Id="rId4" Type="http://schemas.openxmlformats.org/officeDocument/2006/relationships/image" Target="../media/image12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>
            <a:extLst>
              <a:ext uri="{FF2B5EF4-FFF2-40B4-BE49-F238E27FC236}">
                <a16:creationId xmlns:a16="http://schemas.microsoft.com/office/drawing/2014/main" id="{DFC5EC0D-EE5E-4C95-BDA7-7CCA3BABC50B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6068"/>
          <a:stretch/>
        </p:blipFill>
        <p:spPr>
          <a:xfrm>
            <a:off x="10379242" y="6082044"/>
            <a:ext cx="1812758" cy="775956"/>
          </a:xfrm>
          <a:prstGeom prst="rect">
            <a:avLst/>
          </a:prstGeom>
        </p:spPr>
      </p:pic>
      <p:sp>
        <p:nvSpPr>
          <p:cNvPr id="6" name="Titre 1">
            <a:extLst>
              <a:ext uri="{FF2B5EF4-FFF2-40B4-BE49-F238E27FC236}">
                <a16:creationId xmlns:a16="http://schemas.microsoft.com/office/drawing/2014/main" id="{98FAFDAC-CDD7-4937-AB66-383D6CA3D30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6073" y="2508939"/>
            <a:ext cx="11139854" cy="1053540"/>
          </a:xfrm>
        </p:spPr>
        <p:txBody>
          <a:bodyPr>
            <a:normAutofit/>
          </a:bodyPr>
          <a:lstStyle/>
          <a:p>
            <a:r>
              <a:rPr lang="fr-FR" sz="5400" dirty="0">
                <a:solidFill>
                  <a:schemeClr val="tx1"/>
                </a:solidFill>
                <a:latin typeface="Abadi" panose="020B0604020202020204" pitchFamily="34" charset="0"/>
                <a:cs typeface="Times New Roman" panose="02020603050405020304" pitchFamily="18" charset="0"/>
              </a:rPr>
              <a:t>NI </a:t>
            </a:r>
            <a:r>
              <a:rPr lang="fr-FR" sz="5400" dirty="0" err="1">
                <a:solidFill>
                  <a:schemeClr val="tx1"/>
                </a:solidFill>
                <a:latin typeface="Abadi" panose="020B0604020202020204" pitchFamily="34" charset="0"/>
                <a:cs typeface="Times New Roman" panose="02020603050405020304" pitchFamily="18" charset="0"/>
              </a:rPr>
              <a:t>Robotic</a:t>
            </a:r>
            <a:r>
              <a:rPr lang="fr-FR" sz="5400" dirty="0">
                <a:solidFill>
                  <a:schemeClr val="tx1"/>
                </a:solidFill>
                <a:latin typeface="Abadi" panose="020B0604020202020204" pitchFamily="34" charset="0"/>
                <a:cs typeface="Times New Roman" panose="02020603050405020304" pitchFamily="18" charset="0"/>
              </a:rPr>
              <a:t> Contest</a:t>
            </a:r>
            <a:endParaRPr lang="en-US" sz="5400" dirty="0">
              <a:solidFill>
                <a:schemeClr val="tx1"/>
              </a:solidFill>
              <a:latin typeface="Abadi" panose="020B0604020202020204" pitchFamily="34" charset="0"/>
              <a:cs typeface="Times New Roman" panose="02020603050405020304" pitchFamily="18" charset="0"/>
            </a:endParaRPr>
          </a:p>
        </p:txBody>
      </p:sp>
      <p:cxnSp>
        <p:nvCxnSpPr>
          <p:cNvPr id="9" name="Connecteur droit 8">
            <a:extLst>
              <a:ext uri="{FF2B5EF4-FFF2-40B4-BE49-F238E27FC236}">
                <a16:creationId xmlns:a16="http://schemas.microsoft.com/office/drawing/2014/main" id="{E936CC8A-F8C0-4469-BF87-626DA6F59827}"/>
              </a:ext>
            </a:extLst>
          </p:cNvPr>
          <p:cNvCxnSpPr>
            <a:cxnSpLocks/>
          </p:cNvCxnSpPr>
          <p:nvPr/>
        </p:nvCxnSpPr>
        <p:spPr>
          <a:xfrm>
            <a:off x="3205316" y="3832124"/>
            <a:ext cx="5781368" cy="0"/>
          </a:xfrm>
          <a:prstGeom prst="line">
            <a:avLst/>
          </a:prstGeom>
          <a:ln w="76200">
            <a:solidFill>
              <a:schemeClr val="bg1"/>
            </a:solidFill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68ADE86E-9BF8-49B4-B389-980EECA2FFE3}"/>
              </a:ext>
            </a:extLst>
          </p:cNvPr>
          <p:cNvSpPr/>
          <p:nvPr/>
        </p:nvSpPr>
        <p:spPr>
          <a:xfrm>
            <a:off x="4277233" y="4101770"/>
            <a:ext cx="3637534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3200" dirty="0">
                <a:solidFill>
                  <a:srgbClr val="F75279"/>
                </a:solidFill>
              </a:rPr>
              <a:t>National Instrument</a:t>
            </a: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3A6B87DC-5D60-456C-95DE-EDE660B057D3}"/>
              </a:ext>
            </a:extLst>
          </p:cNvPr>
          <p:cNvSpPr txBox="1"/>
          <p:nvPr/>
        </p:nvSpPr>
        <p:spPr>
          <a:xfrm>
            <a:off x="496576" y="6068089"/>
            <a:ext cx="71922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Made by: Jason PUEL, Justin FURIO, Christian </a:t>
            </a:r>
            <a:r>
              <a:rPr lang="fr-FR" dirty="0" err="1"/>
              <a:t>Margolis</a:t>
            </a:r>
            <a:r>
              <a:rPr lang="fr-FR" dirty="0"/>
              <a:t>, Florian GUIGAL</a:t>
            </a:r>
          </a:p>
        </p:txBody>
      </p:sp>
    </p:spTree>
    <p:extLst>
      <p:ext uri="{BB962C8B-B14F-4D97-AF65-F5344CB8AC3E}">
        <p14:creationId xmlns:p14="http://schemas.microsoft.com/office/powerpoint/2010/main" val="34622558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>
            <a:extLst>
              <a:ext uri="{FF2B5EF4-FFF2-40B4-BE49-F238E27FC236}">
                <a16:creationId xmlns:a16="http://schemas.microsoft.com/office/drawing/2014/main" id="{1D883E2A-8CE8-440D-A74A-6413839E680C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6068"/>
          <a:stretch/>
        </p:blipFill>
        <p:spPr>
          <a:xfrm>
            <a:off x="9688501" y="5786370"/>
            <a:ext cx="2503499" cy="1071630"/>
          </a:xfrm>
          <a:prstGeom prst="rect">
            <a:avLst/>
          </a:prstGeom>
        </p:spPr>
      </p:pic>
      <p:sp>
        <p:nvSpPr>
          <p:cNvPr id="5" name="ZoneTexte 4">
            <a:extLst>
              <a:ext uri="{FF2B5EF4-FFF2-40B4-BE49-F238E27FC236}">
                <a16:creationId xmlns:a16="http://schemas.microsoft.com/office/drawing/2014/main" id="{7B0381A6-70CB-46E5-B562-62CADAD8C137}"/>
              </a:ext>
            </a:extLst>
          </p:cNvPr>
          <p:cNvSpPr txBox="1"/>
          <p:nvPr/>
        </p:nvSpPr>
        <p:spPr>
          <a:xfrm>
            <a:off x="1132573" y="321188"/>
            <a:ext cx="1858296" cy="578882"/>
          </a:xfrm>
          <a:prstGeom prst="round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fr-FR" sz="2800" dirty="0" err="1">
                <a:solidFill>
                  <a:schemeClr val="bg1"/>
                </a:solidFill>
                <a:latin typeface="Abadi" panose="020B0604020104020204" pitchFamily="34" charset="0"/>
              </a:rPr>
              <a:t>Summary</a:t>
            </a:r>
            <a:r>
              <a:rPr lang="fr-FR" sz="2800" dirty="0">
                <a:solidFill>
                  <a:schemeClr val="bg1"/>
                </a:solidFill>
                <a:latin typeface="Abadi" panose="020B0604020104020204" pitchFamily="34" charset="0"/>
              </a:rPr>
              <a:t>:</a:t>
            </a:r>
          </a:p>
        </p:txBody>
      </p:sp>
      <p:sp>
        <p:nvSpPr>
          <p:cNvPr id="7" name="Espace réservé du contenu 2">
            <a:extLst>
              <a:ext uri="{FF2B5EF4-FFF2-40B4-BE49-F238E27FC236}">
                <a16:creationId xmlns:a16="http://schemas.microsoft.com/office/drawing/2014/main" id="{9D82C12F-BD01-457C-AA6C-79006445B4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32573" y="1519954"/>
            <a:ext cx="10515600" cy="3818091"/>
          </a:xfrm>
        </p:spPr>
        <p:txBody>
          <a:bodyPr>
            <a:normAutofit/>
          </a:bodyPr>
          <a:lstStyle/>
          <a:p>
            <a:pPr marL="342900" indent="-342900" algn="ctr">
              <a:buAutoNum type="arabicPeriod"/>
            </a:pPr>
            <a:r>
              <a:rPr lang="en-US" dirty="0">
                <a:latin typeface="+mj-lt"/>
                <a:ea typeface="+mj-ea"/>
                <a:cs typeface="+mj-cs"/>
              </a:rPr>
              <a:t>Context</a:t>
            </a:r>
          </a:p>
          <a:p>
            <a:pPr marL="342900" indent="-342900" algn="ctr">
              <a:buAutoNum type="arabicPeriod"/>
            </a:pPr>
            <a:r>
              <a:rPr lang="en-US" dirty="0">
                <a:latin typeface="+mj-lt"/>
                <a:ea typeface="+mj-ea"/>
                <a:cs typeface="+mj-cs"/>
              </a:rPr>
              <a:t>The Aim</a:t>
            </a:r>
          </a:p>
          <a:p>
            <a:pPr marL="342900" indent="-342900" algn="ctr">
              <a:buAutoNum type="arabicPeriod"/>
            </a:pPr>
            <a:r>
              <a:rPr lang="en-US" dirty="0">
                <a:latin typeface="+mj-lt"/>
                <a:ea typeface="+mj-ea"/>
                <a:cs typeface="+mj-cs"/>
              </a:rPr>
              <a:t>Task Distribution</a:t>
            </a:r>
          </a:p>
          <a:p>
            <a:pPr marL="342900" indent="-342900" algn="ctr">
              <a:buAutoNum type="arabicPeriod"/>
            </a:pPr>
            <a:r>
              <a:rPr lang="en-US" dirty="0">
                <a:latin typeface="+mj-lt"/>
                <a:ea typeface="+mj-ea"/>
                <a:cs typeface="+mj-cs"/>
              </a:rPr>
              <a:t>Dynamic Architecture</a:t>
            </a:r>
          </a:p>
          <a:p>
            <a:pPr marL="342900" indent="-342900" algn="ctr">
              <a:buAutoNum type="arabicPeriod"/>
            </a:pPr>
            <a:r>
              <a:rPr lang="en-US" dirty="0">
                <a:latin typeface="+mj-lt"/>
                <a:ea typeface="+mj-ea"/>
                <a:cs typeface="+mj-cs"/>
              </a:rPr>
              <a:t>Static Architecture</a:t>
            </a:r>
          </a:p>
          <a:p>
            <a:pPr marL="342900" indent="-342900" algn="ctr">
              <a:buFont typeface="Arial" panose="020B0604020202020204" pitchFamily="34" charset="0"/>
              <a:buAutoNum type="arabicPeriod"/>
            </a:pPr>
            <a:r>
              <a:rPr lang="en-US" dirty="0">
                <a:latin typeface="+mj-lt"/>
                <a:ea typeface="+mj-ea"/>
                <a:cs typeface="+mj-cs"/>
              </a:rPr>
              <a:t>Project Progression</a:t>
            </a:r>
          </a:p>
          <a:p>
            <a:pPr marL="342900" indent="-342900" algn="ctr">
              <a:buAutoNum type="arabicPeriod"/>
            </a:pPr>
            <a:r>
              <a:rPr lang="en-US" dirty="0">
                <a:latin typeface="+mj-lt"/>
                <a:ea typeface="+mj-ea"/>
                <a:cs typeface="+mj-cs"/>
              </a:rPr>
              <a:t>Demonstration</a:t>
            </a:r>
          </a:p>
        </p:txBody>
      </p:sp>
    </p:spTree>
    <p:extLst>
      <p:ext uri="{BB962C8B-B14F-4D97-AF65-F5344CB8AC3E}">
        <p14:creationId xmlns:p14="http://schemas.microsoft.com/office/powerpoint/2010/main" val="7347381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 : coins arrondis 4">
            <a:extLst>
              <a:ext uri="{FF2B5EF4-FFF2-40B4-BE49-F238E27FC236}">
                <a16:creationId xmlns:a16="http://schemas.microsoft.com/office/drawing/2014/main" id="{704CCBE7-5E65-4C58-AB4D-D0ABA0BC1120}"/>
              </a:ext>
            </a:extLst>
          </p:cNvPr>
          <p:cNvSpPr/>
          <p:nvPr/>
        </p:nvSpPr>
        <p:spPr>
          <a:xfrm>
            <a:off x="1061884" y="2890683"/>
            <a:ext cx="10923639" cy="35396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" name="Ellipse 8">
            <a:extLst>
              <a:ext uri="{FF2B5EF4-FFF2-40B4-BE49-F238E27FC236}">
                <a16:creationId xmlns:a16="http://schemas.microsoft.com/office/drawing/2014/main" id="{0CC57CBC-B30E-4987-90DB-CD6988CAD1C2}"/>
              </a:ext>
            </a:extLst>
          </p:cNvPr>
          <p:cNvSpPr/>
          <p:nvPr/>
        </p:nvSpPr>
        <p:spPr>
          <a:xfrm>
            <a:off x="4710911" y="2715039"/>
            <a:ext cx="720000" cy="720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1" name="Ellipse 10">
            <a:extLst>
              <a:ext uri="{FF2B5EF4-FFF2-40B4-BE49-F238E27FC236}">
                <a16:creationId xmlns:a16="http://schemas.microsoft.com/office/drawing/2014/main" id="{DD8138A7-25D4-4C59-AC72-3D181A75C155}"/>
              </a:ext>
            </a:extLst>
          </p:cNvPr>
          <p:cNvSpPr/>
          <p:nvPr/>
        </p:nvSpPr>
        <p:spPr>
          <a:xfrm>
            <a:off x="10713351" y="2715039"/>
            <a:ext cx="720000" cy="720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2" name="Ellipse 11">
            <a:extLst>
              <a:ext uri="{FF2B5EF4-FFF2-40B4-BE49-F238E27FC236}">
                <a16:creationId xmlns:a16="http://schemas.microsoft.com/office/drawing/2014/main" id="{EB03658A-305C-456D-9259-5D177A2C7956}"/>
              </a:ext>
            </a:extLst>
          </p:cNvPr>
          <p:cNvSpPr/>
          <p:nvPr/>
        </p:nvSpPr>
        <p:spPr>
          <a:xfrm>
            <a:off x="7712131" y="2706540"/>
            <a:ext cx="720000" cy="720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3" name="Ellipse 12">
            <a:extLst>
              <a:ext uri="{FF2B5EF4-FFF2-40B4-BE49-F238E27FC236}">
                <a16:creationId xmlns:a16="http://schemas.microsoft.com/office/drawing/2014/main" id="{6560821D-0FE7-4947-854C-10F7064E3ED2}"/>
              </a:ext>
            </a:extLst>
          </p:cNvPr>
          <p:cNvSpPr/>
          <p:nvPr/>
        </p:nvSpPr>
        <p:spPr>
          <a:xfrm>
            <a:off x="1709691" y="2715039"/>
            <a:ext cx="720000" cy="720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15" name="Image 14" descr="Une image contenant personne, intérieur&#10;&#10;Description générée automatiquement">
            <a:extLst>
              <a:ext uri="{FF2B5EF4-FFF2-40B4-BE49-F238E27FC236}">
                <a16:creationId xmlns:a16="http://schemas.microsoft.com/office/drawing/2014/main" id="{6A6B1948-3901-4BF2-B29D-FC547C96720B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649" t="9756" r="14527" b="27273"/>
          <a:stretch/>
        </p:blipFill>
        <p:spPr>
          <a:xfrm>
            <a:off x="146260" y="1836387"/>
            <a:ext cx="4043508" cy="265963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7" name="Image 16" descr="Une image contenant clipart&#10;&#10;Description générée automatiquement">
            <a:extLst>
              <a:ext uri="{FF2B5EF4-FFF2-40B4-BE49-F238E27FC236}">
                <a16:creationId xmlns:a16="http://schemas.microsoft.com/office/drawing/2014/main" id="{0183B027-0607-4818-B99D-F94C4FDE65A4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69610" y="2523165"/>
            <a:ext cx="3441425" cy="1806749"/>
          </a:xfrm>
          <a:prstGeom prst="rect">
            <a:avLst/>
          </a:prstGeom>
        </p:spPr>
      </p:pic>
      <p:pic>
        <p:nvPicPr>
          <p:cNvPr id="19" name="Image 18" descr="Une image contenant personne, plancher, intérieur, homme&#10;&#10;Description générée automatiquement">
            <a:extLst>
              <a:ext uri="{FF2B5EF4-FFF2-40B4-BE49-F238E27FC236}">
                <a16:creationId xmlns:a16="http://schemas.microsoft.com/office/drawing/2014/main" id="{D33345E9-1C78-4C58-BF20-A3563818F02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23970" y="2070365"/>
            <a:ext cx="3896321" cy="219168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3" name="Image 2" descr="Une image contenant plancher, intérieur, personne, mur&#10;&#10;Description générée automatiquement">
            <a:extLst>
              <a:ext uri="{FF2B5EF4-FFF2-40B4-BE49-F238E27FC236}">
                <a16:creationId xmlns:a16="http://schemas.microsoft.com/office/drawing/2014/main" id="{DC2506DE-E7AB-4400-8EDA-854B2E67E75C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949" t="11536" r="21304" b="9769"/>
          <a:stretch/>
        </p:blipFill>
        <p:spPr>
          <a:xfrm>
            <a:off x="3656260" y="1776820"/>
            <a:ext cx="3001219" cy="277876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4" name="ZoneTexte 13">
            <a:extLst>
              <a:ext uri="{FF2B5EF4-FFF2-40B4-BE49-F238E27FC236}">
                <a16:creationId xmlns:a16="http://schemas.microsoft.com/office/drawing/2014/main" id="{7C937420-EFAE-4EB3-891E-7E4545CF5D92}"/>
              </a:ext>
            </a:extLst>
          </p:cNvPr>
          <p:cNvSpPr txBox="1"/>
          <p:nvPr/>
        </p:nvSpPr>
        <p:spPr>
          <a:xfrm>
            <a:off x="1140543" y="295564"/>
            <a:ext cx="1858296" cy="578882"/>
          </a:xfrm>
          <a:prstGeom prst="round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fr-FR" sz="2800" dirty="0" err="1">
                <a:solidFill>
                  <a:schemeClr val="bg1"/>
                </a:solidFill>
                <a:latin typeface="Abadi" panose="020B0604020104020204" pitchFamily="34" charset="0"/>
              </a:rPr>
              <a:t>Context</a:t>
            </a:r>
            <a:r>
              <a:rPr lang="fr-FR" sz="2800" dirty="0">
                <a:solidFill>
                  <a:schemeClr val="bg1"/>
                </a:solidFill>
                <a:latin typeface="Abadi" panose="020B0604020104020204" pitchFamily="34" charset="0"/>
              </a:rPr>
              <a:t>:</a:t>
            </a:r>
          </a:p>
        </p:txBody>
      </p:sp>
    </p:spTree>
    <p:extLst>
      <p:ext uri="{BB962C8B-B14F-4D97-AF65-F5344CB8AC3E}">
        <p14:creationId xmlns:p14="http://schemas.microsoft.com/office/powerpoint/2010/main" val="33451392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6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375E-6 -4.07407E-6 L 0.06928 0.28287 " pathEditMode="relative" rAng="0" ptsTypes="AA">
                                      <p:cBhvr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464" y="1414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56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33333E-6 -4.07407E-6 L 0.02135 -0.23125 " pathEditMode="relative" rAng="0" ptsTypes="AA">
                                      <p:cBhvr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068" y="-1157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56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6.25E-7 -4.07407E-6 L 0.06693 0.22385 " pathEditMode="relative" rAng="0" ptsTypes="AA">
                                      <p:cBhvr>
                                        <p:cTn id="29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346" y="1118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56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9843 -0.04584 L -0.14114 -0.23635 " pathEditMode="relative" rAng="0" ptsTypes="AA">
                                      <p:cBhvr>
                                        <p:cTn id="3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135" y="-9537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1" name="Groupe 40">
            <a:extLst>
              <a:ext uri="{FF2B5EF4-FFF2-40B4-BE49-F238E27FC236}">
                <a16:creationId xmlns:a16="http://schemas.microsoft.com/office/drawing/2014/main" id="{0610688E-558E-4D61-BC60-F200ABC120DD}"/>
              </a:ext>
            </a:extLst>
          </p:cNvPr>
          <p:cNvGrpSpPr/>
          <p:nvPr/>
        </p:nvGrpSpPr>
        <p:grpSpPr>
          <a:xfrm>
            <a:off x="1301278" y="1274753"/>
            <a:ext cx="2755557" cy="4322102"/>
            <a:chOff x="1008670" y="1274753"/>
            <a:chExt cx="2755557" cy="4322102"/>
          </a:xfrm>
        </p:grpSpPr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791A721D-A897-4B95-82C9-E140E2E8ADE2}"/>
                </a:ext>
              </a:extLst>
            </p:cNvPr>
            <p:cNvSpPr/>
            <p:nvPr/>
          </p:nvSpPr>
          <p:spPr>
            <a:xfrm>
              <a:off x="1008670" y="1274753"/>
              <a:ext cx="2755557" cy="4308494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cxnSp>
          <p:nvCxnSpPr>
            <p:cNvPr id="7" name="Connecteur droit 6">
              <a:extLst>
                <a:ext uri="{FF2B5EF4-FFF2-40B4-BE49-F238E27FC236}">
                  <a16:creationId xmlns:a16="http://schemas.microsoft.com/office/drawing/2014/main" id="{B2D22F07-E9DA-4FE4-AE3D-AF060D36699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289921" y="2215979"/>
              <a:ext cx="2336674" cy="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B58F5A85-6093-4819-93BF-AA0491822A01}"/>
                </a:ext>
              </a:extLst>
            </p:cNvPr>
            <p:cNvSpPr/>
            <p:nvPr/>
          </p:nvSpPr>
          <p:spPr>
            <a:xfrm>
              <a:off x="1654163" y="1454266"/>
              <a:ext cx="1464568" cy="52322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lvl="0"/>
              <a:r>
                <a:rPr lang="fr-FR" sz="2800" b="1" dirty="0">
                  <a:solidFill>
                    <a:schemeClr val="bg1"/>
                  </a:solidFill>
                  <a:latin typeface="+mj-lt"/>
                  <a:ea typeface="+mj-ea"/>
                  <a:cs typeface="+mj-cs"/>
                </a:rPr>
                <a:t>Project 1</a:t>
              </a: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5C5F7BA9-A8A9-47AE-ADA4-D0ADB82BB285}"/>
                </a:ext>
              </a:extLst>
            </p:cNvPr>
            <p:cNvSpPr/>
            <p:nvPr/>
          </p:nvSpPr>
          <p:spPr>
            <a:xfrm>
              <a:off x="1213067" y="2365201"/>
              <a:ext cx="2346761" cy="323165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sz="2400" dirty="0">
                  <a:latin typeface="Abadi" panose="020B0604020104020204" pitchFamily="34" charset="0"/>
                </a:rPr>
                <a:t>Preparing  National Instrument Contest</a:t>
              </a:r>
            </a:p>
            <a:p>
              <a:pPr lvl="0"/>
              <a:endParaRPr lang="fr-FR" sz="1600" dirty="0"/>
            </a:p>
            <a:p>
              <a:pPr lvl="0"/>
              <a:endParaRPr lang="fr-FR" sz="1600" dirty="0"/>
            </a:p>
            <a:p>
              <a:pPr lvl="0"/>
              <a:endParaRPr lang="fr-FR" sz="1600" dirty="0"/>
            </a:p>
            <a:p>
              <a:pPr lvl="0"/>
              <a:endParaRPr lang="fr-FR" sz="1600" dirty="0"/>
            </a:p>
            <a:p>
              <a:pPr lvl="0"/>
              <a:endParaRPr lang="fr-FR" sz="1600" dirty="0"/>
            </a:p>
            <a:p>
              <a:pPr lvl="0" algn="ctr"/>
              <a:r>
                <a:rPr lang="fr-FR" sz="2800" dirty="0" err="1">
                  <a:solidFill>
                    <a:schemeClr val="bg1"/>
                  </a:solidFill>
                </a:rPr>
                <a:t>Aborded</a:t>
              </a:r>
              <a:endParaRPr lang="fr-FR" sz="28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40" name="Groupe 39">
            <a:extLst>
              <a:ext uri="{FF2B5EF4-FFF2-40B4-BE49-F238E27FC236}">
                <a16:creationId xmlns:a16="http://schemas.microsoft.com/office/drawing/2014/main" id="{139CE5F1-449F-4AFE-8251-0980B4DB1CBA}"/>
              </a:ext>
            </a:extLst>
          </p:cNvPr>
          <p:cNvGrpSpPr/>
          <p:nvPr/>
        </p:nvGrpSpPr>
        <p:grpSpPr>
          <a:xfrm>
            <a:off x="4994039" y="1274753"/>
            <a:ext cx="2755557" cy="4308494"/>
            <a:chOff x="5117606" y="1274753"/>
            <a:chExt cx="2755557" cy="4308494"/>
          </a:xfrm>
        </p:grpSpPr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C11D3926-D021-4795-9AB8-D6B91B274480}"/>
                </a:ext>
              </a:extLst>
            </p:cNvPr>
            <p:cNvSpPr/>
            <p:nvPr/>
          </p:nvSpPr>
          <p:spPr>
            <a:xfrm>
              <a:off x="5117606" y="1274753"/>
              <a:ext cx="2755557" cy="4308494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cxnSp>
          <p:nvCxnSpPr>
            <p:cNvPr id="13" name="Connecteur droit 12">
              <a:extLst>
                <a:ext uri="{FF2B5EF4-FFF2-40B4-BE49-F238E27FC236}">
                  <a16:creationId xmlns:a16="http://schemas.microsoft.com/office/drawing/2014/main" id="{2B5D1761-DA61-46DD-8116-FF3911A74BF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323967" y="2215979"/>
              <a:ext cx="2342833" cy="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06E08231-D1E8-46D6-A3A8-BBF6063F2AA1}"/>
                </a:ext>
              </a:extLst>
            </p:cNvPr>
            <p:cNvSpPr/>
            <p:nvPr/>
          </p:nvSpPr>
          <p:spPr>
            <a:xfrm>
              <a:off x="5763100" y="1454266"/>
              <a:ext cx="1464568" cy="52322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lvl="0"/>
              <a:r>
                <a:rPr lang="fr-FR" sz="2800" b="1" dirty="0">
                  <a:solidFill>
                    <a:schemeClr val="bg1"/>
                  </a:solidFill>
                  <a:latin typeface="+mj-lt"/>
                  <a:ea typeface="+mj-ea"/>
                  <a:cs typeface="+mj-cs"/>
                </a:rPr>
                <a:t>Project 2</a:t>
              </a: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24F8F8A1-8BF4-4837-84BD-40CB0CCA6D61}"/>
                </a:ext>
              </a:extLst>
            </p:cNvPr>
            <p:cNvSpPr/>
            <p:nvPr/>
          </p:nvSpPr>
          <p:spPr>
            <a:xfrm>
              <a:off x="5323967" y="2431132"/>
              <a:ext cx="2265350" cy="30162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vl="0" algn="ctr"/>
              <a:r>
                <a:rPr lang="fr-FR" sz="2400" dirty="0">
                  <a:latin typeface="Abadi" panose="020B0604020104020204" pitchFamily="34" charset="0"/>
                </a:rPr>
                <a:t>ISEN Open Day</a:t>
              </a:r>
            </a:p>
            <a:p>
              <a:pPr lvl="0" algn="ctr"/>
              <a:r>
                <a:rPr lang="fr-FR" sz="2400" dirty="0">
                  <a:latin typeface="Abadi" panose="020B0604020104020204" pitchFamily="34" charset="0"/>
                </a:rPr>
                <a:t> and Exhibitions</a:t>
              </a:r>
            </a:p>
            <a:p>
              <a:pPr lvl="0"/>
              <a:endParaRPr lang="fr-FR" dirty="0"/>
            </a:p>
            <a:p>
              <a:pPr lvl="0"/>
              <a:endParaRPr lang="fr-FR" sz="1600" dirty="0"/>
            </a:p>
            <a:p>
              <a:pPr lvl="0"/>
              <a:endParaRPr lang="fr-FR" sz="1600" dirty="0"/>
            </a:p>
            <a:p>
              <a:pPr lvl="0"/>
              <a:endParaRPr lang="fr-FR" sz="1600" dirty="0"/>
            </a:p>
            <a:p>
              <a:pPr lvl="0"/>
              <a:endParaRPr lang="fr-FR" sz="1600" dirty="0"/>
            </a:p>
            <a:p>
              <a:pPr lvl="0"/>
              <a:endParaRPr lang="fr-FR" sz="1600" dirty="0"/>
            </a:p>
            <a:p>
              <a:pPr lvl="0"/>
              <a:endParaRPr lang="fr-FR" sz="1600" dirty="0"/>
            </a:p>
            <a:p>
              <a:pPr lvl="0" algn="ctr"/>
              <a:r>
                <a:rPr lang="fr-FR" sz="2800" dirty="0">
                  <a:solidFill>
                    <a:schemeClr val="bg1"/>
                  </a:solidFill>
                </a:rPr>
                <a:t>95%</a:t>
              </a:r>
            </a:p>
          </p:txBody>
        </p:sp>
      </p:grpSp>
      <p:grpSp>
        <p:nvGrpSpPr>
          <p:cNvPr id="42" name="Groupe 41">
            <a:extLst>
              <a:ext uri="{FF2B5EF4-FFF2-40B4-BE49-F238E27FC236}">
                <a16:creationId xmlns:a16="http://schemas.microsoft.com/office/drawing/2014/main" id="{78A38832-5E43-47AC-ABC0-5064210D21AA}"/>
              </a:ext>
            </a:extLst>
          </p:cNvPr>
          <p:cNvGrpSpPr/>
          <p:nvPr/>
        </p:nvGrpSpPr>
        <p:grpSpPr>
          <a:xfrm>
            <a:off x="8686800" y="1274753"/>
            <a:ext cx="2755557" cy="4308494"/>
            <a:chOff x="8686800" y="1274753"/>
            <a:chExt cx="2755557" cy="4308494"/>
          </a:xfrm>
        </p:grpSpPr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2EBB7E63-B386-48E3-B8F2-8E1A5589B498}"/>
                </a:ext>
              </a:extLst>
            </p:cNvPr>
            <p:cNvSpPr/>
            <p:nvPr/>
          </p:nvSpPr>
          <p:spPr>
            <a:xfrm>
              <a:off x="8686800" y="1274753"/>
              <a:ext cx="2755557" cy="4308494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cxnSp>
          <p:nvCxnSpPr>
            <p:cNvPr id="19" name="Connecteur droit 18">
              <a:extLst>
                <a:ext uri="{FF2B5EF4-FFF2-40B4-BE49-F238E27FC236}">
                  <a16:creationId xmlns:a16="http://schemas.microsoft.com/office/drawing/2014/main" id="{234E79CB-CC11-4512-9D17-14037CA3ADD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845567" y="2215979"/>
              <a:ext cx="2462254" cy="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47A35757-F7A0-4F91-857E-043A2CC93B30}"/>
                </a:ext>
              </a:extLst>
            </p:cNvPr>
            <p:cNvSpPr/>
            <p:nvPr/>
          </p:nvSpPr>
          <p:spPr>
            <a:xfrm>
              <a:off x="9281777" y="1532394"/>
              <a:ext cx="1464568" cy="52322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lvl="0"/>
              <a:r>
                <a:rPr lang="fr-FR" sz="2800" b="1" dirty="0">
                  <a:solidFill>
                    <a:schemeClr val="bg1"/>
                  </a:solidFill>
                  <a:latin typeface="+mj-lt"/>
                  <a:ea typeface="+mj-ea"/>
                  <a:cs typeface="+mj-cs"/>
                </a:rPr>
                <a:t>Project 3</a:t>
              </a:r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CC49435C-1989-4C0E-98AB-206E6AB11346}"/>
                </a:ext>
              </a:extLst>
            </p:cNvPr>
            <p:cNvSpPr/>
            <p:nvPr/>
          </p:nvSpPr>
          <p:spPr>
            <a:xfrm>
              <a:off x="8783183" y="2376345"/>
              <a:ext cx="2524638" cy="3108543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vl="0" algn="ctr"/>
              <a:r>
                <a:rPr lang="en-US" sz="2400" dirty="0">
                  <a:latin typeface="Abadi" panose="020B0604020104020204" pitchFamily="34" charset="0"/>
                </a:rPr>
                <a:t>Code update:</a:t>
              </a:r>
            </a:p>
            <a:p>
              <a:pPr lvl="0" algn="ctr"/>
              <a:r>
                <a:rPr lang="en-US" sz="2400" dirty="0">
                  <a:latin typeface="Abadi" panose="020B0604020104020204" pitchFamily="34" charset="0"/>
                </a:rPr>
                <a:t>Optimizing it with Real Time conception</a:t>
              </a:r>
            </a:p>
            <a:p>
              <a:pPr lvl="0" algn="ctr"/>
              <a:r>
                <a:rPr lang="en-US" sz="2400" dirty="0">
                  <a:latin typeface="Abadi" panose="020B0604020104020204" pitchFamily="34" charset="0"/>
                </a:rPr>
                <a:t>(research, creation and implementation).</a:t>
              </a:r>
            </a:p>
            <a:p>
              <a:pPr lvl="0" algn="ctr"/>
              <a:r>
                <a:rPr lang="fr-FR" sz="2800" dirty="0">
                  <a:solidFill>
                    <a:schemeClr val="bg1"/>
                  </a:solidFill>
                </a:rPr>
                <a:t>90%</a:t>
              </a:r>
            </a:p>
          </p:txBody>
        </p:sp>
      </p:grpSp>
      <p:sp>
        <p:nvSpPr>
          <p:cNvPr id="18" name="ZoneTexte 17">
            <a:extLst>
              <a:ext uri="{FF2B5EF4-FFF2-40B4-BE49-F238E27FC236}">
                <a16:creationId xmlns:a16="http://schemas.microsoft.com/office/drawing/2014/main" id="{F83C0D18-CB72-4B91-B0DC-0649B75B50A0}"/>
              </a:ext>
            </a:extLst>
          </p:cNvPr>
          <p:cNvSpPr txBox="1"/>
          <p:nvPr/>
        </p:nvSpPr>
        <p:spPr>
          <a:xfrm>
            <a:off x="1132573" y="321188"/>
            <a:ext cx="1858296" cy="578882"/>
          </a:xfrm>
          <a:prstGeom prst="round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fr-FR" sz="2800" dirty="0">
                <a:solidFill>
                  <a:schemeClr val="bg1"/>
                </a:solidFill>
                <a:latin typeface="Abadi" panose="020B0604020104020204" pitchFamily="34" charset="0"/>
              </a:rPr>
              <a:t>The Aim:</a:t>
            </a:r>
          </a:p>
        </p:txBody>
      </p:sp>
    </p:spTree>
    <p:extLst>
      <p:ext uri="{BB962C8B-B14F-4D97-AF65-F5344CB8AC3E}">
        <p14:creationId xmlns:p14="http://schemas.microsoft.com/office/powerpoint/2010/main" val="2807886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 6">
            <a:extLst>
              <a:ext uri="{FF2B5EF4-FFF2-40B4-BE49-F238E27FC236}">
                <a16:creationId xmlns:a16="http://schemas.microsoft.com/office/drawing/2014/main" id="{08B8F161-82F0-4702-9ED9-AA3104BE73AF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733" t="11046" r="10892" b="9466"/>
          <a:stretch/>
        </p:blipFill>
        <p:spPr>
          <a:xfrm>
            <a:off x="9042106" y="542924"/>
            <a:ext cx="2197395" cy="1181101"/>
          </a:xfrm>
          <a:prstGeom prst="rect">
            <a:avLst/>
          </a:prstGeom>
          <a:effectLst>
            <a:softEdge rad="31750"/>
          </a:effectLst>
        </p:spPr>
      </p:pic>
      <p:pic>
        <p:nvPicPr>
          <p:cNvPr id="3" name="Image 2">
            <a:extLst>
              <a:ext uri="{FF2B5EF4-FFF2-40B4-BE49-F238E27FC236}">
                <a16:creationId xmlns:a16="http://schemas.microsoft.com/office/drawing/2014/main" id="{E8050A58-7FB5-4CDC-AC8B-16739415739E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5937" t="35139" r="27501" b="14445"/>
          <a:stretch/>
        </p:blipFill>
        <p:spPr>
          <a:xfrm>
            <a:off x="1104899" y="1943100"/>
            <a:ext cx="8651849" cy="3686175"/>
          </a:xfrm>
          <a:prstGeom prst="rect">
            <a:avLst/>
          </a:prstGeom>
          <a:effectLst>
            <a:softEdge rad="31750"/>
          </a:effectLst>
        </p:spPr>
      </p:pic>
      <p:sp>
        <p:nvSpPr>
          <p:cNvPr id="5" name="ZoneTexte 4">
            <a:extLst>
              <a:ext uri="{FF2B5EF4-FFF2-40B4-BE49-F238E27FC236}">
                <a16:creationId xmlns:a16="http://schemas.microsoft.com/office/drawing/2014/main" id="{8297DE54-DD8A-4F08-9D98-8F893295740A}"/>
              </a:ext>
            </a:extLst>
          </p:cNvPr>
          <p:cNvSpPr txBox="1"/>
          <p:nvPr/>
        </p:nvSpPr>
        <p:spPr>
          <a:xfrm>
            <a:off x="1104899" y="335042"/>
            <a:ext cx="2990851" cy="578882"/>
          </a:xfrm>
          <a:prstGeom prst="round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fr-FR" sz="2800" dirty="0" err="1">
                <a:solidFill>
                  <a:schemeClr val="bg1"/>
                </a:solidFill>
                <a:latin typeface="Abadi" panose="020B0604020104020204" pitchFamily="34" charset="0"/>
              </a:rPr>
              <a:t>Task</a:t>
            </a:r>
            <a:r>
              <a:rPr lang="fr-FR" sz="2800" dirty="0">
                <a:solidFill>
                  <a:schemeClr val="bg1"/>
                </a:solidFill>
                <a:latin typeface="Abadi" panose="020B0604020104020204" pitchFamily="34" charset="0"/>
              </a:rPr>
              <a:t> Distribution:</a:t>
            </a:r>
          </a:p>
        </p:txBody>
      </p:sp>
    </p:spTree>
    <p:extLst>
      <p:ext uri="{BB962C8B-B14F-4D97-AF65-F5344CB8AC3E}">
        <p14:creationId xmlns:p14="http://schemas.microsoft.com/office/powerpoint/2010/main" val="6149775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>
            <a:extLst>
              <a:ext uri="{FF2B5EF4-FFF2-40B4-BE49-F238E27FC236}">
                <a16:creationId xmlns:a16="http://schemas.microsoft.com/office/drawing/2014/main" id="{769897CA-726F-4B33-A13D-53350377D075}"/>
              </a:ext>
            </a:extLst>
          </p:cNvPr>
          <p:cNvSpPr txBox="1"/>
          <p:nvPr/>
        </p:nvSpPr>
        <p:spPr>
          <a:xfrm>
            <a:off x="1104899" y="335042"/>
            <a:ext cx="2990851" cy="578882"/>
          </a:xfrm>
          <a:prstGeom prst="round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fr-FR" sz="2800" dirty="0" err="1">
                <a:solidFill>
                  <a:schemeClr val="bg1"/>
                </a:solidFill>
                <a:latin typeface="Abadi" panose="020B0604020104020204" pitchFamily="34" charset="0"/>
              </a:rPr>
              <a:t>Task</a:t>
            </a:r>
            <a:r>
              <a:rPr lang="fr-FR" sz="2800" dirty="0">
                <a:solidFill>
                  <a:schemeClr val="bg1"/>
                </a:solidFill>
                <a:latin typeface="Abadi" panose="020B0604020104020204" pitchFamily="34" charset="0"/>
              </a:rPr>
              <a:t> Distribution:</a:t>
            </a:r>
          </a:p>
        </p:txBody>
      </p:sp>
      <p:grpSp>
        <p:nvGrpSpPr>
          <p:cNvPr id="6" name="Groupe 5">
            <a:extLst>
              <a:ext uri="{FF2B5EF4-FFF2-40B4-BE49-F238E27FC236}">
                <a16:creationId xmlns:a16="http://schemas.microsoft.com/office/drawing/2014/main" id="{25EDF7F5-6BC2-4F88-986D-929C2A0DB651}"/>
              </a:ext>
            </a:extLst>
          </p:cNvPr>
          <p:cNvGrpSpPr/>
          <p:nvPr/>
        </p:nvGrpSpPr>
        <p:grpSpPr>
          <a:xfrm>
            <a:off x="1779639" y="644146"/>
            <a:ext cx="8919086" cy="5255207"/>
            <a:chOff x="906896" y="1470876"/>
            <a:chExt cx="8808604" cy="5153780"/>
          </a:xfrm>
        </p:grpSpPr>
        <p:pic>
          <p:nvPicPr>
            <p:cNvPr id="4" name="Image 3" descr="Une image contenant capture d’écran&#10;&#10;Description générée automatiquement">
              <a:extLst>
                <a:ext uri="{FF2B5EF4-FFF2-40B4-BE49-F238E27FC236}">
                  <a16:creationId xmlns:a16="http://schemas.microsoft.com/office/drawing/2014/main" id="{02D390CA-A3A4-4969-8CFC-6ABE5669714F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469" t="43663" r="21875" b="10119"/>
            <a:stretch/>
          </p:blipFill>
          <p:spPr>
            <a:xfrm>
              <a:off x="906896" y="2654710"/>
              <a:ext cx="8808604" cy="3969946"/>
            </a:xfrm>
            <a:prstGeom prst="rect">
              <a:avLst/>
            </a:prstGeom>
          </p:spPr>
        </p:pic>
        <p:pic>
          <p:nvPicPr>
            <p:cNvPr id="5" name="Image 4" descr="Une image contenant capture d’écran&#10;&#10;Description générée automatiquement">
              <a:extLst>
                <a:ext uri="{FF2B5EF4-FFF2-40B4-BE49-F238E27FC236}">
                  <a16:creationId xmlns:a16="http://schemas.microsoft.com/office/drawing/2014/main" id="{FC842FB8-A9E9-4298-A1EF-CE2038261D5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469" t="22070" r="21875" b="64148"/>
            <a:stretch/>
          </p:blipFill>
          <p:spPr>
            <a:xfrm>
              <a:off x="906896" y="1470876"/>
              <a:ext cx="8808604" cy="1183834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9338889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>
            <a:extLst>
              <a:ext uri="{FF2B5EF4-FFF2-40B4-BE49-F238E27FC236}">
                <a16:creationId xmlns:a16="http://schemas.microsoft.com/office/drawing/2014/main" id="{4F4496D6-C017-4C4D-B57F-5DEA0F9F085B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3620"/>
          <a:stretch/>
        </p:blipFill>
        <p:spPr>
          <a:xfrm>
            <a:off x="8682485" y="3866385"/>
            <a:ext cx="1506642" cy="126859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5" name="Image 4">
            <a:extLst>
              <a:ext uri="{FF2B5EF4-FFF2-40B4-BE49-F238E27FC236}">
                <a16:creationId xmlns:a16="http://schemas.microsoft.com/office/drawing/2014/main" id="{0E322B58-95DD-4613-BC28-29E528650B6F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9463" r="5335" b="40708"/>
          <a:stretch/>
        </p:blipFill>
        <p:spPr>
          <a:xfrm>
            <a:off x="9294138" y="876931"/>
            <a:ext cx="894989" cy="170828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6" name="Image 5">
            <a:extLst>
              <a:ext uri="{FF2B5EF4-FFF2-40B4-BE49-F238E27FC236}">
                <a16:creationId xmlns:a16="http://schemas.microsoft.com/office/drawing/2014/main" id="{DF0B2C57-A12F-49BC-9B0B-E02BFA6BD07F}"/>
              </a:ext>
            </a:extLst>
          </p:cNvPr>
          <p:cNvPicPr/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521" t="2904" r="12149" b="22556"/>
          <a:stretch/>
        </p:blipFill>
        <p:spPr bwMode="auto">
          <a:xfrm>
            <a:off x="1672374" y="4325455"/>
            <a:ext cx="1812232" cy="134012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E576290E-9CB8-428F-9662-ABA27A0AA36A}"/>
              </a:ext>
            </a:extLst>
          </p:cNvPr>
          <p:cNvPicPr/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98570" y="1693865"/>
            <a:ext cx="1956879" cy="146765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1" name="Image 10" descr="Une image contenant intérieur, blanc, assis, table&#10;&#10;Description générée automatiquement">
            <a:extLst>
              <a:ext uri="{FF2B5EF4-FFF2-40B4-BE49-F238E27FC236}">
                <a16:creationId xmlns:a16="http://schemas.microsoft.com/office/drawing/2014/main" id="{830AFF1E-AF73-45B5-9D2D-994C66D94074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340" r="14231"/>
          <a:stretch/>
        </p:blipFill>
        <p:spPr>
          <a:xfrm>
            <a:off x="5550331" y="4740969"/>
            <a:ext cx="1675053" cy="1232799"/>
          </a:xfrm>
          <a:prstGeom prst="rect">
            <a:avLst/>
          </a:prstGeom>
        </p:spPr>
      </p:pic>
      <p:sp>
        <p:nvSpPr>
          <p:cNvPr id="12" name="Rectangle : coins arrondis 11">
            <a:extLst>
              <a:ext uri="{FF2B5EF4-FFF2-40B4-BE49-F238E27FC236}">
                <a16:creationId xmlns:a16="http://schemas.microsoft.com/office/drawing/2014/main" id="{1CBC36AE-0D91-4CC5-855B-0079A602C5C4}"/>
              </a:ext>
            </a:extLst>
          </p:cNvPr>
          <p:cNvSpPr/>
          <p:nvPr/>
        </p:nvSpPr>
        <p:spPr>
          <a:xfrm>
            <a:off x="8381045" y="5088128"/>
            <a:ext cx="2138581" cy="604446"/>
          </a:xfrm>
          <a:prstGeom prst="round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  <a:p>
            <a:pPr lvl="0" algn="ctr">
              <a:defRPr/>
            </a:pPr>
            <a:r>
              <a:rPr lang="fr-FR" dirty="0"/>
              <a:t>Ball </a:t>
            </a:r>
            <a:r>
              <a:rPr lang="fr-FR" dirty="0" err="1"/>
              <a:t>thrower</a:t>
            </a:r>
            <a:endParaRPr lang="fr-FR" dirty="0"/>
          </a:p>
          <a:p>
            <a:pPr algn="ctr"/>
            <a:endParaRPr lang="fr-FR" dirty="0"/>
          </a:p>
        </p:txBody>
      </p:sp>
      <p:sp>
        <p:nvSpPr>
          <p:cNvPr id="13" name="Rectangle : coins arrondis 12">
            <a:extLst>
              <a:ext uri="{FF2B5EF4-FFF2-40B4-BE49-F238E27FC236}">
                <a16:creationId xmlns:a16="http://schemas.microsoft.com/office/drawing/2014/main" id="{69F32483-DEE0-45AE-A651-2535A5A4372D}"/>
              </a:ext>
            </a:extLst>
          </p:cNvPr>
          <p:cNvSpPr/>
          <p:nvPr/>
        </p:nvSpPr>
        <p:spPr>
          <a:xfrm>
            <a:off x="5295413" y="5973768"/>
            <a:ext cx="2138581" cy="604446"/>
          </a:xfrm>
          <a:prstGeom prst="roundRect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 err="1"/>
              <a:t>Wheels</a:t>
            </a:r>
            <a:endParaRPr lang="fr-FR" dirty="0"/>
          </a:p>
        </p:txBody>
      </p:sp>
      <p:sp>
        <p:nvSpPr>
          <p:cNvPr id="14" name="Rectangle : coins arrondis 13">
            <a:extLst>
              <a:ext uri="{FF2B5EF4-FFF2-40B4-BE49-F238E27FC236}">
                <a16:creationId xmlns:a16="http://schemas.microsoft.com/office/drawing/2014/main" id="{D44D6870-2E19-4AAF-8BD7-340D668368CF}"/>
              </a:ext>
            </a:extLst>
          </p:cNvPr>
          <p:cNvSpPr/>
          <p:nvPr/>
        </p:nvSpPr>
        <p:spPr>
          <a:xfrm>
            <a:off x="1620626" y="3130719"/>
            <a:ext cx="2512766" cy="604446"/>
          </a:xfrm>
          <a:prstGeom prst="roundRect">
            <a:avLst/>
          </a:prstGeom>
          <a:solidFill>
            <a:srgbClr val="99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  <a:p>
            <a:pPr algn="ctr"/>
            <a:r>
              <a:rPr lang="fr-FR" dirty="0" err="1"/>
              <a:t>Color</a:t>
            </a:r>
            <a:r>
              <a:rPr lang="fr-FR" dirty="0"/>
              <a:t> </a:t>
            </a:r>
            <a:r>
              <a:rPr lang="fr-FR" dirty="0" err="1"/>
              <a:t>balls</a:t>
            </a:r>
            <a:r>
              <a:rPr lang="fr-FR" dirty="0"/>
              <a:t> </a:t>
            </a:r>
            <a:r>
              <a:rPr lang="fr-FR" dirty="0" err="1"/>
              <a:t>sorter</a:t>
            </a:r>
            <a:endParaRPr lang="fr-FR" dirty="0"/>
          </a:p>
          <a:p>
            <a:pPr algn="ctr"/>
            <a:endParaRPr lang="fr-FR" dirty="0"/>
          </a:p>
        </p:txBody>
      </p:sp>
      <p:sp>
        <p:nvSpPr>
          <p:cNvPr id="15" name="Rectangle : coins arrondis 14">
            <a:extLst>
              <a:ext uri="{FF2B5EF4-FFF2-40B4-BE49-F238E27FC236}">
                <a16:creationId xmlns:a16="http://schemas.microsoft.com/office/drawing/2014/main" id="{E0D6C276-A219-4535-9408-EC32EA51CA01}"/>
              </a:ext>
            </a:extLst>
          </p:cNvPr>
          <p:cNvSpPr/>
          <p:nvPr/>
        </p:nvSpPr>
        <p:spPr>
          <a:xfrm>
            <a:off x="8672341" y="2593205"/>
            <a:ext cx="2138581" cy="851675"/>
          </a:xfrm>
          <a:prstGeom prst="round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  <a:p>
            <a:pPr algn="ctr"/>
            <a:endParaRPr lang="fr-FR" dirty="0"/>
          </a:p>
          <a:p>
            <a:pPr algn="ctr"/>
            <a:r>
              <a:rPr lang="fr-FR" dirty="0"/>
              <a:t>Smasher + </a:t>
            </a:r>
          </a:p>
          <a:p>
            <a:pPr algn="ctr"/>
            <a:r>
              <a:rPr lang="fr-FR" dirty="0" err="1"/>
              <a:t>Closing</a:t>
            </a:r>
            <a:r>
              <a:rPr lang="fr-FR" dirty="0"/>
              <a:t> of </a:t>
            </a:r>
            <a:r>
              <a:rPr lang="fr-FR" dirty="0" err="1"/>
              <a:t>Flaps</a:t>
            </a:r>
            <a:endParaRPr lang="fr-FR" dirty="0"/>
          </a:p>
          <a:p>
            <a:pPr algn="ctr"/>
            <a:endParaRPr lang="fr-FR" dirty="0"/>
          </a:p>
          <a:p>
            <a:pPr algn="ctr"/>
            <a:r>
              <a:rPr lang="fr-FR" dirty="0"/>
              <a:t> </a:t>
            </a:r>
          </a:p>
        </p:txBody>
      </p:sp>
      <p:sp>
        <p:nvSpPr>
          <p:cNvPr id="16" name="Rectangle : coins arrondis 15">
            <a:extLst>
              <a:ext uri="{FF2B5EF4-FFF2-40B4-BE49-F238E27FC236}">
                <a16:creationId xmlns:a16="http://schemas.microsoft.com/office/drawing/2014/main" id="{6664B6F8-2766-4B6E-8A46-381EAC16858F}"/>
              </a:ext>
            </a:extLst>
          </p:cNvPr>
          <p:cNvSpPr/>
          <p:nvPr/>
        </p:nvSpPr>
        <p:spPr>
          <a:xfrm>
            <a:off x="1360391" y="5638144"/>
            <a:ext cx="2512766" cy="604446"/>
          </a:xfrm>
          <a:prstGeom prst="round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  <a:p>
            <a:pPr algn="ctr"/>
            <a:r>
              <a:rPr lang="fr-FR" dirty="0"/>
              <a:t>Line Follower</a:t>
            </a:r>
          </a:p>
          <a:p>
            <a:pPr algn="ctr"/>
            <a:endParaRPr lang="fr-FR" dirty="0"/>
          </a:p>
        </p:txBody>
      </p:sp>
      <p:sp>
        <p:nvSpPr>
          <p:cNvPr id="17" name="Rectangle : coins arrondis 16">
            <a:extLst>
              <a:ext uri="{FF2B5EF4-FFF2-40B4-BE49-F238E27FC236}">
                <a16:creationId xmlns:a16="http://schemas.microsoft.com/office/drawing/2014/main" id="{A2793A8F-CC63-46DA-B5E8-80062E1DDED0}"/>
              </a:ext>
            </a:extLst>
          </p:cNvPr>
          <p:cNvSpPr/>
          <p:nvPr/>
        </p:nvSpPr>
        <p:spPr>
          <a:xfrm>
            <a:off x="4910405" y="2878411"/>
            <a:ext cx="2702011" cy="1148507"/>
          </a:xfrm>
          <a:prstGeom prst="round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 err="1"/>
              <a:t>MyRio</a:t>
            </a:r>
            <a:r>
              <a:rPr lang="fr-FR" dirty="0"/>
              <a:t> :</a:t>
            </a:r>
          </a:p>
          <a:p>
            <a:pPr algn="ctr"/>
            <a:r>
              <a:rPr lang="fr-FR" dirty="0" err="1"/>
              <a:t>Labview</a:t>
            </a:r>
            <a:r>
              <a:rPr lang="fr-FR" dirty="0"/>
              <a:t>  State Machine</a:t>
            </a:r>
          </a:p>
        </p:txBody>
      </p:sp>
      <p:cxnSp>
        <p:nvCxnSpPr>
          <p:cNvPr id="29" name="Connecteur droit avec flèche 28">
            <a:extLst>
              <a:ext uri="{FF2B5EF4-FFF2-40B4-BE49-F238E27FC236}">
                <a16:creationId xmlns:a16="http://schemas.microsoft.com/office/drawing/2014/main" id="{17CC704C-515F-42C5-BFE7-804B2E146D85}"/>
              </a:ext>
            </a:extLst>
          </p:cNvPr>
          <p:cNvCxnSpPr>
            <a:cxnSpLocks/>
          </p:cNvCxnSpPr>
          <p:nvPr/>
        </p:nvCxnSpPr>
        <p:spPr>
          <a:xfrm flipH="1">
            <a:off x="6664527" y="1385927"/>
            <a:ext cx="2450282" cy="613480"/>
          </a:xfrm>
          <a:prstGeom prst="straightConnector1">
            <a:avLst/>
          </a:prstGeom>
          <a:ln w="57150" cap="flat" cmpd="sng" algn="ctr">
            <a:solidFill>
              <a:schemeClr val="accent5"/>
            </a:solidFill>
            <a:prstDash val="solid"/>
            <a:round/>
            <a:headEnd type="arrow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5" name="Connecteur droit avec flèche 34">
            <a:extLst>
              <a:ext uri="{FF2B5EF4-FFF2-40B4-BE49-F238E27FC236}">
                <a16:creationId xmlns:a16="http://schemas.microsoft.com/office/drawing/2014/main" id="{784505BA-B93B-4894-BA7C-2276A2227559}"/>
              </a:ext>
            </a:extLst>
          </p:cNvPr>
          <p:cNvCxnSpPr>
            <a:cxnSpLocks/>
          </p:cNvCxnSpPr>
          <p:nvPr/>
        </p:nvCxnSpPr>
        <p:spPr>
          <a:xfrm flipH="1">
            <a:off x="3906035" y="2285405"/>
            <a:ext cx="1527124" cy="63275"/>
          </a:xfrm>
          <a:prstGeom prst="straightConnector1">
            <a:avLst/>
          </a:prstGeom>
          <a:ln w="57150" cap="flat" cmpd="sng" algn="ctr">
            <a:solidFill>
              <a:schemeClr val="accent5"/>
            </a:solidFill>
            <a:prstDash val="solid"/>
            <a:round/>
            <a:headEnd type="arrow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pic>
        <p:nvPicPr>
          <p:cNvPr id="9" name="Image 8" descr="Une image contenant équipement électronique&#10;&#10;Description générée automatiquement">
            <a:extLst>
              <a:ext uri="{FF2B5EF4-FFF2-40B4-BE49-F238E27FC236}">
                <a16:creationId xmlns:a16="http://schemas.microsoft.com/office/drawing/2014/main" id="{97B902A2-5F34-4CC2-809F-52AEBAE0120C}"/>
              </a:ext>
            </a:extLst>
          </p:cNvPr>
          <p:cNvPicPr>
            <a:picLocks noChangeAspect="1"/>
          </p:cNvPicPr>
          <p:nvPr/>
        </p:nvPicPr>
        <p:blipFill>
          <a:blip r:embed="rId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60991" y="1650621"/>
            <a:ext cx="2523589" cy="183591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cxnSp>
        <p:nvCxnSpPr>
          <p:cNvPr id="40" name="Connecteur droit avec flèche 39">
            <a:extLst>
              <a:ext uri="{FF2B5EF4-FFF2-40B4-BE49-F238E27FC236}">
                <a16:creationId xmlns:a16="http://schemas.microsoft.com/office/drawing/2014/main" id="{BE34AE7B-2C39-455B-8E5E-A2AE25D837EE}"/>
              </a:ext>
            </a:extLst>
          </p:cNvPr>
          <p:cNvCxnSpPr>
            <a:cxnSpLocks/>
          </p:cNvCxnSpPr>
          <p:nvPr/>
        </p:nvCxnSpPr>
        <p:spPr>
          <a:xfrm flipH="1">
            <a:off x="7152984" y="5289579"/>
            <a:ext cx="648353" cy="1744"/>
          </a:xfrm>
          <a:prstGeom prst="straightConnector1">
            <a:avLst/>
          </a:prstGeom>
          <a:ln w="57150" cap="flat" cmpd="sng" algn="ctr">
            <a:solidFill>
              <a:schemeClr val="accent5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47" name="Connecteur droit 46">
            <a:extLst>
              <a:ext uri="{FF2B5EF4-FFF2-40B4-BE49-F238E27FC236}">
                <a16:creationId xmlns:a16="http://schemas.microsoft.com/office/drawing/2014/main" id="{E3DFF235-D9CA-4AED-ADAF-803DCC85E5E9}"/>
              </a:ext>
            </a:extLst>
          </p:cNvPr>
          <p:cNvCxnSpPr>
            <a:cxnSpLocks/>
          </p:cNvCxnSpPr>
          <p:nvPr/>
        </p:nvCxnSpPr>
        <p:spPr>
          <a:xfrm flipH="1" flipV="1">
            <a:off x="7680960" y="2667720"/>
            <a:ext cx="63360" cy="2621859"/>
          </a:xfrm>
          <a:prstGeom prst="line">
            <a:avLst/>
          </a:prstGeom>
          <a:ln w="57150"/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cxnSp>
        <p:nvCxnSpPr>
          <p:cNvPr id="49" name="Connecteur droit avec flèche 48">
            <a:extLst>
              <a:ext uri="{FF2B5EF4-FFF2-40B4-BE49-F238E27FC236}">
                <a16:creationId xmlns:a16="http://schemas.microsoft.com/office/drawing/2014/main" id="{29095ABB-0ED1-4FE7-82F3-95615DF90311}"/>
              </a:ext>
            </a:extLst>
          </p:cNvPr>
          <p:cNvCxnSpPr>
            <a:cxnSpLocks/>
          </p:cNvCxnSpPr>
          <p:nvPr/>
        </p:nvCxnSpPr>
        <p:spPr>
          <a:xfrm flipH="1">
            <a:off x="7090137" y="2697473"/>
            <a:ext cx="622231" cy="2618"/>
          </a:xfrm>
          <a:prstGeom prst="straightConnector1">
            <a:avLst/>
          </a:prstGeom>
          <a:ln w="57150" cap="flat" cmpd="sng" algn="ctr">
            <a:solidFill>
              <a:schemeClr val="accent5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53" name="Connecteur droit avec flèche 52">
            <a:extLst>
              <a:ext uri="{FF2B5EF4-FFF2-40B4-BE49-F238E27FC236}">
                <a16:creationId xmlns:a16="http://schemas.microsoft.com/office/drawing/2014/main" id="{774044F6-2FCD-4605-8F72-FE4154DCDCEE}"/>
              </a:ext>
            </a:extLst>
          </p:cNvPr>
          <p:cNvCxnSpPr>
            <a:cxnSpLocks/>
          </p:cNvCxnSpPr>
          <p:nvPr/>
        </p:nvCxnSpPr>
        <p:spPr>
          <a:xfrm flipH="1">
            <a:off x="6974573" y="2196300"/>
            <a:ext cx="998234" cy="142532"/>
          </a:xfrm>
          <a:prstGeom prst="straightConnector1">
            <a:avLst/>
          </a:prstGeom>
          <a:ln w="57150" cap="flat" cmpd="sng" algn="ctr">
            <a:solidFill>
              <a:schemeClr val="accent5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65" name="Connecteur droit 64">
            <a:extLst>
              <a:ext uri="{FF2B5EF4-FFF2-40B4-BE49-F238E27FC236}">
                <a16:creationId xmlns:a16="http://schemas.microsoft.com/office/drawing/2014/main" id="{637D4CF8-F70B-4006-9DC0-96B4554FCB28}"/>
              </a:ext>
            </a:extLst>
          </p:cNvPr>
          <p:cNvCxnSpPr>
            <a:cxnSpLocks/>
          </p:cNvCxnSpPr>
          <p:nvPr/>
        </p:nvCxnSpPr>
        <p:spPr>
          <a:xfrm flipH="1" flipV="1">
            <a:off x="7921638" y="2174497"/>
            <a:ext cx="278258" cy="2628091"/>
          </a:xfrm>
          <a:prstGeom prst="line">
            <a:avLst/>
          </a:prstGeom>
          <a:ln w="57150"/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cxnSp>
        <p:nvCxnSpPr>
          <p:cNvPr id="69" name="Connecteur droit avec flèche 68">
            <a:extLst>
              <a:ext uri="{FF2B5EF4-FFF2-40B4-BE49-F238E27FC236}">
                <a16:creationId xmlns:a16="http://schemas.microsoft.com/office/drawing/2014/main" id="{A249E879-EB2D-4854-A691-37FF6D787331}"/>
              </a:ext>
            </a:extLst>
          </p:cNvPr>
          <p:cNvCxnSpPr>
            <a:cxnSpLocks/>
          </p:cNvCxnSpPr>
          <p:nvPr/>
        </p:nvCxnSpPr>
        <p:spPr>
          <a:xfrm flipV="1">
            <a:off x="8199896" y="4740969"/>
            <a:ext cx="472445" cy="61620"/>
          </a:xfrm>
          <a:prstGeom prst="straightConnector1">
            <a:avLst/>
          </a:prstGeom>
          <a:ln w="57150" cap="flat" cmpd="sng" algn="ctr">
            <a:solidFill>
              <a:schemeClr val="accent5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74" name="Connecteur droit avec flèche 73">
            <a:extLst>
              <a:ext uri="{FF2B5EF4-FFF2-40B4-BE49-F238E27FC236}">
                <a16:creationId xmlns:a16="http://schemas.microsoft.com/office/drawing/2014/main" id="{804BB86A-B8D9-4615-870F-8CD549372A96}"/>
              </a:ext>
            </a:extLst>
          </p:cNvPr>
          <p:cNvCxnSpPr>
            <a:cxnSpLocks/>
          </p:cNvCxnSpPr>
          <p:nvPr/>
        </p:nvCxnSpPr>
        <p:spPr>
          <a:xfrm flipH="1">
            <a:off x="3460068" y="4864308"/>
            <a:ext cx="1175593" cy="0"/>
          </a:xfrm>
          <a:prstGeom prst="straightConnector1">
            <a:avLst/>
          </a:prstGeom>
          <a:ln w="57150" cap="flat" cmpd="sng" algn="ctr">
            <a:solidFill>
              <a:schemeClr val="accent5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75" name="Connecteur droit 74">
            <a:extLst>
              <a:ext uri="{FF2B5EF4-FFF2-40B4-BE49-F238E27FC236}">
                <a16:creationId xmlns:a16="http://schemas.microsoft.com/office/drawing/2014/main" id="{5EE1BB78-ABC6-4F68-B89D-6E9CFA2A67F6}"/>
              </a:ext>
            </a:extLst>
          </p:cNvPr>
          <p:cNvCxnSpPr>
            <a:cxnSpLocks/>
          </p:cNvCxnSpPr>
          <p:nvPr/>
        </p:nvCxnSpPr>
        <p:spPr>
          <a:xfrm flipH="1" flipV="1">
            <a:off x="4561551" y="2726216"/>
            <a:ext cx="18095" cy="2138092"/>
          </a:xfrm>
          <a:prstGeom prst="line">
            <a:avLst/>
          </a:prstGeom>
          <a:ln w="57150"/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cxnSp>
        <p:nvCxnSpPr>
          <p:cNvPr id="76" name="Connecteur droit avec flèche 75">
            <a:extLst>
              <a:ext uri="{FF2B5EF4-FFF2-40B4-BE49-F238E27FC236}">
                <a16:creationId xmlns:a16="http://schemas.microsoft.com/office/drawing/2014/main" id="{4DDC158D-3156-418E-A4C3-90C74D808366}"/>
              </a:ext>
            </a:extLst>
          </p:cNvPr>
          <p:cNvCxnSpPr>
            <a:cxnSpLocks/>
          </p:cNvCxnSpPr>
          <p:nvPr/>
        </p:nvCxnSpPr>
        <p:spPr>
          <a:xfrm flipV="1">
            <a:off x="4579646" y="2726215"/>
            <a:ext cx="964727" cy="26331"/>
          </a:xfrm>
          <a:prstGeom prst="straightConnector1">
            <a:avLst/>
          </a:prstGeom>
          <a:ln w="57150" cap="flat" cmpd="sng" algn="ctr">
            <a:solidFill>
              <a:schemeClr val="accent5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7" name="ZoneTexte 26">
            <a:extLst>
              <a:ext uri="{FF2B5EF4-FFF2-40B4-BE49-F238E27FC236}">
                <a16:creationId xmlns:a16="http://schemas.microsoft.com/office/drawing/2014/main" id="{C2562BE4-AECB-4F3B-B74E-C7915CD3731C}"/>
              </a:ext>
            </a:extLst>
          </p:cNvPr>
          <p:cNvSpPr txBox="1"/>
          <p:nvPr/>
        </p:nvSpPr>
        <p:spPr>
          <a:xfrm>
            <a:off x="1122856" y="396556"/>
            <a:ext cx="3677744" cy="578882"/>
          </a:xfrm>
          <a:prstGeom prst="round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fr-FR" sz="2800" dirty="0">
                <a:solidFill>
                  <a:schemeClr val="bg1"/>
                </a:solidFill>
                <a:latin typeface="Abadi" panose="020B0604020104020204" pitchFamily="34" charset="0"/>
              </a:rPr>
              <a:t>Dynamic Architecture</a:t>
            </a:r>
            <a:r>
              <a:rPr lang="fr-FR" sz="2800" dirty="0">
                <a:solidFill>
                  <a:schemeClr val="bg1"/>
                </a:solidFill>
              </a:rPr>
              <a:t>:</a:t>
            </a:r>
          </a:p>
        </p:txBody>
      </p:sp>
    </p:spTree>
    <p:extLst>
      <p:ext uri="{BB962C8B-B14F-4D97-AF65-F5344CB8AC3E}">
        <p14:creationId xmlns:p14="http://schemas.microsoft.com/office/powerpoint/2010/main" val="225470397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>
            <a:extLst>
              <a:ext uri="{FF2B5EF4-FFF2-40B4-BE49-F238E27FC236}">
                <a16:creationId xmlns:a16="http://schemas.microsoft.com/office/drawing/2014/main" id="{027F933F-79BF-4DEB-9256-E57528AC1DD7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860" b="13346"/>
          <a:stretch/>
        </p:blipFill>
        <p:spPr>
          <a:xfrm>
            <a:off x="1045191" y="1799355"/>
            <a:ext cx="6859648" cy="3498702"/>
          </a:xfrm>
          <a:prstGeom prst="rect">
            <a:avLst/>
          </a:prstGeom>
        </p:spPr>
      </p:pic>
      <p:pic>
        <p:nvPicPr>
          <p:cNvPr id="5" name="Image 4">
            <a:extLst>
              <a:ext uri="{FF2B5EF4-FFF2-40B4-BE49-F238E27FC236}">
                <a16:creationId xmlns:a16="http://schemas.microsoft.com/office/drawing/2014/main" id="{56C460A0-4C0D-461A-BD87-DA474FB1526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68915" y="2062229"/>
            <a:ext cx="3864305" cy="3102503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4794685C-A704-4A01-8A35-3C0DECBD07F7}"/>
              </a:ext>
            </a:extLst>
          </p:cNvPr>
          <p:cNvSpPr/>
          <p:nvPr/>
        </p:nvSpPr>
        <p:spPr>
          <a:xfrm>
            <a:off x="1087137" y="1559943"/>
            <a:ext cx="10874203" cy="4107077"/>
          </a:xfrm>
          <a:prstGeom prst="rect">
            <a:avLst/>
          </a:prstGeom>
          <a:noFill/>
          <a:ln w="28575"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A0BC0CD0-27C4-416B-A116-5B52CB14E3C9}"/>
              </a:ext>
            </a:extLst>
          </p:cNvPr>
          <p:cNvSpPr txBox="1"/>
          <p:nvPr/>
        </p:nvSpPr>
        <p:spPr>
          <a:xfrm>
            <a:off x="1087137" y="344253"/>
            <a:ext cx="3334652" cy="578882"/>
          </a:xfrm>
          <a:prstGeom prst="round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fr-FR" sz="2800" dirty="0" err="1">
                <a:solidFill>
                  <a:schemeClr val="bg1"/>
                </a:solidFill>
                <a:latin typeface="Abadi" panose="020B0604020104020204" pitchFamily="34" charset="0"/>
              </a:rPr>
              <a:t>Static</a:t>
            </a:r>
            <a:r>
              <a:rPr lang="fr-FR" sz="2800" dirty="0">
                <a:solidFill>
                  <a:schemeClr val="bg1"/>
                </a:solidFill>
                <a:latin typeface="Abadi" panose="020B0604020104020204" pitchFamily="34" charset="0"/>
              </a:rPr>
              <a:t> Architecture:</a:t>
            </a: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403F589C-3F74-43C6-B8C0-2AFBACEFB6CB}"/>
              </a:ext>
            </a:extLst>
          </p:cNvPr>
          <p:cNvSpPr txBox="1"/>
          <p:nvPr/>
        </p:nvSpPr>
        <p:spPr>
          <a:xfrm>
            <a:off x="7946785" y="3724275"/>
            <a:ext cx="10953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WIFI</a:t>
            </a:r>
          </a:p>
        </p:txBody>
      </p:sp>
    </p:spTree>
    <p:extLst>
      <p:ext uri="{BB962C8B-B14F-4D97-AF65-F5344CB8AC3E}">
        <p14:creationId xmlns:p14="http://schemas.microsoft.com/office/powerpoint/2010/main" val="37997109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>
            <a:extLst>
              <a:ext uri="{FF2B5EF4-FFF2-40B4-BE49-F238E27FC236}">
                <a16:creationId xmlns:a16="http://schemas.microsoft.com/office/drawing/2014/main" id="{1A44D588-A66E-409C-BAB2-84787FAFE0A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30556" r="1484" b="45972"/>
          <a:stretch/>
        </p:blipFill>
        <p:spPr>
          <a:xfrm>
            <a:off x="885825" y="3950289"/>
            <a:ext cx="11153775" cy="1494836"/>
          </a:xfrm>
          <a:prstGeom prst="rect">
            <a:avLst/>
          </a:prstGeom>
        </p:spPr>
      </p:pic>
      <p:sp>
        <p:nvSpPr>
          <p:cNvPr id="8" name="ZoneTexte 7">
            <a:extLst>
              <a:ext uri="{FF2B5EF4-FFF2-40B4-BE49-F238E27FC236}">
                <a16:creationId xmlns:a16="http://schemas.microsoft.com/office/drawing/2014/main" id="{58194820-21CC-4DFC-8839-0E36143EAFC2}"/>
              </a:ext>
            </a:extLst>
          </p:cNvPr>
          <p:cNvSpPr txBox="1"/>
          <p:nvPr/>
        </p:nvSpPr>
        <p:spPr>
          <a:xfrm>
            <a:off x="1111866" y="345595"/>
            <a:ext cx="3396634" cy="578882"/>
          </a:xfrm>
          <a:prstGeom prst="round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fr-FR" sz="2800" dirty="0">
                <a:solidFill>
                  <a:schemeClr val="bg1"/>
                </a:solidFill>
              </a:rPr>
              <a:t>Project Progression:</a:t>
            </a:r>
          </a:p>
        </p:txBody>
      </p:sp>
      <p:pic>
        <p:nvPicPr>
          <p:cNvPr id="2" name="Image 1">
            <a:extLst>
              <a:ext uri="{FF2B5EF4-FFF2-40B4-BE49-F238E27FC236}">
                <a16:creationId xmlns:a16="http://schemas.microsoft.com/office/drawing/2014/main" id="{61433C7D-86D7-4845-914D-15311F6AD26C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4453" t="20602" r="17970" b="47500"/>
          <a:stretch/>
        </p:blipFill>
        <p:spPr>
          <a:xfrm>
            <a:off x="1590674" y="1241424"/>
            <a:ext cx="9458325" cy="2187576"/>
          </a:xfrm>
          <a:prstGeom prst="rect">
            <a:avLst/>
          </a:prstGeom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B0D0BE67-1FDB-488D-9DF8-D358432EB89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49222" y="635036"/>
            <a:ext cx="1341664" cy="1341664"/>
          </a:xfrm>
          <a:prstGeom prst="rect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pic>
      <p:sp>
        <p:nvSpPr>
          <p:cNvPr id="9" name="ZoneTexte 8">
            <a:extLst>
              <a:ext uri="{FF2B5EF4-FFF2-40B4-BE49-F238E27FC236}">
                <a16:creationId xmlns:a16="http://schemas.microsoft.com/office/drawing/2014/main" id="{092A4E74-938E-4EF0-8B7B-AEE953C0DA0C}"/>
              </a:ext>
            </a:extLst>
          </p:cNvPr>
          <p:cNvSpPr txBox="1"/>
          <p:nvPr/>
        </p:nvSpPr>
        <p:spPr>
          <a:xfrm>
            <a:off x="7716832" y="2068051"/>
            <a:ext cx="11784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>
                <a:latin typeface="Bell MT" panose="02020503060305020303" pitchFamily="18" charset="0"/>
              </a:rPr>
              <a:t>Taiga.io</a:t>
            </a:r>
          </a:p>
        </p:txBody>
      </p:sp>
    </p:spTree>
    <p:extLst>
      <p:ext uri="{BB962C8B-B14F-4D97-AF65-F5344CB8AC3E}">
        <p14:creationId xmlns:p14="http://schemas.microsoft.com/office/powerpoint/2010/main" val="121534388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>
            <a:extLst>
              <a:ext uri="{FF2B5EF4-FFF2-40B4-BE49-F238E27FC236}">
                <a16:creationId xmlns:a16="http://schemas.microsoft.com/office/drawing/2014/main" id="{4958048B-D0E9-48CE-86A8-8A0ABB38998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683" t="30770" r="72331" b="59544"/>
          <a:stretch/>
        </p:blipFill>
        <p:spPr>
          <a:xfrm>
            <a:off x="1421215" y="1174181"/>
            <a:ext cx="4229100" cy="960581"/>
          </a:xfrm>
          <a:prstGeom prst="rect">
            <a:avLst/>
          </a:prstGeom>
          <a:effectLst>
            <a:softEdge rad="12700"/>
          </a:effectLst>
        </p:spPr>
      </p:pic>
      <p:pic>
        <p:nvPicPr>
          <p:cNvPr id="5" name="Image 4">
            <a:extLst>
              <a:ext uri="{FF2B5EF4-FFF2-40B4-BE49-F238E27FC236}">
                <a16:creationId xmlns:a16="http://schemas.microsoft.com/office/drawing/2014/main" id="{FA62B42C-0FC3-4BEB-9E90-DAE77930E38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683" t="41578" r="54252" b="11729"/>
          <a:stretch/>
        </p:blipFill>
        <p:spPr>
          <a:xfrm>
            <a:off x="975529" y="2340581"/>
            <a:ext cx="6950410" cy="433967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3" name="Image 2">
            <a:extLst>
              <a:ext uri="{FF2B5EF4-FFF2-40B4-BE49-F238E27FC236}">
                <a16:creationId xmlns:a16="http://schemas.microsoft.com/office/drawing/2014/main" id="{1C1EB1AE-D424-41F7-91D9-597FB4912C73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3647" t="29683" r="56882" b="11822"/>
          <a:stretch/>
        </p:blipFill>
        <p:spPr>
          <a:xfrm>
            <a:off x="6096000" y="756623"/>
            <a:ext cx="5842000" cy="486998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6" name="ZoneTexte 5">
            <a:extLst>
              <a:ext uri="{FF2B5EF4-FFF2-40B4-BE49-F238E27FC236}">
                <a16:creationId xmlns:a16="http://schemas.microsoft.com/office/drawing/2014/main" id="{19A674D4-169C-4187-941D-94945577BBFA}"/>
              </a:ext>
            </a:extLst>
          </p:cNvPr>
          <p:cNvSpPr txBox="1"/>
          <p:nvPr/>
        </p:nvSpPr>
        <p:spPr>
          <a:xfrm>
            <a:off x="1054100" y="338621"/>
            <a:ext cx="3396634" cy="578882"/>
          </a:xfrm>
          <a:prstGeom prst="round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fr-FR" sz="2800" dirty="0">
                <a:solidFill>
                  <a:schemeClr val="bg1"/>
                </a:solidFill>
              </a:rPr>
              <a:t>Project Progression:</a:t>
            </a:r>
          </a:p>
        </p:txBody>
      </p:sp>
    </p:spTree>
    <p:extLst>
      <p:ext uri="{BB962C8B-B14F-4D97-AF65-F5344CB8AC3E}">
        <p14:creationId xmlns:p14="http://schemas.microsoft.com/office/powerpoint/2010/main" val="30254145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ce réservé du contenu 2">
            <a:extLst>
              <a:ext uri="{FF2B5EF4-FFF2-40B4-BE49-F238E27FC236}">
                <a16:creationId xmlns:a16="http://schemas.microsoft.com/office/drawing/2014/main" id="{2F29A9A2-34C3-496C-9011-49359AEB22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02350" y="1839269"/>
            <a:ext cx="4648200" cy="2120733"/>
          </a:xfrm>
        </p:spPr>
        <p:txBody>
          <a:bodyPr/>
          <a:lstStyle/>
          <a:p>
            <a:pPr marL="0" indent="0">
              <a:buNone/>
            </a:pPr>
            <a:r>
              <a:rPr lang="fr-FR" b="1" dirty="0" err="1">
                <a:latin typeface="+mj-lt"/>
              </a:rPr>
              <a:t>GitKraken</a:t>
            </a:r>
            <a:endParaRPr lang="fr-FR" b="1" dirty="0">
              <a:latin typeface="+mj-lt"/>
            </a:endParaRPr>
          </a:p>
          <a:p>
            <a:pPr marL="0" indent="0">
              <a:buNone/>
            </a:pPr>
            <a:r>
              <a:rPr lang="en-US" dirty="0">
                <a:latin typeface="+mj-lt"/>
              </a:rPr>
              <a:t>We are using </a:t>
            </a:r>
            <a:r>
              <a:rPr lang="en-US" dirty="0" err="1">
                <a:latin typeface="+mj-lt"/>
              </a:rPr>
              <a:t>GitKraken</a:t>
            </a:r>
            <a:r>
              <a:rPr lang="en-US" dirty="0">
                <a:latin typeface="+mj-lt"/>
              </a:rPr>
              <a:t> as a graphical interface for GitLab, in order to manage versioning documents: Codes, 3D pieces, datasheet …</a:t>
            </a:r>
            <a:endParaRPr lang="fr-FR" dirty="0">
              <a:latin typeface="+mj-lt"/>
            </a:endParaRPr>
          </a:p>
          <a:p>
            <a:pPr marL="0" indent="0">
              <a:buNone/>
            </a:pPr>
            <a:endParaRPr lang="fr-FR" dirty="0"/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F33DB71D-57F2-4EAA-9F63-0436F2307F0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35966" y="4389120"/>
            <a:ext cx="2647024" cy="941042"/>
          </a:xfrm>
          <a:prstGeom prst="rect">
            <a:avLst/>
          </a:prstGeom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12018E9D-D525-434C-B129-9AB785E290B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27824" y="1027906"/>
            <a:ext cx="3648702" cy="451256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9" name="Image 8">
            <a:extLst>
              <a:ext uri="{FF2B5EF4-FFF2-40B4-BE49-F238E27FC236}">
                <a16:creationId xmlns:a16="http://schemas.microsoft.com/office/drawing/2014/main" id="{70155AE0-25E9-4BD7-ABC0-23313723B34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06708" y="483079"/>
            <a:ext cx="1356190" cy="1356190"/>
          </a:xfrm>
          <a:prstGeom prst="ellipse">
            <a:avLst/>
          </a:prstGeom>
          <a:ln w="76200" cap="rnd">
            <a:solidFill>
              <a:srgbClr val="C8C6BD"/>
            </a:solidFill>
            <a:prstDash val="solid"/>
          </a:ln>
          <a:effectLst>
            <a:outerShdw blurRad="304800" dist="215900" dir="8100000" sx="108000" sy="108000" algn="tr" rotWithShape="0">
              <a:prstClr val="black">
                <a:alpha val="63000"/>
              </a:prstClr>
            </a:outerShdw>
          </a:effectLst>
          <a:scene3d>
            <a:camera prst="perspectiveFront" fov="5400000"/>
            <a:lightRig rig="threePt" dir="t">
              <a:rot lat="0" lon="0" rev="19200000"/>
            </a:lightRig>
          </a:scene3d>
          <a:sp3d extrusionH="25400">
            <a:bevelT w="304800" h="152400" prst="hardEdge"/>
            <a:extrusionClr>
              <a:srgbClr val="000000"/>
            </a:extrusionClr>
          </a:sp3d>
        </p:spPr>
      </p:pic>
      <p:sp>
        <p:nvSpPr>
          <p:cNvPr id="10" name="ZoneTexte 9">
            <a:extLst>
              <a:ext uri="{FF2B5EF4-FFF2-40B4-BE49-F238E27FC236}">
                <a16:creationId xmlns:a16="http://schemas.microsoft.com/office/drawing/2014/main" id="{9CBAD27A-8677-4623-8EB0-BA342274613F}"/>
              </a:ext>
            </a:extLst>
          </p:cNvPr>
          <p:cNvSpPr txBox="1"/>
          <p:nvPr/>
        </p:nvSpPr>
        <p:spPr>
          <a:xfrm>
            <a:off x="1054100" y="338621"/>
            <a:ext cx="3396634" cy="578882"/>
          </a:xfrm>
          <a:prstGeom prst="round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fr-FR" sz="2800" dirty="0">
                <a:solidFill>
                  <a:schemeClr val="bg1"/>
                </a:solidFill>
              </a:rPr>
              <a:t>Project Progression:</a:t>
            </a:r>
          </a:p>
        </p:txBody>
      </p:sp>
    </p:spTree>
    <p:extLst>
      <p:ext uri="{BB962C8B-B14F-4D97-AF65-F5344CB8AC3E}">
        <p14:creationId xmlns:p14="http://schemas.microsoft.com/office/powerpoint/2010/main" val="273659313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718623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RÃ©sultat de recherche d'images pour &quot;diapo question&quot;">
            <a:extLst>
              <a:ext uri="{FF2B5EF4-FFF2-40B4-BE49-F238E27FC236}">
                <a16:creationId xmlns:a16="http://schemas.microsoft.com/office/drawing/2014/main" id="{2B75C0AF-C66B-492E-BABE-17E2270D20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12243" y="1809216"/>
            <a:ext cx="3303051" cy="37749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ZoneTexte 4">
            <a:extLst>
              <a:ext uri="{FF2B5EF4-FFF2-40B4-BE49-F238E27FC236}">
                <a16:creationId xmlns:a16="http://schemas.microsoft.com/office/drawing/2014/main" id="{D5489B66-E3E7-4D68-B7FE-CD8E02F86826}"/>
              </a:ext>
            </a:extLst>
          </p:cNvPr>
          <p:cNvSpPr txBox="1"/>
          <p:nvPr/>
        </p:nvSpPr>
        <p:spPr>
          <a:xfrm>
            <a:off x="2977979" y="586521"/>
            <a:ext cx="819252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40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badi" panose="020B0604020104020204" pitchFamily="34" charset="0"/>
              </a:rPr>
              <a:t>Thank</a:t>
            </a:r>
            <a:r>
              <a:rPr lang="fr-FR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badi" panose="020B0604020104020204" pitchFamily="34" charset="0"/>
              </a:rPr>
              <a:t> </a:t>
            </a:r>
            <a:r>
              <a:rPr lang="fr-FR" sz="40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badi" panose="020B0604020104020204" pitchFamily="34" charset="0"/>
              </a:rPr>
              <a:t>you</a:t>
            </a:r>
            <a:r>
              <a:rPr lang="fr-FR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badi" panose="020B0604020104020204" pitchFamily="34" charset="0"/>
              </a:rPr>
              <a:t> for </a:t>
            </a:r>
            <a:r>
              <a:rPr lang="fr-FR" sz="40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badi" panose="020B0604020104020204" pitchFamily="34" charset="0"/>
              </a:rPr>
              <a:t>your</a:t>
            </a:r>
            <a:r>
              <a:rPr lang="fr-FR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badi" panose="020B0604020104020204" pitchFamily="34" charset="0"/>
              </a:rPr>
              <a:t> attention !</a:t>
            </a: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AAC17DE1-59B4-4C1F-88B0-5B3887719FEF}"/>
              </a:ext>
            </a:extLst>
          </p:cNvPr>
          <p:cNvSpPr txBox="1"/>
          <p:nvPr/>
        </p:nvSpPr>
        <p:spPr>
          <a:xfrm>
            <a:off x="1235676" y="2988788"/>
            <a:ext cx="637656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badi" panose="020B0604020104020204" pitchFamily="34" charset="0"/>
              </a:rPr>
              <a:t>Do </a:t>
            </a:r>
            <a:r>
              <a:rPr lang="fr-FR" sz="40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badi" panose="020B0604020104020204" pitchFamily="34" charset="0"/>
              </a:rPr>
              <a:t>you</a:t>
            </a:r>
            <a:r>
              <a:rPr lang="fr-FR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badi" panose="020B0604020104020204" pitchFamily="34" charset="0"/>
              </a:rPr>
              <a:t> have </a:t>
            </a:r>
            <a:r>
              <a:rPr lang="fr-FR" sz="40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badi" panose="020B0604020104020204" pitchFamily="34" charset="0"/>
              </a:rPr>
              <a:t>any</a:t>
            </a:r>
            <a:r>
              <a:rPr lang="fr-FR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badi" panose="020B0604020104020204" pitchFamily="34" charset="0"/>
              </a:rPr>
              <a:t> questions ?</a:t>
            </a:r>
          </a:p>
        </p:txBody>
      </p:sp>
    </p:spTree>
    <p:extLst>
      <p:ext uri="{BB962C8B-B14F-4D97-AF65-F5344CB8AC3E}">
        <p14:creationId xmlns:p14="http://schemas.microsoft.com/office/powerpoint/2010/main" val="552812780"/>
      </p:ext>
    </p:extLst>
  </p:cSld>
  <p:clrMapOvr>
    <a:masterClrMapping/>
  </p:clrMapOvr>
</p:sld>
</file>

<file path=ppt/theme/theme1.xml><?xml version="1.0" encoding="utf-8"?>
<a:theme xmlns:a="http://schemas.openxmlformats.org/drawingml/2006/main" name="Cadrage">
  <a:themeElements>
    <a:clrScheme name="Cadrage">
      <a:dk1>
        <a:sysClr val="windowText" lastClr="000000"/>
      </a:dk1>
      <a:lt1>
        <a:sysClr val="window" lastClr="FFFFFF"/>
      </a:lt1>
      <a:dk2>
        <a:srgbClr val="191B0E"/>
      </a:dk2>
      <a:lt2>
        <a:srgbClr val="EFEDE3"/>
      </a:lt2>
      <a:accent1>
        <a:srgbClr val="8C8D86"/>
      </a:accent1>
      <a:accent2>
        <a:srgbClr val="E6C069"/>
      </a:accent2>
      <a:accent3>
        <a:srgbClr val="897B61"/>
      </a:accent3>
      <a:accent4>
        <a:srgbClr val="8DAB8E"/>
      </a:accent4>
      <a:accent5>
        <a:srgbClr val="77A2BB"/>
      </a:accent5>
      <a:accent6>
        <a:srgbClr val="E28394"/>
      </a:accent6>
      <a:hlink>
        <a:srgbClr val="77A2BB"/>
      </a:hlink>
      <a:folHlink>
        <a:srgbClr val="957A99"/>
      </a:folHlink>
    </a:clrScheme>
    <a:fontScheme name="Cadrage">
      <a:maj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Cadrag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in">
          <a:solidFill>
            <a:schemeClr val="phClr"/>
          </a:solidFill>
          <a:prstDash val="solid"/>
        </a:ln>
        <a:ln w="34925" cap="flat" cmpd="sng" algn="in">
          <a:solidFill>
            <a:schemeClr val="phClr"/>
          </a:solidFill>
          <a:prstDash val="solid"/>
        </a:ln>
        <a:ln w="19050" cap="flat" cmpd="sng" algn="in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rop" id="{EC9488ED-E761-4D60-9AC4-764D1FE2C171}" vid="{CE19780C-D67D-4C13-9DE9-A52BC3BA51B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TM10001105[[fn=Rogner]]</Template>
  <TotalTime>877</TotalTime>
  <Words>157</Words>
  <Application>Microsoft Office PowerPoint</Application>
  <PresentationFormat>Grand écran</PresentationFormat>
  <Paragraphs>65</Paragraphs>
  <Slides>13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13</vt:i4>
      </vt:variant>
    </vt:vector>
  </HeadingPairs>
  <TitlesOfParts>
    <vt:vector size="18" baseType="lpstr">
      <vt:lpstr>Abadi</vt:lpstr>
      <vt:lpstr>Arial</vt:lpstr>
      <vt:lpstr>Bell MT</vt:lpstr>
      <vt:lpstr>Franklin Gothic Book</vt:lpstr>
      <vt:lpstr>Cadrage</vt:lpstr>
      <vt:lpstr>NI Robotic Contest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NI Robotic Contest</dc:title>
  <dc:creator>Florian GUIGAL</dc:creator>
  <cp:lastModifiedBy>Florian GUIGAL</cp:lastModifiedBy>
  <cp:revision>44</cp:revision>
  <dcterms:created xsi:type="dcterms:W3CDTF">2019-05-21T11:52:05Z</dcterms:created>
  <dcterms:modified xsi:type="dcterms:W3CDTF">2019-05-22T17:24:15Z</dcterms:modified>
</cp:coreProperties>
</file>