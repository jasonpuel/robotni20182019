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  <p:sldMasterId id="2147483928" r:id="rId2"/>
    <p:sldMasterId id="2147483940" r:id="rId3"/>
  </p:sldMasterIdLst>
  <p:notesMasterIdLst>
    <p:notesMasterId r:id="rId23"/>
  </p:notesMasterIdLst>
  <p:sldIdLst>
    <p:sldId id="256" r:id="rId4"/>
    <p:sldId id="257" r:id="rId5"/>
    <p:sldId id="258" r:id="rId6"/>
    <p:sldId id="262" r:id="rId7"/>
    <p:sldId id="259" r:id="rId8"/>
    <p:sldId id="260" r:id="rId9"/>
    <p:sldId id="263" r:id="rId10"/>
    <p:sldId id="289" r:id="rId11"/>
    <p:sldId id="286" r:id="rId12"/>
    <p:sldId id="287" r:id="rId13"/>
    <p:sldId id="288" r:id="rId14"/>
    <p:sldId id="265" r:id="rId15"/>
    <p:sldId id="267" r:id="rId16"/>
    <p:sldId id="264" r:id="rId17"/>
    <p:sldId id="266" r:id="rId18"/>
    <p:sldId id="269" r:id="rId19"/>
    <p:sldId id="270" r:id="rId20"/>
    <p:sldId id="271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F00"/>
    <a:srgbClr val="4BCAAD"/>
    <a:srgbClr val="CD0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03463-72F1-42ED-88A2-9A79D1BF7486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DAFCF-808A-4F65-9338-D2674405AAB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5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04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04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57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74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8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1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02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131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05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36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1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662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760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576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040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2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5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030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5973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297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22986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7604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93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2914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4643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73011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9631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358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7719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5020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6813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6267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117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39037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3616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3634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673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45907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24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71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117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EE6EC86-2ADF-4E55-A9C2-BA0EAE0D8193}" type="datetimeFigureOut">
              <a:rPr lang="fr-FR" smtClean="0"/>
              <a:pPr/>
              <a:t>20/05/2018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46212CA-EB77-46A8-AF3C-5D3F51837EC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84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4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5.png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6.pn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584E030-4135-47F7-B60C-F827CBC1F04E}"/>
              </a:ext>
            </a:extLst>
          </p:cNvPr>
          <p:cNvSpPr txBox="1"/>
          <p:nvPr/>
        </p:nvSpPr>
        <p:spPr>
          <a:xfrm>
            <a:off x="1315450" y="2791327"/>
            <a:ext cx="639925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000" b="1" dirty="0">
                <a:latin typeface="Bell MT" panose="02020503060305020303" pitchFamily="18" charset="0"/>
              </a:rPr>
              <a:t>NI </a:t>
            </a:r>
            <a:r>
              <a:rPr lang="fr-FR" sz="6000" b="1" dirty="0" err="1">
                <a:latin typeface="Bell MT" panose="02020503060305020303" pitchFamily="18" charset="0"/>
              </a:rPr>
              <a:t>robotic</a:t>
            </a:r>
            <a:r>
              <a:rPr lang="fr-FR" sz="6000" b="1" dirty="0">
                <a:latin typeface="Bell MT" panose="02020503060305020303" pitchFamily="18" charset="0"/>
              </a:rPr>
              <a:t> </a:t>
            </a:r>
            <a:r>
              <a:rPr lang="fr-FR" sz="6000" b="1" dirty="0" err="1">
                <a:latin typeface="Bell MT" panose="02020503060305020303" pitchFamily="18" charset="0"/>
              </a:rPr>
              <a:t>contest</a:t>
            </a:r>
            <a:endParaRPr lang="fr-FR" sz="6000" b="1" dirty="0">
              <a:latin typeface="Bell MT" panose="02020503060305020303" pitchFamily="18" charset="0"/>
            </a:endParaRPr>
          </a:p>
          <a:p>
            <a:r>
              <a:rPr lang="fr-FR" sz="3200" dirty="0">
                <a:latin typeface="Bell MT" panose="02020503060305020303" pitchFamily="18" charset="0"/>
              </a:rPr>
              <a:t>National Instrument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893759-C7D8-4392-8B01-DDC583F415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6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978C873-23C1-4BE5-B0AB-35255B6DE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599F442-B252-428E-BA93-4E4402D28602}"/>
              </a:ext>
            </a:extLst>
          </p:cNvPr>
          <p:cNvSpPr txBox="1"/>
          <p:nvPr/>
        </p:nvSpPr>
        <p:spPr>
          <a:xfrm flipH="1">
            <a:off x="1714098" y="1860884"/>
            <a:ext cx="74299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Summary</a:t>
            </a:r>
            <a:endParaRPr lang="fr-FR" sz="2400" dirty="0">
              <a:latin typeface="Bell MT" panose="02020503060305020303" pitchFamily="18" charset="0"/>
            </a:endParaRPr>
          </a:p>
          <a:p>
            <a:endParaRPr lang="fr-FR" dirty="0">
              <a:latin typeface="Bell MT" panose="02020503060305020303" pitchFamily="18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Bell MT" panose="02020503060305020303" pitchFamily="18" charset="0"/>
              </a:rPr>
              <a:t>The team</a:t>
            </a:r>
          </a:p>
          <a:p>
            <a:pPr marL="342900" indent="-342900">
              <a:buAutoNum type="arabicPeriod"/>
            </a:pPr>
            <a:r>
              <a:rPr lang="fr-FR" dirty="0">
                <a:latin typeface="Bell MT" panose="02020503060305020303" pitchFamily="18" charset="0"/>
              </a:rPr>
              <a:t>The </a:t>
            </a:r>
            <a:r>
              <a:rPr lang="fr-FR" dirty="0" err="1">
                <a:latin typeface="Bell MT" panose="02020503060305020303" pitchFamily="18" charset="0"/>
              </a:rPr>
              <a:t>competiton</a:t>
            </a:r>
            <a:endParaRPr lang="fr-FR" dirty="0">
              <a:latin typeface="Bell MT" panose="02020503060305020303" pitchFamily="18" charset="0"/>
            </a:endParaRPr>
          </a:p>
          <a:p>
            <a:pPr marL="342900" indent="-342900">
              <a:buAutoNum type="arabicPeriod"/>
            </a:pPr>
            <a:r>
              <a:rPr lang="fr-FR" dirty="0" err="1">
                <a:latin typeface="Bell MT" panose="02020503060305020303" pitchFamily="18" charset="0"/>
              </a:rPr>
              <a:t>Context</a:t>
            </a:r>
            <a:endParaRPr lang="fr-FR" dirty="0">
              <a:latin typeface="Bell MT" panose="02020503060305020303" pitchFamily="18" charset="0"/>
            </a:endParaRPr>
          </a:p>
          <a:p>
            <a:pPr marL="342900" indent="-342900">
              <a:buAutoNum type="arabicPeriod"/>
            </a:pPr>
            <a:r>
              <a:rPr lang="fr-FR" dirty="0">
                <a:latin typeface="Bell MT" panose="02020503060305020303" pitchFamily="18" charset="0"/>
              </a:rPr>
              <a:t>Aim</a:t>
            </a:r>
          </a:p>
          <a:p>
            <a:pPr marL="342900" indent="-342900">
              <a:buAutoNum type="arabicPeriod"/>
            </a:pPr>
            <a:r>
              <a:rPr lang="fr-FR" dirty="0">
                <a:latin typeface="Bell MT" panose="02020503060305020303" pitchFamily="18" charset="0"/>
              </a:rPr>
              <a:t>Architecture</a:t>
            </a:r>
          </a:p>
          <a:p>
            <a:pPr marL="342900" indent="-342900">
              <a:buAutoNum type="arabicPeriod"/>
            </a:pPr>
            <a:r>
              <a:rPr lang="fr-FR" dirty="0">
                <a:latin typeface="Bell MT" panose="02020503060305020303" pitchFamily="18" charset="0"/>
              </a:rPr>
              <a:t>Prototypes</a:t>
            </a:r>
          </a:p>
          <a:p>
            <a:pPr marL="342900" indent="-342900">
              <a:buAutoNum type="arabicPeriod"/>
            </a:pPr>
            <a:r>
              <a:rPr lang="fr-FR" dirty="0" err="1">
                <a:latin typeface="Bell MT" panose="02020503060305020303" pitchFamily="18" charset="0"/>
              </a:rPr>
              <a:t>Achevment</a:t>
            </a:r>
            <a:r>
              <a:rPr lang="fr-FR" dirty="0">
                <a:latin typeface="Bell MT" panose="02020503060305020303" pitchFamily="18" charset="0"/>
              </a:rPr>
              <a:t> of the </a:t>
            </a:r>
            <a:r>
              <a:rPr lang="fr-FR" dirty="0" err="1">
                <a:latin typeface="Bell MT" panose="02020503060305020303" pitchFamily="18" charset="0"/>
              </a:rPr>
              <a:t>project</a:t>
            </a:r>
            <a:endParaRPr lang="fr-FR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00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4DCF05-07FD-4504-AB4F-3FBC354FF7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7DD3305-6715-437A-B1CD-99D934DB077C}"/>
              </a:ext>
            </a:extLst>
          </p:cNvPr>
          <p:cNvSpPr txBox="1"/>
          <p:nvPr/>
        </p:nvSpPr>
        <p:spPr>
          <a:xfrm>
            <a:off x="1878388" y="1267326"/>
            <a:ext cx="2183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1. The team</a:t>
            </a:r>
          </a:p>
        </p:txBody>
      </p:sp>
      <p:pic>
        <p:nvPicPr>
          <p:cNvPr id="6" name="Picture 2" descr="C:\Users\Melanie\Downloads\IMG_20171218_104559.jpg">
            <a:extLst>
              <a:ext uri="{FF2B5EF4-FFF2-40B4-BE49-F238E27FC236}">
                <a16:creationId xmlns:a16="http://schemas.microsoft.com/office/drawing/2014/main" id="{938E8635-849B-489A-97DE-9F1887500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46" y="1852101"/>
            <a:ext cx="7024979" cy="460660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488B30C-8257-4948-8396-662A51613FA1}"/>
              </a:ext>
            </a:extLst>
          </p:cNvPr>
          <p:cNvSpPr txBox="1"/>
          <p:nvPr/>
        </p:nvSpPr>
        <p:spPr>
          <a:xfrm>
            <a:off x="8538050" y="2631908"/>
            <a:ext cx="365394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 err="1">
                <a:latin typeface="Bell MT" panose="02020503060305020303" pitchFamily="18" charset="0"/>
              </a:rPr>
              <a:t>From</a:t>
            </a:r>
            <a:r>
              <a:rPr lang="fr-FR" sz="2400" u="sng" dirty="0">
                <a:latin typeface="Bell MT" panose="02020503060305020303" pitchFamily="18" charset="0"/>
              </a:rPr>
              <a:t> </a:t>
            </a:r>
            <a:r>
              <a:rPr lang="fr-FR" sz="2400" u="sng" dirty="0" err="1">
                <a:latin typeface="Bell MT" panose="02020503060305020303" pitchFamily="18" charset="0"/>
              </a:rPr>
              <a:t>Left</a:t>
            </a:r>
            <a:r>
              <a:rPr lang="fr-FR" sz="2400" u="sng" dirty="0">
                <a:latin typeface="Bell MT" panose="02020503060305020303" pitchFamily="18" charset="0"/>
              </a:rPr>
              <a:t> to Right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Damien LEVIEZ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Anthony KRINGS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Corentin MAROLLEAU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Mélanie BRULC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Matthieu REYMOND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Nicolas COURT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Adrien MOJIKA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A43442-4300-4E84-A925-301DD5CE5718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</a:rPr>
              <a:t>1.The team </a:t>
            </a:r>
            <a:r>
              <a:rPr lang="fr-FR" sz="2000" dirty="0"/>
              <a:t>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6.Prototypes 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51811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7B5511F-C889-4EAD-9A19-F8BF9C2AE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A9D4552-3226-425F-8199-6C950EF57FA4}"/>
              </a:ext>
            </a:extLst>
          </p:cNvPr>
          <p:cNvSpPr txBox="1"/>
          <p:nvPr/>
        </p:nvSpPr>
        <p:spPr>
          <a:xfrm>
            <a:off x="1016678" y="945663"/>
            <a:ext cx="3355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2. The </a:t>
            </a:r>
            <a:r>
              <a:rPr lang="fr-FR" sz="3200" u="sng" dirty="0" err="1">
                <a:latin typeface="Bell MT" panose="02020503060305020303" pitchFamily="18" charset="0"/>
              </a:rPr>
              <a:t>competition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50E3C85-7FF4-41EB-83EB-A1DA31EEED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765" y="3945396"/>
            <a:ext cx="3515359" cy="263651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53A5869-BB58-48BA-85D5-3C06DE43A4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446" y="1195043"/>
            <a:ext cx="4115666" cy="227224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62AE65C-4C48-4F15-AC04-7C8EE0EBC7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89" y="1571640"/>
            <a:ext cx="4369076" cy="291516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B03D9C0-9304-4489-A7C5-0F98160A26B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842" y="4863402"/>
            <a:ext cx="3226484" cy="174552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32D2316-E902-4F74-8481-C55CB447A4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834" y="2345517"/>
            <a:ext cx="5313529" cy="29967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7ECA0C-A7CD-4B68-A4C3-A9FBE89D16CE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</a:t>
            </a:r>
            <a:r>
              <a:rPr lang="fr-FR" sz="2000" dirty="0">
                <a:solidFill>
                  <a:schemeClr val="tx1"/>
                </a:solidFill>
              </a:rPr>
              <a:t>2.The </a:t>
            </a:r>
            <a:r>
              <a:rPr lang="fr-FR" sz="2000" dirty="0" err="1">
                <a:solidFill>
                  <a:schemeClr val="tx1"/>
                </a:solidFill>
              </a:rPr>
              <a:t>competition</a:t>
            </a:r>
            <a:r>
              <a:rPr lang="fr-FR" sz="2000" dirty="0">
                <a:solidFill>
                  <a:schemeClr val="tx1"/>
                </a:solidFill>
              </a:rPr>
              <a:t> </a:t>
            </a:r>
            <a:r>
              <a:rPr lang="fr-FR" sz="2000" dirty="0"/>
              <a:t>3.Context 4.Aim 5.Architecture 6.Prototypes 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149957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040EB61-F3EB-4C77-8294-C3FF06BB45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9E36871-666A-4881-BFA4-7F19EA28C53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296008" y="554703"/>
            <a:ext cx="3908295" cy="69577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D2A2799-1D19-4CBC-8102-F1B870B8EAF8}"/>
              </a:ext>
            </a:extLst>
          </p:cNvPr>
          <p:cNvSpPr txBox="1"/>
          <p:nvPr/>
        </p:nvSpPr>
        <p:spPr>
          <a:xfrm>
            <a:off x="1016678" y="945663"/>
            <a:ext cx="1949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3. </a:t>
            </a:r>
            <a:r>
              <a:rPr lang="fr-FR" sz="3200" u="sng" dirty="0" err="1">
                <a:latin typeface="Bell MT" panose="02020503060305020303" pitchFamily="18" charset="0"/>
              </a:rPr>
              <a:t>Context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137B30-524D-470A-9E86-7D67AAE27450}"/>
              </a:ext>
            </a:extLst>
          </p:cNvPr>
          <p:cNvSpPr txBox="1"/>
          <p:nvPr/>
        </p:nvSpPr>
        <p:spPr>
          <a:xfrm>
            <a:off x="10776553" y="2735974"/>
            <a:ext cx="1050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Target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D2FA313-0DD4-46C3-939A-68DFD81F67F8}"/>
              </a:ext>
            </a:extLst>
          </p:cNvPr>
          <p:cNvSpPr txBox="1"/>
          <p:nvPr/>
        </p:nvSpPr>
        <p:spPr>
          <a:xfrm>
            <a:off x="418913" y="3851453"/>
            <a:ext cx="1390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4 </a:t>
            </a:r>
            <a:r>
              <a:rPr lang="fr-FR" sz="2400" dirty="0" err="1">
                <a:latin typeface="Bell MT" panose="02020503060305020303" pitchFamily="18" charset="0"/>
              </a:rPr>
              <a:t>Buckets</a:t>
            </a:r>
            <a:endParaRPr lang="fr-FR" sz="2400" dirty="0">
              <a:latin typeface="Bell MT" panose="02020503060305020303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2B77395-16B7-4701-8D84-3EC7B976AA15}"/>
              </a:ext>
            </a:extLst>
          </p:cNvPr>
          <p:cNvSpPr txBox="1"/>
          <p:nvPr/>
        </p:nvSpPr>
        <p:spPr>
          <a:xfrm>
            <a:off x="6009629" y="6263125"/>
            <a:ext cx="1110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6 </a:t>
            </a:r>
            <a:r>
              <a:rPr lang="fr-FR" sz="2400" dirty="0" err="1">
                <a:latin typeface="Bell MT" panose="02020503060305020303" pitchFamily="18" charset="0"/>
              </a:rPr>
              <a:t>Flaps</a:t>
            </a:r>
            <a:endParaRPr lang="fr-FR" sz="2400" dirty="0">
              <a:latin typeface="Bell MT" panose="02020503060305020303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0051140-910E-4CAA-98A3-350172F0D964}"/>
              </a:ext>
            </a:extLst>
          </p:cNvPr>
          <p:cNvSpPr txBox="1"/>
          <p:nvPr/>
        </p:nvSpPr>
        <p:spPr>
          <a:xfrm>
            <a:off x="223791" y="2079426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Ball </a:t>
            </a:r>
            <a:r>
              <a:rPr lang="fr-FR" sz="2400" dirty="0" err="1">
                <a:latin typeface="Bell MT" panose="02020503060305020303" pitchFamily="18" charset="0"/>
              </a:rPr>
              <a:t>reception</a:t>
            </a:r>
            <a:r>
              <a:rPr lang="fr-FR" sz="2400" dirty="0">
                <a:latin typeface="Bell MT" panose="02020503060305020303" pitchFamily="18" charset="0"/>
              </a:rPr>
              <a:t> area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669A165-D435-4734-9D18-6BAA789B9479}"/>
              </a:ext>
            </a:extLst>
          </p:cNvPr>
          <p:cNvSpPr txBox="1"/>
          <p:nvPr/>
        </p:nvSpPr>
        <p:spPr>
          <a:xfrm>
            <a:off x="5575039" y="1368238"/>
            <a:ext cx="832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Bell MT" panose="02020503060305020303" pitchFamily="18" charset="0"/>
              </a:rPr>
              <a:t>Field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68A2F62-C99D-45D5-9507-4B41C413C029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91179" y="1829903"/>
            <a:ext cx="465332" cy="184294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A09617EC-4374-4ED7-BCC9-74F93741B9E2}"/>
              </a:ext>
            </a:extLst>
          </p:cNvPr>
          <p:cNvCxnSpPr/>
          <p:nvPr/>
        </p:nvCxnSpPr>
        <p:spPr>
          <a:xfrm flipH="1">
            <a:off x="9729027" y="3197639"/>
            <a:ext cx="858763" cy="22564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ABC3536-530F-4F22-8A1E-83745B044C6B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565102" y="5318620"/>
            <a:ext cx="2797012" cy="94450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FC471FA-AD06-4BE5-AE1A-1E499FD276E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565102" y="5318620"/>
            <a:ext cx="1287221" cy="94450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A420A87-8A2C-4D06-A846-92B41E8E88EE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6009629" y="5247211"/>
            <a:ext cx="555473" cy="101591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FFDCC1B-0D48-4C63-830F-936FEDCCE394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809807" y="3348984"/>
            <a:ext cx="789015" cy="73330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7DC670C-15C1-463F-A911-EC046279625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809807" y="3664294"/>
            <a:ext cx="789015" cy="41799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987FC20-76B4-404B-BD60-4F6816C12EB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809807" y="4082286"/>
            <a:ext cx="789015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3CAAAE5E-0D96-4985-A4EB-9557CB884A1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809807" y="4082286"/>
            <a:ext cx="789015" cy="19680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90DD114A-5D59-485D-A195-B758D9CA222A}"/>
              </a:ext>
            </a:extLst>
          </p:cNvPr>
          <p:cNvCxnSpPr>
            <a:cxnSpLocks/>
          </p:cNvCxnSpPr>
          <p:nvPr/>
        </p:nvCxnSpPr>
        <p:spPr>
          <a:xfrm>
            <a:off x="2598822" y="2541091"/>
            <a:ext cx="966604" cy="19488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B0D0302-3AFA-49C6-ACBB-A3F8106B0F18}"/>
              </a:ext>
            </a:extLst>
          </p:cNvPr>
          <p:cNvSpPr txBox="1"/>
          <p:nvPr/>
        </p:nvSpPr>
        <p:spPr>
          <a:xfrm>
            <a:off x="2966058" y="949519"/>
            <a:ext cx="1292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solidFill>
                  <a:srgbClr val="FF0000"/>
                </a:solidFill>
                <a:latin typeface="Bell MT" panose="02020503060305020303" pitchFamily="18" charset="0"/>
              </a:rPr>
              <a:t>4. Aim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85DB9F-AF0A-4711-B502-24954E44DB1E}"/>
              </a:ext>
            </a:extLst>
          </p:cNvPr>
          <p:cNvSpPr/>
          <p:nvPr/>
        </p:nvSpPr>
        <p:spPr>
          <a:xfrm>
            <a:off x="29612" y="2517987"/>
            <a:ext cx="29043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Sorter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according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to</a:t>
            </a:r>
          </a:p>
          <a:p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the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color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of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each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ball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5E1106-23C4-43D3-86A1-9A4B87521A12}"/>
              </a:ext>
            </a:extLst>
          </p:cNvPr>
          <p:cNvSpPr/>
          <p:nvPr/>
        </p:nvSpPr>
        <p:spPr>
          <a:xfrm>
            <a:off x="455266" y="4390942"/>
            <a:ext cx="16482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Bell MT" panose="02020503060305020303" pitchFamily="18" charset="0"/>
              </a:rPr>
              <a:t>Arm to clap ball into bucket</a:t>
            </a:r>
            <a:endParaRPr lang="fr-FR" sz="2400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7B2BB76-A44B-4767-90BB-A3BE5FE49C86}"/>
              </a:ext>
            </a:extLst>
          </p:cNvPr>
          <p:cNvSpPr txBox="1"/>
          <p:nvPr/>
        </p:nvSpPr>
        <p:spPr>
          <a:xfrm>
            <a:off x="730427" y="6389520"/>
            <a:ext cx="5279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Extension of the robot to close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each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flap</a:t>
            </a:r>
            <a:endParaRPr lang="fr-FR" sz="2400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0422F37-1701-4EAD-8460-F11CF807C6DB}"/>
              </a:ext>
            </a:extLst>
          </p:cNvPr>
          <p:cNvSpPr txBox="1"/>
          <p:nvPr/>
        </p:nvSpPr>
        <p:spPr>
          <a:xfrm>
            <a:off x="10675309" y="3348984"/>
            <a:ext cx="15166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Ball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thrower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with</a:t>
            </a:r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viewfinder</a:t>
            </a:r>
            <a:endParaRPr lang="fr-FR" sz="2400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6C3E8879-7009-4443-84D5-3E04EEC516F0}"/>
              </a:ext>
            </a:extLst>
          </p:cNvPr>
          <p:cNvSpPr txBox="1"/>
          <p:nvPr/>
        </p:nvSpPr>
        <p:spPr>
          <a:xfrm>
            <a:off x="6392022" y="1342358"/>
            <a:ext cx="5641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Bell MT" panose="02020503060305020303" pitchFamily="18" charset="0"/>
              </a:rPr>
              <a:t>Line follower to move the robot on the </a:t>
            </a:r>
            <a:r>
              <a:rPr lang="fr-FR" sz="2400" dirty="0" err="1">
                <a:solidFill>
                  <a:srgbClr val="FF0000"/>
                </a:solidFill>
                <a:latin typeface="Bell MT" panose="02020503060305020303" pitchFamily="18" charset="0"/>
              </a:rPr>
              <a:t>field</a:t>
            </a:r>
            <a:endParaRPr lang="fr-FR" sz="2400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150F01-36C2-4300-8D88-AA18CA43A141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</a:t>
            </a:r>
            <a:r>
              <a:rPr lang="fr-FR" sz="2000" dirty="0">
                <a:solidFill>
                  <a:schemeClr val="tx1"/>
                </a:solidFill>
              </a:rPr>
              <a:t>3.Context 4.Aim </a:t>
            </a:r>
            <a:r>
              <a:rPr lang="fr-FR" sz="2000" dirty="0"/>
              <a:t>5.Architecture 6.Prototypes 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53209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  <p:bldP spid="8" grpId="0"/>
      <p:bldP spid="9" grpId="0"/>
      <p:bldP spid="39" grpId="0"/>
      <p:bldP spid="40" grpId="0"/>
      <p:bldP spid="50" grpId="0"/>
      <p:bldP spid="52" grpId="0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366BC3C-996F-4AD1-A72B-EC60B8D6CD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2481BE1-D0F9-409B-B85D-66851CD6A87C}"/>
              </a:ext>
            </a:extLst>
          </p:cNvPr>
          <p:cNvSpPr txBox="1"/>
          <p:nvPr/>
        </p:nvSpPr>
        <p:spPr>
          <a:xfrm>
            <a:off x="1016678" y="945663"/>
            <a:ext cx="3944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5.1 </a:t>
            </a:r>
            <a:r>
              <a:rPr lang="fr-FR" sz="3200" u="sng" dirty="0" err="1">
                <a:latin typeface="Bell MT" panose="02020503060305020303" pitchFamily="18" charset="0"/>
              </a:rPr>
              <a:t>Static</a:t>
            </a:r>
            <a:r>
              <a:rPr lang="fr-FR" sz="3200" u="sng" dirty="0">
                <a:latin typeface="Bell MT" panose="02020503060305020303" pitchFamily="18" charset="0"/>
              </a:rPr>
              <a:t> Architecture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5B5BC2-9FD9-407C-B90F-3B5E685440FA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</a:t>
            </a:r>
            <a:r>
              <a:rPr lang="fr-FR" sz="2000" dirty="0">
                <a:solidFill>
                  <a:schemeClr val="tx1"/>
                </a:solidFill>
              </a:rPr>
              <a:t>5.Architecture </a:t>
            </a:r>
            <a:r>
              <a:rPr lang="fr-FR" sz="2000" dirty="0"/>
              <a:t>6.Prototypes 7.Achevment 8.Video</a:t>
            </a:r>
          </a:p>
        </p:txBody>
      </p:sp>
      <p:sp>
        <p:nvSpPr>
          <p:cNvPr id="129" name="Espace réservé du numéro de diapositive 3">
            <a:extLst>
              <a:ext uri="{FF2B5EF4-FFF2-40B4-BE49-F238E27FC236}">
                <a16:creationId xmlns:a16="http://schemas.microsoft.com/office/drawing/2014/main" id="{95C18B12-EF35-468E-88A6-74D1B57C4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6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30" name="Image 129">
            <a:extLst>
              <a:ext uri="{FF2B5EF4-FFF2-40B4-BE49-F238E27FC236}">
                <a16:creationId xmlns:a16="http://schemas.microsoft.com/office/drawing/2014/main" id="{37951C31-2CE2-46B6-97B4-79A2F335A5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32" name="Rectangle : coins arrondis 131">
            <a:extLst>
              <a:ext uri="{FF2B5EF4-FFF2-40B4-BE49-F238E27FC236}">
                <a16:creationId xmlns:a16="http://schemas.microsoft.com/office/drawing/2014/main" id="{D8F7D0FE-5C97-4387-A82B-A989F1533532}"/>
              </a:ext>
            </a:extLst>
          </p:cNvPr>
          <p:cNvSpPr/>
          <p:nvPr/>
        </p:nvSpPr>
        <p:spPr>
          <a:xfrm>
            <a:off x="1413774" y="3816634"/>
            <a:ext cx="2138581" cy="1676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546C98A0-0026-44CA-AB7F-5BA7DF4F56A5}"/>
              </a:ext>
            </a:extLst>
          </p:cNvPr>
          <p:cNvSpPr/>
          <p:nvPr/>
        </p:nvSpPr>
        <p:spPr>
          <a:xfrm>
            <a:off x="1631140" y="4907257"/>
            <a:ext cx="1653536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 Motors</a:t>
            </a:r>
          </a:p>
        </p:txBody>
      </p:sp>
      <p:sp>
        <p:nvSpPr>
          <p:cNvPr id="134" name="Rectangle : coins arrondis 133">
            <a:extLst>
              <a:ext uri="{FF2B5EF4-FFF2-40B4-BE49-F238E27FC236}">
                <a16:creationId xmlns:a16="http://schemas.microsoft.com/office/drawing/2014/main" id="{C4AA3ED7-2B02-4DFC-9FC5-56C699C3ED91}"/>
              </a:ext>
            </a:extLst>
          </p:cNvPr>
          <p:cNvSpPr/>
          <p:nvPr/>
        </p:nvSpPr>
        <p:spPr>
          <a:xfrm>
            <a:off x="4789981" y="5806840"/>
            <a:ext cx="1346599" cy="77220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MyRio</a:t>
            </a:r>
            <a:endParaRPr lang="fr-FR" dirty="0"/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9F218A46-6799-4E98-9FAC-7D5EFEED4663}"/>
              </a:ext>
            </a:extLst>
          </p:cNvPr>
          <p:cNvSpPr/>
          <p:nvPr/>
        </p:nvSpPr>
        <p:spPr>
          <a:xfrm>
            <a:off x="1266350" y="2142650"/>
            <a:ext cx="2288332" cy="11597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Rectangle : coins arrondis 135">
            <a:extLst>
              <a:ext uri="{FF2B5EF4-FFF2-40B4-BE49-F238E27FC236}">
                <a16:creationId xmlns:a16="http://schemas.microsoft.com/office/drawing/2014/main" id="{411E7228-5B8E-4C4E-8896-2300702FE373}"/>
              </a:ext>
            </a:extLst>
          </p:cNvPr>
          <p:cNvSpPr/>
          <p:nvPr/>
        </p:nvSpPr>
        <p:spPr>
          <a:xfrm>
            <a:off x="1491747" y="2656902"/>
            <a:ext cx="1695549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 photodiodes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987EBAF3-C1D7-48EE-9A5A-A1386F3C2952}"/>
              </a:ext>
            </a:extLst>
          </p:cNvPr>
          <p:cNvSpPr txBox="1"/>
          <p:nvPr/>
        </p:nvSpPr>
        <p:spPr>
          <a:xfrm>
            <a:off x="1535374" y="2151270"/>
            <a:ext cx="160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Line Follower</a:t>
            </a:r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0275C63D-EC05-48C4-9C97-69379134AF6D}"/>
              </a:ext>
            </a:extLst>
          </p:cNvPr>
          <p:cNvSpPr/>
          <p:nvPr/>
        </p:nvSpPr>
        <p:spPr>
          <a:xfrm>
            <a:off x="7588725" y="1603699"/>
            <a:ext cx="2456080" cy="11597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23C46B40-0848-4571-A211-C59BBE06C9CC}"/>
              </a:ext>
            </a:extLst>
          </p:cNvPr>
          <p:cNvSpPr/>
          <p:nvPr/>
        </p:nvSpPr>
        <p:spPr>
          <a:xfrm>
            <a:off x="7975402" y="2190630"/>
            <a:ext cx="1532891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</a:t>
            </a:r>
            <a:r>
              <a:rPr lang="fr-FR" dirty="0" err="1"/>
              <a:t>Motor</a:t>
            </a:r>
            <a:endParaRPr lang="fr-FR" dirty="0"/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1A5C962C-94FC-4E57-B527-515EA936A506}"/>
              </a:ext>
            </a:extLst>
          </p:cNvPr>
          <p:cNvSpPr txBox="1"/>
          <p:nvPr/>
        </p:nvSpPr>
        <p:spPr>
          <a:xfrm>
            <a:off x="7588725" y="1628392"/>
            <a:ext cx="241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Smasher + </a:t>
            </a:r>
            <a:r>
              <a:rPr lang="fr-FR" dirty="0" err="1"/>
              <a:t>Closing</a:t>
            </a:r>
            <a:r>
              <a:rPr lang="fr-FR" dirty="0"/>
              <a:t> </a:t>
            </a:r>
            <a:r>
              <a:rPr lang="fr-FR" dirty="0" err="1"/>
              <a:t>Flaps</a:t>
            </a:r>
            <a:endParaRPr lang="fr-FR" dirty="0"/>
          </a:p>
        </p:txBody>
      </p:sp>
      <p:sp>
        <p:nvSpPr>
          <p:cNvPr id="141" name="Rectangle : coins arrondis 140">
            <a:extLst>
              <a:ext uri="{FF2B5EF4-FFF2-40B4-BE49-F238E27FC236}">
                <a16:creationId xmlns:a16="http://schemas.microsoft.com/office/drawing/2014/main" id="{8A820E58-009A-49A0-B4F6-2B3D09DA846E}"/>
              </a:ext>
            </a:extLst>
          </p:cNvPr>
          <p:cNvSpPr/>
          <p:nvPr/>
        </p:nvSpPr>
        <p:spPr>
          <a:xfrm>
            <a:off x="1631140" y="4428535"/>
            <a:ext cx="1653536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photodiode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9F2DE603-AB2C-4670-8464-DB8C96EB22F4}"/>
              </a:ext>
            </a:extLst>
          </p:cNvPr>
          <p:cNvSpPr txBox="1"/>
          <p:nvPr/>
        </p:nvSpPr>
        <p:spPr>
          <a:xfrm>
            <a:off x="1592760" y="3957675"/>
            <a:ext cx="199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balls</a:t>
            </a:r>
            <a:r>
              <a:rPr lang="fr-FR" dirty="0"/>
              <a:t> </a:t>
            </a:r>
            <a:r>
              <a:rPr lang="fr-FR" dirty="0" err="1"/>
              <a:t>sorter</a:t>
            </a:r>
            <a:endParaRPr lang="fr-FR" dirty="0"/>
          </a:p>
        </p:txBody>
      </p:sp>
      <p:sp>
        <p:nvSpPr>
          <p:cNvPr id="143" name="Rectangle : coins arrondis 142">
            <a:extLst>
              <a:ext uri="{FF2B5EF4-FFF2-40B4-BE49-F238E27FC236}">
                <a16:creationId xmlns:a16="http://schemas.microsoft.com/office/drawing/2014/main" id="{8783C166-C224-453B-A617-03AB73429956}"/>
              </a:ext>
            </a:extLst>
          </p:cNvPr>
          <p:cNvSpPr/>
          <p:nvPr/>
        </p:nvSpPr>
        <p:spPr>
          <a:xfrm>
            <a:off x="7532388" y="5060878"/>
            <a:ext cx="2288332" cy="11597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 : coins arrondis 143">
            <a:extLst>
              <a:ext uri="{FF2B5EF4-FFF2-40B4-BE49-F238E27FC236}">
                <a16:creationId xmlns:a16="http://schemas.microsoft.com/office/drawing/2014/main" id="{D7572738-65B3-4CAC-816A-026DAAEA9319}"/>
              </a:ext>
            </a:extLst>
          </p:cNvPr>
          <p:cNvSpPr/>
          <p:nvPr/>
        </p:nvSpPr>
        <p:spPr>
          <a:xfrm>
            <a:off x="7793306" y="5605114"/>
            <a:ext cx="1532891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 Motors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56ECACE1-7580-4724-A878-D360BCD4FDA8}"/>
              </a:ext>
            </a:extLst>
          </p:cNvPr>
          <p:cNvSpPr txBox="1"/>
          <p:nvPr/>
        </p:nvSpPr>
        <p:spPr>
          <a:xfrm>
            <a:off x="8148271" y="5111568"/>
            <a:ext cx="106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Wheel</a:t>
            </a:r>
          </a:p>
        </p:txBody>
      </p:sp>
      <p:sp>
        <p:nvSpPr>
          <p:cNvPr id="146" name="Rectangle : coins arrondis 145">
            <a:extLst>
              <a:ext uri="{FF2B5EF4-FFF2-40B4-BE49-F238E27FC236}">
                <a16:creationId xmlns:a16="http://schemas.microsoft.com/office/drawing/2014/main" id="{26417E4A-BD0A-4168-BF9D-73A0B3710A30}"/>
              </a:ext>
            </a:extLst>
          </p:cNvPr>
          <p:cNvSpPr/>
          <p:nvPr/>
        </p:nvSpPr>
        <p:spPr>
          <a:xfrm>
            <a:off x="4645012" y="1743663"/>
            <a:ext cx="1213357" cy="44597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Battery</a:t>
            </a:r>
          </a:p>
        </p:txBody>
      </p:sp>
      <p:sp>
        <p:nvSpPr>
          <p:cNvPr id="147" name="Rectangle : coins arrondis 146">
            <a:extLst>
              <a:ext uri="{FF2B5EF4-FFF2-40B4-BE49-F238E27FC236}">
                <a16:creationId xmlns:a16="http://schemas.microsoft.com/office/drawing/2014/main" id="{3BB43C5D-0EE3-4D9E-BED0-13C8BFA33C24}"/>
              </a:ext>
            </a:extLst>
          </p:cNvPr>
          <p:cNvSpPr/>
          <p:nvPr/>
        </p:nvSpPr>
        <p:spPr>
          <a:xfrm>
            <a:off x="4555159" y="3514508"/>
            <a:ext cx="1389611" cy="114850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Power Interface</a:t>
            </a:r>
          </a:p>
        </p:txBody>
      </p:sp>
      <p:cxnSp>
        <p:nvCxnSpPr>
          <p:cNvPr id="148" name="Connecteur droit 147">
            <a:extLst>
              <a:ext uri="{FF2B5EF4-FFF2-40B4-BE49-F238E27FC236}">
                <a16:creationId xmlns:a16="http://schemas.microsoft.com/office/drawing/2014/main" id="{89B0DF1A-0600-46BA-B49B-2F14B6478444}"/>
              </a:ext>
            </a:extLst>
          </p:cNvPr>
          <p:cNvCxnSpPr>
            <a:cxnSpLocks/>
            <a:stCxn id="146" idx="2"/>
            <a:endCxn id="147" idx="0"/>
          </p:cNvCxnSpPr>
          <p:nvPr/>
        </p:nvCxnSpPr>
        <p:spPr>
          <a:xfrm flipH="1">
            <a:off x="5249965" y="2189640"/>
            <a:ext cx="1726" cy="1324868"/>
          </a:xfrm>
          <a:prstGeom prst="line">
            <a:avLst/>
          </a:prstGeom>
          <a:ln w="381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3F57478-9159-4481-8917-79178E356ECE}"/>
              </a:ext>
            </a:extLst>
          </p:cNvPr>
          <p:cNvSpPr txBox="1"/>
          <p:nvPr/>
        </p:nvSpPr>
        <p:spPr>
          <a:xfrm>
            <a:off x="5230438" y="2511974"/>
            <a:ext cx="67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12V</a:t>
            </a:r>
          </a:p>
        </p:txBody>
      </p:sp>
      <p:cxnSp>
        <p:nvCxnSpPr>
          <p:cNvPr id="150" name="Connecteur : en angle 149">
            <a:extLst>
              <a:ext uri="{FF2B5EF4-FFF2-40B4-BE49-F238E27FC236}">
                <a16:creationId xmlns:a16="http://schemas.microsoft.com/office/drawing/2014/main" id="{6A360E39-3EDB-430E-B197-55014899C102}"/>
              </a:ext>
            </a:extLst>
          </p:cNvPr>
          <p:cNvCxnSpPr>
            <a:cxnSpLocks/>
          </p:cNvCxnSpPr>
          <p:nvPr/>
        </p:nvCxnSpPr>
        <p:spPr>
          <a:xfrm>
            <a:off x="3189358" y="2822842"/>
            <a:ext cx="1365801" cy="964682"/>
          </a:xfrm>
          <a:prstGeom prst="bentConnector3">
            <a:avLst/>
          </a:prstGeom>
          <a:ln w="38100">
            <a:solidFill>
              <a:srgbClr val="EA5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eur : en angle 150">
            <a:extLst>
              <a:ext uri="{FF2B5EF4-FFF2-40B4-BE49-F238E27FC236}">
                <a16:creationId xmlns:a16="http://schemas.microsoft.com/office/drawing/2014/main" id="{1E3710F2-2029-4889-8C7F-0470442C3786}"/>
              </a:ext>
            </a:extLst>
          </p:cNvPr>
          <p:cNvCxnSpPr>
            <a:cxnSpLocks/>
            <a:stCxn id="139" idx="1"/>
          </p:cNvCxnSpPr>
          <p:nvPr/>
        </p:nvCxnSpPr>
        <p:spPr>
          <a:xfrm rot="10800000" flipV="1">
            <a:off x="5937906" y="2360497"/>
            <a:ext cx="2037496" cy="1421366"/>
          </a:xfrm>
          <a:prstGeom prst="bentConnector3">
            <a:avLst>
              <a:gd name="adj1" fmla="val 63713"/>
            </a:avLst>
          </a:prstGeom>
          <a:ln w="38100">
            <a:solidFill>
              <a:srgbClr val="EA5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eur : en angle 151">
            <a:extLst>
              <a:ext uri="{FF2B5EF4-FFF2-40B4-BE49-F238E27FC236}">
                <a16:creationId xmlns:a16="http://schemas.microsoft.com/office/drawing/2014/main" id="{9996E333-9D98-405A-8F93-D225EBD0D211}"/>
              </a:ext>
            </a:extLst>
          </p:cNvPr>
          <p:cNvCxnSpPr>
            <a:cxnSpLocks/>
          </p:cNvCxnSpPr>
          <p:nvPr/>
        </p:nvCxnSpPr>
        <p:spPr>
          <a:xfrm flipV="1">
            <a:off x="3292318" y="4356117"/>
            <a:ext cx="1234466" cy="281357"/>
          </a:xfrm>
          <a:prstGeom prst="bentConnector3">
            <a:avLst/>
          </a:prstGeom>
          <a:ln w="38100">
            <a:solidFill>
              <a:srgbClr val="EA5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 : en angle 152">
            <a:extLst>
              <a:ext uri="{FF2B5EF4-FFF2-40B4-BE49-F238E27FC236}">
                <a16:creationId xmlns:a16="http://schemas.microsoft.com/office/drawing/2014/main" id="{86A3ABF0-7553-4D6A-9F1D-43915F6E0C65}"/>
              </a:ext>
            </a:extLst>
          </p:cNvPr>
          <p:cNvCxnSpPr>
            <a:cxnSpLocks/>
          </p:cNvCxnSpPr>
          <p:nvPr/>
        </p:nvCxnSpPr>
        <p:spPr>
          <a:xfrm rot="10800000">
            <a:off x="5953962" y="4384782"/>
            <a:ext cx="1823975" cy="1422058"/>
          </a:xfrm>
          <a:prstGeom prst="bentConnector3">
            <a:avLst>
              <a:gd name="adj1" fmla="val 61291"/>
            </a:avLst>
          </a:prstGeom>
          <a:ln w="38100">
            <a:solidFill>
              <a:srgbClr val="4BCAAD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D65F59A5-6473-4516-A3D2-D709327BBC07}"/>
              </a:ext>
            </a:extLst>
          </p:cNvPr>
          <p:cNvSpPr txBox="1"/>
          <p:nvPr/>
        </p:nvSpPr>
        <p:spPr>
          <a:xfrm>
            <a:off x="3987792" y="3412076"/>
            <a:ext cx="56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8874B654-2D0C-499A-B9E8-17F6283BE631}"/>
              </a:ext>
            </a:extLst>
          </p:cNvPr>
          <p:cNvSpPr txBox="1"/>
          <p:nvPr/>
        </p:nvSpPr>
        <p:spPr>
          <a:xfrm>
            <a:off x="6679526" y="3338996"/>
            <a:ext cx="60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C65B204-8AD9-46D4-AC78-3DFDA037EC0E}"/>
              </a:ext>
            </a:extLst>
          </p:cNvPr>
          <p:cNvSpPr txBox="1"/>
          <p:nvPr/>
        </p:nvSpPr>
        <p:spPr>
          <a:xfrm>
            <a:off x="4261699" y="4774636"/>
            <a:ext cx="56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F19E0284-427B-4956-8AA5-4FC56A45EF5F}"/>
              </a:ext>
            </a:extLst>
          </p:cNvPr>
          <p:cNvSpPr txBox="1"/>
          <p:nvPr/>
        </p:nvSpPr>
        <p:spPr>
          <a:xfrm>
            <a:off x="6012500" y="4342217"/>
            <a:ext cx="62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12V</a:t>
            </a:r>
          </a:p>
        </p:txBody>
      </p: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EA167D6C-A6CA-41DC-977C-EDDC3CE369A3}"/>
              </a:ext>
            </a:extLst>
          </p:cNvPr>
          <p:cNvCxnSpPr>
            <a:cxnSpLocks/>
          </p:cNvCxnSpPr>
          <p:nvPr/>
        </p:nvCxnSpPr>
        <p:spPr>
          <a:xfrm>
            <a:off x="4791590" y="4637474"/>
            <a:ext cx="0" cy="474094"/>
          </a:xfrm>
          <a:prstGeom prst="line">
            <a:avLst/>
          </a:prstGeom>
          <a:ln w="38100">
            <a:solidFill>
              <a:srgbClr val="EA5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6036823A-B5D0-4FF0-A4EE-8FC4A6CB8663}"/>
              </a:ext>
            </a:extLst>
          </p:cNvPr>
          <p:cNvCxnSpPr>
            <a:cxnSpLocks/>
          </p:cNvCxnSpPr>
          <p:nvPr/>
        </p:nvCxnSpPr>
        <p:spPr>
          <a:xfrm flipH="1">
            <a:off x="3292318" y="5144558"/>
            <a:ext cx="1499272" cy="0"/>
          </a:xfrm>
          <a:prstGeom prst="line">
            <a:avLst/>
          </a:prstGeom>
          <a:ln w="38100">
            <a:solidFill>
              <a:srgbClr val="EA5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eur : en angle 159">
            <a:extLst>
              <a:ext uri="{FF2B5EF4-FFF2-40B4-BE49-F238E27FC236}">
                <a16:creationId xmlns:a16="http://schemas.microsoft.com/office/drawing/2014/main" id="{8D88B81B-0BC6-4AF0-8620-1919900B8C59}"/>
              </a:ext>
            </a:extLst>
          </p:cNvPr>
          <p:cNvCxnSpPr>
            <a:cxnSpLocks/>
            <a:stCxn id="135" idx="1"/>
          </p:cNvCxnSpPr>
          <p:nvPr/>
        </p:nvCxnSpPr>
        <p:spPr>
          <a:xfrm rot="10800000" flipV="1">
            <a:off x="479916" y="2722516"/>
            <a:ext cx="786435" cy="3749500"/>
          </a:xfrm>
          <a:prstGeom prst="bentConnector2">
            <a:avLst/>
          </a:prstGeom>
          <a:ln w="38100">
            <a:solidFill>
              <a:srgbClr val="CD0B9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eur droit 160">
            <a:extLst>
              <a:ext uri="{FF2B5EF4-FFF2-40B4-BE49-F238E27FC236}">
                <a16:creationId xmlns:a16="http://schemas.microsoft.com/office/drawing/2014/main" id="{00902291-3141-4715-B8F3-B6B68D6ECA08}"/>
              </a:ext>
            </a:extLst>
          </p:cNvPr>
          <p:cNvCxnSpPr>
            <a:cxnSpLocks/>
            <a:stCxn id="141" idx="1"/>
          </p:cNvCxnSpPr>
          <p:nvPr/>
        </p:nvCxnSpPr>
        <p:spPr>
          <a:xfrm flipH="1" flipV="1">
            <a:off x="881018" y="4597266"/>
            <a:ext cx="750122" cy="1136"/>
          </a:xfrm>
          <a:prstGeom prst="line">
            <a:avLst/>
          </a:prstGeom>
          <a:ln w="38100">
            <a:solidFill>
              <a:srgbClr val="7030A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161">
            <a:extLst>
              <a:ext uri="{FF2B5EF4-FFF2-40B4-BE49-F238E27FC236}">
                <a16:creationId xmlns:a16="http://schemas.microsoft.com/office/drawing/2014/main" id="{E0A16BB7-8205-4434-A2A4-CA5FFFEE8BFF}"/>
              </a:ext>
            </a:extLst>
          </p:cNvPr>
          <p:cNvCxnSpPr>
            <a:cxnSpLocks/>
          </p:cNvCxnSpPr>
          <p:nvPr/>
        </p:nvCxnSpPr>
        <p:spPr>
          <a:xfrm flipV="1">
            <a:off x="1235817" y="5060879"/>
            <a:ext cx="0" cy="9112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eur : en angle 162">
            <a:extLst>
              <a:ext uri="{FF2B5EF4-FFF2-40B4-BE49-F238E27FC236}">
                <a16:creationId xmlns:a16="http://schemas.microsoft.com/office/drawing/2014/main" id="{7AB4EB7C-8F22-413E-AD3D-C0D65AB824AC}"/>
              </a:ext>
            </a:extLst>
          </p:cNvPr>
          <p:cNvCxnSpPr>
            <a:cxnSpLocks/>
            <a:stCxn id="139" idx="3"/>
          </p:cNvCxnSpPr>
          <p:nvPr/>
        </p:nvCxnSpPr>
        <p:spPr>
          <a:xfrm>
            <a:off x="9508293" y="2360497"/>
            <a:ext cx="714473" cy="3947124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7EAE7A3E-991C-43C4-AF5B-07E3C6C8DBBC}"/>
              </a:ext>
            </a:extLst>
          </p:cNvPr>
          <p:cNvCxnSpPr>
            <a:cxnSpLocks/>
          </p:cNvCxnSpPr>
          <p:nvPr/>
        </p:nvCxnSpPr>
        <p:spPr>
          <a:xfrm flipH="1">
            <a:off x="9320579" y="5806840"/>
            <a:ext cx="902187" cy="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eur droit 164">
            <a:extLst>
              <a:ext uri="{FF2B5EF4-FFF2-40B4-BE49-F238E27FC236}">
                <a16:creationId xmlns:a16="http://schemas.microsoft.com/office/drawing/2014/main" id="{1B187A21-B511-487D-B9E2-06B392024ED5}"/>
              </a:ext>
            </a:extLst>
          </p:cNvPr>
          <p:cNvCxnSpPr>
            <a:cxnSpLocks/>
          </p:cNvCxnSpPr>
          <p:nvPr/>
        </p:nvCxnSpPr>
        <p:spPr>
          <a:xfrm>
            <a:off x="485935" y="6446404"/>
            <a:ext cx="4295326" cy="4052"/>
          </a:xfrm>
          <a:prstGeom prst="line">
            <a:avLst/>
          </a:prstGeom>
          <a:ln w="38100">
            <a:solidFill>
              <a:srgbClr val="CD0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eur droit 165">
            <a:extLst>
              <a:ext uri="{FF2B5EF4-FFF2-40B4-BE49-F238E27FC236}">
                <a16:creationId xmlns:a16="http://schemas.microsoft.com/office/drawing/2014/main" id="{F6DD6B0C-4214-4EBE-A285-CFF6FD579302}"/>
              </a:ext>
            </a:extLst>
          </p:cNvPr>
          <p:cNvCxnSpPr>
            <a:cxnSpLocks/>
          </p:cNvCxnSpPr>
          <p:nvPr/>
        </p:nvCxnSpPr>
        <p:spPr>
          <a:xfrm flipV="1">
            <a:off x="1235817" y="5944848"/>
            <a:ext cx="3545444" cy="103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166">
            <a:extLst>
              <a:ext uri="{FF2B5EF4-FFF2-40B4-BE49-F238E27FC236}">
                <a16:creationId xmlns:a16="http://schemas.microsoft.com/office/drawing/2014/main" id="{4D931C1B-1ECC-4CB6-AB23-379FBB3560E9}"/>
              </a:ext>
            </a:extLst>
          </p:cNvPr>
          <p:cNvCxnSpPr>
            <a:cxnSpLocks/>
          </p:cNvCxnSpPr>
          <p:nvPr/>
        </p:nvCxnSpPr>
        <p:spPr>
          <a:xfrm flipV="1">
            <a:off x="6145300" y="6307621"/>
            <a:ext cx="4062097" cy="448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ZoneTexte 167">
            <a:extLst>
              <a:ext uri="{FF2B5EF4-FFF2-40B4-BE49-F238E27FC236}">
                <a16:creationId xmlns:a16="http://schemas.microsoft.com/office/drawing/2014/main" id="{62C4F0B1-2D4F-407B-96F5-9ABF86625B36}"/>
              </a:ext>
            </a:extLst>
          </p:cNvPr>
          <p:cNvSpPr txBox="1"/>
          <p:nvPr/>
        </p:nvSpPr>
        <p:spPr>
          <a:xfrm>
            <a:off x="6432908" y="6035944"/>
            <a:ext cx="140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PWM</a:t>
            </a:r>
          </a:p>
        </p:txBody>
      </p:sp>
      <p:sp>
        <p:nvSpPr>
          <p:cNvPr id="169" name="ZoneTexte 168">
            <a:extLst>
              <a:ext uri="{FF2B5EF4-FFF2-40B4-BE49-F238E27FC236}">
                <a16:creationId xmlns:a16="http://schemas.microsoft.com/office/drawing/2014/main" id="{285AE706-15EF-48AE-A5C8-0D2F0DFA5B60}"/>
              </a:ext>
            </a:extLst>
          </p:cNvPr>
          <p:cNvSpPr txBox="1"/>
          <p:nvPr/>
        </p:nvSpPr>
        <p:spPr>
          <a:xfrm>
            <a:off x="470417" y="4262893"/>
            <a:ext cx="109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Analogic</a:t>
            </a:r>
            <a:endParaRPr lang="fr-FR" dirty="0"/>
          </a:p>
        </p:txBody>
      </p:sp>
      <p:cxnSp>
        <p:nvCxnSpPr>
          <p:cNvPr id="170" name="Connecteur droit 169">
            <a:extLst>
              <a:ext uri="{FF2B5EF4-FFF2-40B4-BE49-F238E27FC236}">
                <a16:creationId xmlns:a16="http://schemas.microsoft.com/office/drawing/2014/main" id="{069D9714-5913-4429-A6AF-D8D6E23E89FE}"/>
              </a:ext>
            </a:extLst>
          </p:cNvPr>
          <p:cNvCxnSpPr>
            <a:cxnSpLocks/>
          </p:cNvCxnSpPr>
          <p:nvPr/>
        </p:nvCxnSpPr>
        <p:spPr>
          <a:xfrm>
            <a:off x="1212850" y="5074017"/>
            <a:ext cx="40686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eur droit 170">
            <a:extLst>
              <a:ext uri="{FF2B5EF4-FFF2-40B4-BE49-F238E27FC236}">
                <a16:creationId xmlns:a16="http://schemas.microsoft.com/office/drawing/2014/main" id="{63B9F9DB-F8E2-4FA1-8773-C91AACF4BE67}"/>
              </a:ext>
            </a:extLst>
          </p:cNvPr>
          <p:cNvCxnSpPr>
            <a:stCxn id="147" idx="2"/>
          </p:cNvCxnSpPr>
          <p:nvPr/>
        </p:nvCxnSpPr>
        <p:spPr>
          <a:xfrm>
            <a:off x="5249965" y="4663015"/>
            <a:ext cx="0" cy="1143825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ZoneTexte 171">
            <a:extLst>
              <a:ext uri="{FF2B5EF4-FFF2-40B4-BE49-F238E27FC236}">
                <a16:creationId xmlns:a16="http://schemas.microsoft.com/office/drawing/2014/main" id="{6F64EE95-0FFF-4A52-87EE-F99A414A4D9D}"/>
              </a:ext>
            </a:extLst>
          </p:cNvPr>
          <p:cNvSpPr txBox="1"/>
          <p:nvPr/>
        </p:nvSpPr>
        <p:spPr>
          <a:xfrm>
            <a:off x="5353887" y="5234927"/>
            <a:ext cx="62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12V</a:t>
            </a:r>
          </a:p>
        </p:txBody>
      </p:sp>
      <p:cxnSp>
        <p:nvCxnSpPr>
          <p:cNvPr id="173" name="Connecteur droit 172">
            <a:extLst>
              <a:ext uri="{FF2B5EF4-FFF2-40B4-BE49-F238E27FC236}">
                <a16:creationId xmlns:a16="http://schemas.microsoft.com/office/drawing/2014/main" id="{EE3DAAED-33BA-46C2-9BDE-B425EA9669E3}"/>
              </a:ext>
            </a:extLst>
          </p:cNvPr>
          <p:cNvCxnSpPr>
            <a:cxnSpLocks/>
          </p:cNvCxnSpPr>
          <p:nvPr/>
        </p:nvCxnSpPr>
        <p:spPr>
          <a:xfrm flipV="1">
            <a:off x="873133" y="6213528"/>
            <a:ext cx="3908128" cy="3096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2D49C697-2A2D-4E0D-A2D6-794B061D7D35}"/>
              </a:ext>
            </a:extLst>
          </p:cNvPr>
          <p:cNvCxnSpPr>
            <a:cxnSpLocks/>
          </p:cNvCxnSpPr>
          <p:nvPr/>
        </p:nvCxnSpPr>
        <p:spPr>
          <a:xfrm>
            <a:off x="881018" y="4604683"/>
            <a:ext cx="7073" cy="163980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ZoneTexte 174">
            <a:extLst>
              <a:ext uri="{FF2B5EF4-FFF2-40B4-BE49-F238E27FC236}">
                <a16:creationId xmlns:a16="http://schemas.microsoft.com/office/drawing/2014/main" id="{D11EFD89-4C52-475F-8CF2-0151915D2E4E}"/>
              </a:ext>
            </a:extLst>
          </p:cNvPr>
          <p:cNvSpPr txBox="1"/>
          <p:nvPr/>
        </p:nvSpPr>
        <p:spPr>
          <a:xfrm>
            <a:off x="568754" y="2353184"/>
            <a:ext cx="50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I2C</a:t>
            </a:r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1F075FF2-427B-4C91-B74F-EF857F04217E}"/>
              </a:ext>
            </a:extLst>
          </p:cNvPr>
          <p:cNvSpPr/>
          <p:nvPr/>
        </p:nvSpPr>
        <p:spPr>
          <a:xfrm>
            <a:off x="7648737" y="3068051"/>
            <a:ext cx="2138581" cy="1676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Rectangle : coins arrondis 179">
            <a:extLst>
              <a:ext uri="{FF2B5EF4-FFF2-40B4-BE49-F238E27FC236}">
                <a16:creationId xmlns:a16="http://schemas.microsoft.com/office/drawing/2014/main" id="{25E027ED-048C-4726-B058-34717C1CC1D3}"/>
              </a:ext>
            </a:extLst>
          </p:cNvPr>
          <p:cNvSpPr/>
          <p:nvPr/>
        </p:nvSpPr>
        <p:spPr>
          <a:xfrm>
            <a:off x="7866103" y="4158674"/>
            <a:ext cx="1653536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</a:t>
            </a:r>
            <a:r>
              <a:rPr lang="fr-FR" dirty="0" err="1"/>
              <a:t>Motor</a:t>
            </a:r>
            <a:endParaRPr lang="fr-FR" dirty="0"/>
          </a:p>
        </p:txBody>
      </p:sp>
      <p:sp>
        <p:nvSpPr>
          <p:cNvPr id="181" name="Rectangle : coins arrondis 180">
            <a:extLst>
              <a:ext uri="{FF2B5EF4-FFF2-40B4-BE49-F238E27FC236}">
                <a16:creationId xmlns:a16="http://schemas.microsoft.com/office/drawing/2014/main" id="{FB9F0982-BE43-4648-9853-7BFA42DF2211}"/>
              </a:ext>
            </a:extLst>
          </p:cNvPr>
          <p:cNvSpPr/>
          <p:nvPr/>
        </p:nvSpPr>
        <p:spPr>
          <a:xfrm>
            <a:off x="7866103" y="3679952"/>
            <a:ext cx="1653536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</a:t>
            </a:r>
            <a:r>
              <a:rPr lang="fr-FR" dirty="0" err="1"/>
              <a:t>Motor</a:t>
            </a:r>
            <a:endParaRPr lang="fr-FR" dirty="0"/>
          </a:p>
        </p:txBody>
      </p:sp>
      <p:sp>
        <p:nvSpPr>
          <p:cNvPr id="184" name="ZoneTexte 183">
            <a:extLst>
              <a:ext uri="{FF2B5EF4-FFF2-40B4-BE49-F238E27FC236}">
                <a16:creationId xmlns:a16="http://schemas.microsoft.com/office/drawing/2014/main" id="{A77A2657-EE62-4A9F-AC63-280C449E9966}"/>
              </a:ext>
            </a:extLst>
          </p:cNvPr>
          <p:cNvSpPr txBox="1"/>
          <p:nvPr/>
        </p:nvSpPr>
        <p:spPr>
          <a:xfrm>
            <a:off x="8005193" y="3198505"/>
            <a:ext cx="203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Ball </a:t>
            </a:r>
            <a:r>
              <a:rPr lang="fr-FR" dirty="0" err="1"/>
              <a:t>thrower</a:t>
            </a:r>
            <a:endParaRPr lang="fr-FR" dirty="0"/>
          </a:p>
        </p:txBody>
      </p:sp>
      <p:cxnSp>
        <p:nvCxnSpPr>
          <p:cNvPr id="185" name="Connecteur droit 184">
            <a:extLst>
              <a:ext uri="{FF2B5EF4-FFF2-40B4-BE49-F238E27FC236}">
                <a16:creationId xmlns:a16="http://schemas.microsoft.com/office/drawing/2014/main" id="{2973AB2C-76A6-4F23-AE4C-0344AA716612}"/>
              </a:ext>
            </a:extLst>
          </p:cNvPr>
          <p:cNvCxnSpPr>
            <a:cxnSpLocks/>
          </p:cNvCxnSpPr>
          <p:nvPr/>
        </p:nvCxnSpPr>
        <p:spPr>
          <a:xfrm flipH="1">
            <a:off x="9509973" y="3860332"/>
            <a:ext cx="703127" cy="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 : en angle 188">
            <a:extLst>
              <a:ext uri="{FF2B5EF4-FFF2-40B4-BE49-F238E27FC236}">
                <a16:creationId xmlns:a16="http://schemas.microsoft.com/office/drawing/2014/main" id="{E02A71DB-5E0C-41C3-B6F6-2932CC597804}"/>
              </a:ext>
            </a:extLst>
          </p:cNvPr>
          <p:cNvCxnSpPr>
            <a:cxnSpLocks/>
            <a:stCxn id="147" idx="3"/>
            <a:endCxn id="180" idx="1"/>
          </p:cNvCxnSpPr>
          <p:nvPr/>
        </p:nvCxnSpPr>
        <p:spPr>
          <a:xfrm>
            <a:off x="5944770" y="4088762"/>
            <a:ext cx="1921333" cy="239779"/>
          </a:xfrm>
          <a:prstGeom prst="bentConnector3">
            <a:avLst>
              <a:gd name="adj1" fmla="val 62005"/>
            </a:avLst>
          </a:prstGeom>
          <a:ln w="38100" cmpd="sng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ZoneTexte 190">
            <a:extLst>
              <a:ext uri="{FF2B5EF4-FFF2-40B4-BE49-F238E27FC236}">
                <a16:creationId xmlns:a16="http://schemas.microsoft.com/office/drawing/2014/main" id="{88C57F8D-02B2-45D7-98CE-503340B8325E}"/>
              </a:ext>
            </a:extLst>
          </p:cNvPr>
          <p:cNvSpPr txBox="1"/>
          <p:nvPr/>
        </p:nvSpPr>
        <p:spPr>
          <a:xfrm>
            <a:off x="6951397" y="4311112"/>
            <a:ext cx="65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1,5V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FE4C9808-680A-4284-B1B2-312B5A572E11}"/>
              </a:ext>
            </a:extLst>
          </p:cNvPr>
          <p:cNvCxnSpPr>
            <a:cxnSpLocks/>
          </p:cNvCxnSpPr>
          <p:nvPr/>
        </p:nvCxnSpPr>
        <p:spPr>
          <a:xfrm>
            <a:off x="6706840" y="3781408"/>
            <a:ext cx="1159263" cy="0"/>
          </a:xfrm>
          <a:prstGeom prst="line">
            <a:avLst/>
          </a:prstGeom>
          <a:ln w="38100">
            <a:solidFill>
              <a:srgbClr val="EA5F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5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3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46" grpId="0" animBg="1"/>
      <p:bldP spid="147" grpId="0" animBg="1"/>
      <p:bldP spid="149" grpId="0"/>
      <p:bldP spid="154" grpId="0"/>
      <p:bldP spid="155" grpId="0"/>
      <p:bldP spid="156" grpId="0"/>
      <p:bldP spid="157" grpId="0"/>
      <p:bldP spid="168" grpId="0"/>
      <p:bldP spid="169" grpId="0"/>
      <p:bldP spid="172" grpId="0"/>
      <p:bldP spid="175" grpId="0"/>
      <p:bldP spid="1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B32453E-88CF-4ED8-BD2B-9486753082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8065925-0349-4D98-A1DB-A51FD4F50B6E}"/>
              </a:ext>
            </a:extLst>
          </p:cNvPr>
          <p:cNvSpPr txBox="1"/>
          <p:nvPr/>
        </p:nvSpPr>
        <p:spPr>
          <a:xfrm>
            <a:off x="1016678" y="945663"/>
            <a:ext cx="4515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5.2 Dynamic Architecture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ACF9AA-70BA-4890-80DF-F184F8BF6769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</a:t>
            </a:r>
            <a:r>
              <a:rPr lang="fr-FR" sz="2000" dirty="0">
                <a:solidFill>
                  <a:schemeClr val="tx1"/>
                </a:solidFill>
              </a:rPr>
              <a:t>5.Architecture </a:t>
            </a:r>
            <a:r>
              <a:rPr lang="fr-FR" sz="2000" dirty="0"/>
              <a:t>6.Prototypes 7.Achevment 8.Video</a:t>
            </a:r>
          </a:p>
        </p:txBody>
      </p:sp>
      <p:sp>
        <p:nvSpPr>
          <p:cNvPr id="21" name="Espace réservé du numéro de diapositive 3">
            <a:extLst>
              <a:ext uri="{FF2B5EF4-FFF2-40B4-BE49-F238E27FC236}">
                <a16:creationId xmlns:a16="http://schemas.microsoft.com/office/drawing/2014/main" id="{890CACB6-66B6-4B94-82FB-CD7B621F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7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289B21E6-35C9-41C8-A20C-F33335391B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F32EAE9-721A-40E7-85E6-D809B645A458}"/>
              </a:ext>
            </a:extLst>
          </p:cNvPr>
          <p:cNvSpPr/>
          <p:nvPr/>
        </p:nvSpPr>
        <p:spPr>
          <a:xfrm>
            <a:off x="3760453" y="3599093"/>
            <a:ext cx="2105975" cy="114850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MyRio</a:t>
            </a:r>
            <a:r>
              <a:rPr lang="fr-FR" dirty="0"/>
              <a:t> :</a:t>
            </a:r>
          </a:p>
          <a:p>
            <a:pPr algn="ctr"/>
            <a:r>
              <a:rPr lang="fr-FR" dirty="0" err="1"/>
              <a:t>Labview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State Machine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4B0B7241-FC7A-4E97-B797-91FB6E32D2CD}"/>
              </a:ext>
            </a:extLst>
          </p:cNvPr>
          <p:cNvSpPr/>
          <p:nvPr/>
        </p:nvSpPr>
        <p:spPr>
          <a:xfrm>
            <a:off x="6806698" y="4398615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lvl="0" algn="ctr">
              <a:defRPr/>
            </a:pPr>
            <a:r>
              <a:rPr lang="fr-FR" dirty="0">
                <a:solidFill>
                  <a:schemeClr val="tx1"/>
                </a:solidFill>
                <a:latin typeface="Candara"/>
              </a:rPr>
              <a:t>Ball </a:t>
            </a:r>
            <a:r>
              <a:rPr lang="fr-FR" dirty="0" err="1">
                <a:solidFill>
                  <a:schemeClr val="tx1"/>
                </a:solidFill>
                <a:latin typeface="Candara"/>
              </a:rPr>
              <a:t>thrower</a:t>
            </a:r>
            <a:endParaRPr lang="fr-FR" dirty="0">
              <a:solidFill>
                <a:schemeClr val="tx1"/>
              </a:solidFill>
              <a:latin typeface="Candara"/>
            </a:endParaRPr>
          </a:p>
          <a:p>
            <a:pPr algn="ctr"/>
            <a:endParaRPr lang="fr-FR" dirty="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4CEEE8E-6BB6-47AD-8252-3D13A22908FB}"/>
              </a:ext>
            </a:extLst>
          </p:cNvPr>
          <p:cNvSpPr/>
          <p:nvPr/>
        </p:nvSpPr>
        <p:spPr>
          <a:xfrm>
            <a:off x="3698233" y="5415807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Wheels</a:t>
            </a:r>
            <a:r>
              <a:rPr lang="fr-FR" dirty="0"/>
              <a:t> Command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F536717-F93A-400B-BCF8-75852BB7F69C}"/>
              </a:ext>
            </a:extLst>
          </p:cNvPr>
          <p:cNvSpPr/>
          <p:nvPr/>
        </p:nvSpPr>
        <p:spPr>
          <a:xfrm>
            <a:off x="3760453" y="2386825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balls</a:t>
            </a:r>
            <a:r>
              <a:rPr lang="fr-FR" dirty="0"/>
              <a:t> </a:t>
            </a:r>
            <a:r>
              <a:rPr lang="fr-FR" dirty="0" err="1"/>
              <a:t>sorter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7824D5D-44F6-4A98-91A4-8403338F5449}"/>
              </a:ext>
            </a:extLst>
          </p:cNvPr>
          <p:cNvSpPr/>
          <p:nvPr/>
        </p:nvSpPr>
        <p:spPr>
          <a:xfrm>
            <a:off x="6776063" y="2068555"/>
            <a:ext cx="1670166" cy="85167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Smasher + </a:t>
            </a:r>
          </a:p>
          <a:p>
            <a:pPr algn="ctr"/>
            <a:r>
              <a:rPr lang="fr-FR" dirty="0" err="1"/>
              <a:t>Closing</a:t>
            </a:r>
            <a:r>
              <a:rPr lang="fr-FR" dirty="0"/>
              <a:t> of </a:t>
            </a:r>
            <a:r>
              <a:rPr lang="fr-FR" dirty="0" err="1"/>
              <a:t>Flaps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 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E278415A-24FD-459C-9A96-67E35D78AB6F}"/>
              </a:ext>
            </a:extLst>
          </p:cNvPr>
          <p:cNvSpPr/>
          <p:nvPr/>
        </p:nvSpPr>
        <p:spPr>
          <a:xfrm>
            <a:off x="356826" y="4516705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Line Follower</a:t>
            </a:r>
          </a:p>
          <a:p>
            <a:pPr algn="ctr"/>
            <a:endParaRPr lang="fr-FR" dirty="0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97375344-C0D2-4153-AD56-DA86D336BA3D}"/>
              </a:ext>
            </a:extLst>
          </p:cNvPr>
          <p:cNvCxnSpPr>
            <a:cxnSpLocks/>
          </p:cNvCxnSpPr>
          <p:nvPr/>
        </p:nvCxnSpPr>
        <p:spPr>
          <a:xfrm flipV="1">
            <a:off x="4767523" y="2994648"/>
            <a:ext cx="0" cy="604445"/>
          </a:xfrm>
          <a:prstGeom prst="straightConnector1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7EE72FE-AF5A-4C23-AD88-F08C7E474144}"/>
              </a:ext>
            </a:extLst>
          </p:cNvPr>
          <p:cNvCxnSpPr>
            <a:cxnSpLocks/>
          </p:cNvCxnSpPr>
          <p:nvPr/>
        </p:nvCxnSpPr>
        <p:spPr>
          <a:xfrm>
            <a:off x="4754963" y="4754355"/>
            <a:ext cx="0" cy="661452"/>
          </a:xfrm>
          <a:prstGeom prst="straightConnector1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6C199E61-9BBB-44B8-949E-0FA0AC4FDF88}"/>
              </a:ext>
            </a:extLst>
          </p:cNvPr>
          <p:cNvCxnSpPr>
            <a:cxnSpLocks/>
          </p:cNvCxnSpPr>
          <p:nvPr/>
        </p:nvCxnSpPr>
        <p:spPr>
          <a:xfrm flipV="1">
            <a:off x="5857893" y="2938859"/>
            <a:ext cx="1836341" cy="898390"/>
          </a:xfrm>
          <a:prstGeom prst="bentConnector2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0919A05E-EF7D-4895-AC8B-2C9D86EC13AF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5899034" y="4398615"/>
            <a:ext cx="907664" cy="302223"/>
          </a:xfrm>
          <a:prstGeom prst="bentConnector3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Image 36">
            <a:extLst>
              <a:ext uri="{FF2B5EF4-FFF2-40B4-BE49-F238E27FC236}">
                <a16:creationId xmlns:a16="http://schemas.microsoft.com/office/drawing/2014/main" id="{6F4AB3C9-5BF0-403D-B762-0D93ED35721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1" t="2904" r="12149" b="22556"/>
          <a:stretch/>
        </p:blipFill>
        <p:spPr bwMode="auto">
          <a:xfrm>
            <a:off x="464092" y="5215170"/>
            <a:ext cx="1924050" cy="14668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A654FBBA-738C-4CFE-9B27-9BDEF5D1B85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116" y="2035959"/>
            <a:ext cx="2166620" cy="1624965"/>
          </a:xfrm>
          <a:prstGeom prst="rect">
            <a:avLst/>
          </a:prstGeom>
        </p:spPr>
      </p:pic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F537E231-047E-4A90-9401-86E59DCD07DD}"/>
              </a:ext>
            </a:extLst>
          </p:cNvPr>
          <p:cNvCxnSpPr>
            <a:cxnSpLocks/>
            <a:stCxn id="32" idx="3"/>
            <a:endCxn id="26" idx="1"/>
          </p:cNvCxnSpPr>
          <p:nvPr/>
        </p:nvCxnSpPr>
        <p:spPr>
          <a:xfrm flipV="1">
            <a:off x="2495407" y="4173347"/>
            <a:ext cx="1265046" cy="645581"/>
          </a:xfrm>
          <a:prstGeom prst="bentConnector3">
            <a:avLst>
              <a:gd name="adj1" fmla="val 50000"/>
            </a:avLst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age 41">
            <a:extLst>
              <a:ext uri="{FF2B5EF4-FFF2-40B4-BE49-F238E27FC236}">
                <a16:creationId xmlns:a16="http://schemas.microsoft.com/office/drawing/2014/main" id="{4A94D637-4278-487A-A4B2-546DE36A5E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543" y="1120659"/>
            <a:ext cx="1461430" cy="2597083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0D6EA1F-43BD-4F65-BE5F-1706BE1952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259" y="5121151"/>
            <a:ext cx="1594221" cy="15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50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50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200"/>
                            </p:stCondLst>
                            <p:childTnLst>
                              <p:par>
                                <p:cTn id="6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2200"/>
                            </p:stCondLst>
                            <p:childTnLst>
                              <p:par>
                                <p:cTn id="6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2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2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2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200"/>
                            </p:stCondLst>
                            <p:childTnLst>
                              <p:par>
                                <p:cTn id="89" presetID="27" presetClass="emph" presetSubtype="0" fill="remove" grpId="3" nodeType="afterEffect">
                                  <p:stCondLst>
                                    <p:cond delay="1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5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5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50" autoRev="1" fill="remove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400"/>
                            </p:stCondLst>
                            <p:childTnLst>
                              <p:par>
                                <p:cTn id="9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7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89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990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9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2" grpId="1" animBg="1"/>
      <p:bldP spid="32" grpId="2" animBg="1"/>
      <p:bldP spid="32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A651775-F2CA-4448-B348-D182C2984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DB7356C-AAD2-42F2-9D44-D4497DEDF300}"/>
              </a:ext>
            </a:extLst>
          </p:cNvPr>
          <p:cNvSpPr txBox="1"/>
          <p:nvPr/>
        </p:nvSpPr>
        <p:spPr>
          <a:xfrm>
            <a:off x="1016678" y="945663"/>
            <a:ext cx="41887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6.1 Motion of the robot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8E523F-9FA6-4EF9-9229-0C01A5A36938}"/>
              </a:ext>
            </a:extLst>
          </p:cNvPr>
          <p:cNvSpPr txBox="1"/>
          <p:nvPr/>
        </p:nvSpPr>
        <p:spPr>
          <a:xfrm>
            <a:off x="1140782" y="1654768"/>
            <a:ext cx="1970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have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AC7D78F-12B4-47AE-81DC-84761B2C222E}"/>
              </a:ext>
            </a:extLst>
          </p:cNvPr>
          <p:cNvSpPr txBox="1"/>
          <p:nvPr/>
        </p:nvSpPr>
        <p:spPr>
          <a:xfrm>
            <a:off x="1415577" y="5379778"/>
            <a:ext cx="3976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latin typeface="Bell MT" panose="02020503060305020303" pitchFamily="18" charset="0"/>
              </a:rPr>
              <a:t>What</a:t>
            </a:r>
            <a:r>
              <a:rPr lang="fr-FR" sz="2800" dirty="0">
                <a:latin typeface="Bell MT" panose="02020503060305020303" pitchFamily="18" charset="0"/>
              </a:rPr>
              <a:t> have </a:t>
            </a:r>
            <a:r>
              <a:rPr lang="fr-FR" sz="2800" dirty="0" err="1">
                <a:latin typeface="Bell MT" panose="02020503060305020303" pitchFamily="18" charset="0"/>
              </a:rPr>
              <a:t>we</a:t>
            </a:r>
            <a:r>
              <a:rPr lang="fr-FR" sz="2800" dirty="0">
                <a:latin typeface="Bell MT" panose="02020503060305020303" pitchFamily="18" charset="0"/>
              </a:rPr>
              <a:t> </a:t>
            </a:r>
            <a:r>
              <a:rPr lang="fr-FR" sz="2800" dirty="0" err="1">
                <a:latin typeface="Bell MT" panose="02020503060305020303" pitchFamily="18" charset="0"/>
              </a:rPr>
              <a:t>improved</a:t>
            </a:r>
            <a:r>
              <a:rPr lang="fr-FR" sz="2800" dirty="0">
                <a:latin typeface="Bell MT" panose="02020503060305020303" pitchFamily="18" charset="0"/>
              </a:rPr>
              <a:t> ?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2AC6ED8-2F73-4A97-8F81-896F5E3274F5}"/>
              </a:ext>
            </a:extLst>
          </p:cNvPr>
          <p:cNvSpPr txBox="1"/>
          <p:nvPr/>
        </p:nvSpPr>
        <p:spPr>
          <a:xfrm>
            <a:off x="5943017" y="5390624"/>
            <a:ext cx="55949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Automation </a:t>
            </a:r>
            <a:r>
              <a:rPr lang="fr-FR" sz="2400" dirty="0" err="1">
                <a:latin typeface="Bell MT" panose="02020503060305020303" pitchFamily="18" charset="0"/>
              </a:rPr>
              <a:t>motor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with</a:t>
            </a:r>
            <a:r>
              <a:rPr lang="fr-FR" sz="2400" dirty="0">
                <a:latin typeface="Bell MT" panose="02020503060305020303" pitchFamily="18" charset="0"/>
              </a:rPr>
              <a:t> the </a:t>
            </a:r>
            <a:r>
              <a:rPr lang="fr-FR" sz="2400" dirty="0" err="1">
                <a:latin typeface="Bell MT" panose="02020503060305020303" pitchFamily="18" charset="0"/>
              </a:rPr>
              <a:t>labview</a:t>
            </a:r>
            <a:r>
              <a:rPr lang="fr-FR" sz="2400" dirty="0">
                <a:latin typeface="Bell MT" panose="02020503060305020303" pitchFamily="18" charset="0"/>
              </a:rPr>
              <a:t>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Bell MT" panose="02020503060305020303" pitchFamily="18" charset="0"/>
              </a:rPr>
              <a:t>Using</a:t>
            </a:r>
            <a:r>
              <a:rPr lang="fr-FR" sz="2400" dirty="0">
                <a:latin typeface="Bell MT" panose="02020503060305020303" pitchFamily="18" charset="0"/>
              </a:rPr>
              <a:t> of encoder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DBAB781-DDA2-4A6F-AB7E-DF96DE5960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693" y="2706432"/>
            <a:ext cx="2353003" cy="1838582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F358071D-B672-4DF0-80FC-889E00468F42}"/>
              </a:ext>
            </a:extLst>
          </p:cNvPr>
          <p:cNvSpPr txBox="1"/>
          <p:nvPr/>
        </p:nvSpPr>
        <p:spPr>
          <a:xfrm>
            <a:off x="8754624" y="343997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39CE97D-F749-49EE-BB52-04170625FD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035" y="2635723"/>
            <a:ext cx="1875015" cy="1875015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6870B21-C7DF-419C-8319-B17AEAC09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53" y="2706432"/>
            <a:ext cx="1739312" cy="1836409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C51F48CA-F5B4-489D-AB7A-7DBB472DCA27}"/>
              </a:ext>
            </a:extLst>
          </p:cNvPr>
          <p:cNvSpPr txBox="1"/>
          <p:nvPr/>
        </p:nvSpPr>
        <p:spPr>
          <a:xfrm>
            <a:off x="2737510" y="343997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7B3678-8692-4C3F-AF2C-C5B3B1F5A9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633" y="2606307"/>
            <a:ext cx="1981477" cy="193384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53B9FBD-F2A2-4528-9548-E3B843768440}"/>
              </a:ext>
            </a:extLst>
          </p:cNvPr>
          <p:cNvSpPr txBox="1"/>
          <p:nvPr/>
        </p:nvSpPr>
        <p:spPr>
          <a:xfrm>
            <a:off x="5739564" y="343997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1E3CA-ADE6-46FC-8D50-3389B167BA5B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</a:t>
            </a:r>
            <a:r>
              <a:rPr lang="fr-FR" sz="2000" dirty="0">
                <a:solidFill>
                  <a:schemeClr val="tx1"/>
                </a:solidFill>
              </a:rPr>
              <a:t>6.Prototypes </a:t>
            </a:r>
            <a:r>
              <a:rPr lang="fr-FR" sz="2000" dirty="0"/>
              <a:t>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398567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3" grpId="0"/>
      <p:bldP spid="16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A651775-F2CA-4448-B348-D182C2984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DB7356C-AAD2-42F2-9D44-D4497DEDF300}"/>
              </a:ext>
            </a:extLst>
          </p:cNvPr>
          <p:cNvSpPr txBox="1"/>
          <p:nvPr/>
        </p:nvSpPr>
        <p:spPr>
          <a:xfrm>
            <a:off x="1016678" y="945663"/>
            <a:ext cx="1561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6.2 Arm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425B751-1EEA-45C8-9E30-913C8FF2DFAC}"/>
              </a:ext>
            </a:extLst>
          </p:cNvPr>
          <p:cNvCxnSpPr>
            <a:cxnSpLocks/>
          </p:cNvCxnSpPr>
          <p:nvPr/>
        </p:nvCxnSpPr>
        <p:spPr>
          <a:xfrm>
            <a:off x="7297685" y="1992103"/>
            <a:ext cx="0" cy="2932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F615F0EA-590D-47E0-8292-1DB89DD82E3C}"/>
              </a:ext>
            </a:extLst>
          </p:cNvPr>
          <p:cNvSpPr txBox="1"/>
          <p:nvPr/>
        </p:nvSpPr>
        <p:spPr>
          <a:xfrm>
            <a:off x="2120162" y="1530438"/>
            <a:ext cx="18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had</a:t>
            </a:r>
            <a:endParaRPr lang="fr-FR" sz="2400" dirty="0">
              <a:latin typeface="Bell MT" panose="02020503060305020303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8E523F-9FA6-4EF9-9229-0C01A5A36938}"/>
              </a:ext>
            </a:extLst>
          </p:cNvPr>
          <p:cNvSpPr txBox="1"/>
          <p:nvPr/>
        </p:nvSpPr>
        <p:spPr>
          <a:xfrm>
            <a:off x="8162223" y="1530438"/>
            <a:ext cx="1970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have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380084E-FF22-4780-B272-09C0A5A705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59" y="1992103"/>
            <a:ext cx="1568623" cy="29993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8D9052D-B203-4CA9-BA4F-C8A0EC5357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397" y="1994641"/>
            <a:ext cx="2904600" cy="299680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0C300DEF-1402-4C13-9A05-B274FB093BCB}"/>
              </a:ext>
            </a:extLst>
          </p:cNvPr>
          <p:cNvSpPr txBox="1"/>
          <p:nvPr/>
        </p:nvSpPr>
        <p:spPr>
          <a:xfrm>
            <a:off x="2894733" y="337702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C2BF7094-4FDA-4CCF-B33F-77C792CCD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902" y="1994641"/>
            <a:ext cx="1686364" cy="2996810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DAC7D78F-12B4-47AE-81DC-84761B2C222E}"/>
              </a:ext>
            </a:extLst>
          </p:cNvPr>
          <p:cNvSpPr txBox="1"/>
          <p:nvPr/>
        </p:nvSpPr>
        <p:spPr>
          <a:xfrm>
            <a:off x="746443" y="5673103"/>
            <a:ext cx="2556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latin typeface="Bell MT" panose="02020503060305020303" pitchFamily="18" charset="0"/>
              </a:rPr>
              <a:t>What</a:t>
            </a:r>
            <a:r>
              <a:rPr lang="fr-FR" sz="2800" dirty="0">
                <a:latin typeface="Bell MT" panose="02020503060305020303" pitchFamily="18" charset="0"/>
              </a:rPr>
              <a:t> </a:t>
            </a:r>
            <a:r>
              <a:rPr lang="fr-FR" sz="2800" dirty="0" err="1">
                <a:latin typeface="Bell MT" panose="02020503060305020303" pitchFamily="18" charset="0"/>
              </a:rPr>
              <a:t>is</a:t>
            </a:r>
            <a:r>
              <a:rPr lang="fr-FR" sz="2800" dirty="0">
                <a:latin typeface="Bell MT" panose="02020503060305020303" pitchFamily="18" charset="0"/>
              </a:rPr>
              <a:t> </a:t>
            </a:r>
            <a:r>
              <a:rPr lang="fr-FR" sz="2800" dirty="0" err="1">
                <a:latin typeface="Bell MT" panose="02020503060305020303" pitchFamily="18" charset="0"/>
              </a:rPr>
              <a:t>better</a:t>
            </a:r>
            <a:r>
              <a:rPr lang="fr-FR" sz="2800" dirty="0">
                <a:latin typeface="Bell MT" panose="02020503060305020303" pitchFamily="18" charset="0"/>
              </a:rPr>
              <a:t> ?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2AC6ED8-2F73-4A97-8F81-896F5E3274F5}"/>
              </a:ext>
            </a:extLst>
          </p:cNvPr>
          <p:cNvSpPr txBox="1"/>
          <p:nvPr/>
        </p:nvSpPr>
        <p:spPr>
          <a:xfrm>
            <a:off x="3492397" y="5673102"/>
            <a:ext cx="8151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2 missions on 1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Save </a:t>
            </a:r>
            <a:r>
              <a:rPr lang="fr-FR" sz="2400" dirty="0" err="1">
                <a:latin typeface="Bell MT" panose="02020503060305020303" pitchFamily="18" charset="0"/>
              </a:rPr>
              <a:t>space</a:t>
            </a:r>
            <a:r>
              <a:rPr lang="fr-FR" sz="2400" dirty="0">
                <a:latin typeface="Bell MT" panose="02020503060305020303" pitchFamily="18" charset="0"/>
              </a:rPr>
              <a:t> on the robot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DA223-DD94-44FD-AA9C-521AC34B5C0B}"/>
              </a:ext>
            </a:extLst>
          </p:cNvPr>
          <p:cNvSpPr txBox="1"/>
          <p:nvPr/>
        </p:nvSpPr>
        <p:spPr>
          <a:xfrm>
            <a:off x="7420451" y="5673103"/>
            <a:ext cx="422384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Bell MT" panose="02020503060305020303" pitchFamily="18" charset="0"/>
              </a:rPr>
              <a:t>Only</a:t>
            </a:r>
            <a:r>
              <a:rPr lang="fr-FR" sz="2400" dirty="0">
                <a:latin typeface="Bell MT" panose="02020503060305020303" pitchFamily="18" charset="0"/>
              </a:rPr>
              <a:t> 1 </a:t>
            </a:r>
            <a:r>
              <a:rPr lang="fr-FR" sz="2400" dirty="0" err="1">
                <a:latin typeface="Bell MT" panose="02020503060305020303" pitchFamily="18" charset="0"/>
              </a:rPr>
              <a:t>motor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against</a:t>
            </a:r>
            <a:r>
              <a:rPr lang="fr-FR" sz="2400" dirty="0">
                <a:latin typeface="Bell MT" panose="02020503060305020303" pitchFamily="18" charset="0"/>
              </a:rPr>
              <a:t> 3 </a:t>
            </a:r>
            <a:r>
              <a:rPr lang="fr-FR" sz="2400" dirty="0" err="1">
                <a:latin typeface="Bell MT" panose="02020503060305020303" pitchFamily="18" charset="0"/>
              </a:rPr>
              <a:t>before</a:t>
            </a:r>
            <a:endParaRPr lang="fr-FR" sz="24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Do the </a:t>
            </a:r>
            <a:r>
              <a:rPr lang="fr-FR" sz="2400" dirty="0" err="1">
                <a:latin typeface="Bell MT" panose="02020503060305020303" pitchFamily="18" charset="0"/>
              </a:rPr>
              <a:t>same</a:t>
            </a:r>
            <a:r>
              <a:rPr lang="fr-FR" sz="2400" dirty="0">
                <a:latin typeface="Bell MT" panose="02020503060305020303" pitchFamily="18" charset="0"/>
              </a:rPr>
              <a:t> job in </a:t>
            </a:r>
            <a:r>
              <a:rPr lang="fr-FR" sz="2400" dirty="0" err="1">
                <a:latin typeface="Bell MT" panose="02020503060305020303" pitchFamily="18" charset="0"/>
              </a:rPr>
              <a:t>less</a:t>
            </a:r>
            <a:r>
              <a:rPr lang="fr-FR" sz="2400" dirty="0">
                <a:latin typeface="Bell MT" panose="02020503060305020303" pitchFamily="18" charset="0"/>
              </a:rPr>
              <a:t> time</a:t>
            </a:r>
          </a:p>
          <a:p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4F9C40-C16E-43C9-8E03-4661747C5195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</a:t>
            </a:r>
            <a:r>
              <a:rPr lang="fr-FR" sz="2000" dirty="0">
                <a:solidFill>
                  <a:schemeClr val="tx1"/>
                </a:solidFill>
              </a:rPr>
              <a:t>6.Prototypes </a:t>
            </a:r>
            <a:r>
              <a:rPr lang="fr-FR" sz="2000" dirty="0"/>
              <a:t>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420431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20" grpId="0"/>
      <p:bldP spid="2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A651775-F2CA-4448-B348-D182C2984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DB7356C-AAD2-42F2-9D44-D4497DEDF300}"/>
              </a:ext>
            </a:extLst>
          </p:cNvPr>
          <p:cNvSpPr txBox="1"/>
          <p:nvPr/>
        </p:nvSpPr>
        <p:spPr>
          <a:xfrm>
            <a:off x="1016678" y="945663"/>
            <a:ext cx="18475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6.3 </a:t>
            </a:r>
            <a:r>
              <a:rPr lang="fr-FR" sz="3200" u="sng" dirty="0" err="1">
                <a:latin typeface="Bell MT" panose="02020503060305020303" pitchFamily="18" charset="0"/>
              </a:rPr>
              <a:t>Sorter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425B751-1EEA-45C8-9E30-913C8FF2DFAC}"/>
              </a:ext>
            </a:extLst>
          </p:cNvPr>
          <p:cNvCxnSpPr>
            <a:cxnSpLocks/>
          </p:cNvCxnSpPr>
          <p:nvPr/>
        </p:nvCxnSpPr>
        <p:spPr>
          <a:xfrm>
            <a:off x="5003464" y="1761270"/>
            <a:ext cx="0" cy="3115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F615F0EA-590D-47E0-8292-1DB89DD82E3C}"/>
              </a:ext>
            </a:extLst>
          </p:cNvPr>
          <p:cNvSpPr txBox="1"/>
          <p:nvPr/>
        </p:nvSpPr>
        <p:spPr>
          <a:xfrm>
            <a:off x="1638899" y="1530438"/>
            <a:ext cx="18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had</a:t>
            </a:r>
            <a:endParaRPr lang="fr-FR" sz="2400" dirty="0">
              <a:latin typeface="Bell MT" panose="02020503060305020303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8E523F-9FA6-4EF9-9229-0C01A5A36938}"/>
              </a:ext>
            </a:extLst>
          </p:cNvPr>
          <p:cNvSpPr txBox="1"/>
          <p:nvPr/>
        </p:nvSpPr>
        <p:spPr>
          <a:xfrm>
            <a:off x="7680960" y="1299605"/>
            <a:ext cx="1970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have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AC7D78F-12B4-47AE-81DC-84761B2C222E}"/>
              </a:ext>
            </a:extLst>
          </p:cNvPr>
          <p:cNvSpPr txBox="1"/>
          <p:nvPr/>
        </p:nvSpPr>
        <p:spPr>
          <a:xfrm>
            <a:off x="1711444" y="5675887"/>
            <a:ext cx="2622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latin typeface="Bell MT" panose="02020503060305020303" pitchFamily="18" charset="0"/>
              </a:rPr>
              <a:t>Characteristics</a:t>
            </a:r>
            <a:r>
              <a:rPr lang="fr-FR" sz="2800" dirty="0">
                <a:latin typeface="Bell MT" panose="02020503060305020303" pitchFamily="18" charset="0"/>
              </a:rPr>
              <a:t> ?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2AC6ED8-2F73-4A97-8F81-896F5E3274F5}"/>
              </a:ext>
            </a:extLst>
          </p:cNvPr>
          <p:cNvSpPr txBox="1"/>
          <p:nvPr/>
        </p:nvSpPr>
        <p:spPr>
          <a:xfrm>
            <a:off x="5102751" y="5521998"/>
            <a:ext cx="29322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2 </a:t>
            </a:r>
            <a:r>
              <a:rPr lang="fr-FR" sz="2400" dirty="0" err="1">
                <a:latin typeface="Bell MT" panose="02020503060305020303" pitchFamily="18" charset="0"/>
              </a:rPr>
              <a:t>pwm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signals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1 </a:t>
            </a:r>
            <a:r>
              <a:rPr lang="fr-FR" sz="2400" dirty="0" err="1">
                <a:latin typeface="Bell MT" panose="02020503060305020303" pitchFamily="18" charset="0"/>
              </a:rPr>
              <a:t>luminosity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sensor</a:t>
            </a:r>
            <a:endParaRPr lang="fr-FR" sz="24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Compact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EA4241-1BD0-405F-B324-4319F98EC147}"/>
              </a:ext>
            </a:extLst>
          </p:cNvPr>
          <p:cNvSpPr txBox="1"/>
          <p:nvPr/>
        </p:nvSpPr>
        <p:spPr>
          <a:xfrm>
            <a:off x="1787370" y="3105118"/>
            <a:ext cx="3030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Bell MT" panose="02020503060305020303" pitchFamily="18" charset="0"/>
              </a:rPr>
              <a:t>Nothing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7FD150D-693D-4815-B0AB-C7EBEDEBA6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546" y="1761270"/>
            <a:ext cx="2475597" cy="31754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21B0428-ADDD-4147-B6BA-01B0CE6BBCB0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</a:t>
            </a:r>
            <a:r>
              <a:rPr lang="fr-FR" sz="2000" dirty="0">
                <a:solidFill>
                  <a:schemeClr val="tx1"/>
                </a:solidFill>
              </a:rPr>
              <a:t>6.Prototypes </a:t>
            </a:r>
            <a:r>
              <a:rPr lang="fr-FR" sz="2000" dirty="0"/>
              <a:t>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699324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A651775-F2CA-4448-B348-D182C2984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DB7356C-AAD2-42F2-9D44-D4497DEDF300}"/>
              </a:ext>
            </a:extLst>
          </p:cNvPr>
          <p:cNvSpPr txBox="1"/>
          <p:nvPr/>
        </p:nvSpPr>
        <p:spPr>
          <a:xfrm>
            <a:off x="1016678" y="945663"/>
            <a:ext cx="2889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6.4 Ball </a:t>
            </a:r>
            <a:r>
              <a:rPr lang="fr-FR" sz="3200" u="sng" dirty="0" err="1">
                <a:latin typeface="Bell MT" panose="02020503060305020303" pitchFamily="18" charset="0"/>
              </a:rPr>
              <a:t>thrower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425B751-1EEA-45C8-9E30-913C8FF2DFAC}"/>
              </a:ext>
            </a:extLst>
          </p:cNvPr>
          <p:cNvCxnSpPr>
            <a:cxnSpLocks/>
          </p:cNvCxnSpPr>
          <p:nvPr/>
        </p:nvCxnSpPr>
        <p:spPr>
          <a:xfrm>
            <a:off x="6153691" y="1992103"/>
            <a:ext cx="0" cy="2823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F615F0EA-590D-47E0-8292-1DB89DD82E3C}"/>
              </a:ext>
            </a:extLst>
          </p:cNvPr>
          <p:cNvSpPr txBox="1"/>
          <p:nvPr/>
        </p:nvSpPr>
        <p:spPr>
          <a:xfrm>
            <a:off x="1638899" y="1530438"/>
            <a:ext cx="1877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had</a:t>
            </a:r>
            <a:endParaRPr lang="fr-FR" sz="2400" dirty="0">
              <a:latin typeface="Bell MT" panose="02020503060305020303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8E523F-9FA6-4EF9-9229-0C01A5A36938}"/>
              </a:ext>
            </a:extLst>
          </p:cNvPr>
          <p:cNvSpPr txBox="1"/>
          <p:nvPr/>
        </p:nvSpPr>
        <p:spPr>
          <a:xfrm>
            <a:off x="7680960" y="1530438"/>
            <a:ext cx="1970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Bell MT" panose="02020503060305020303" pitchFamily="18" charset="0"/>
              </a:rPr>
              <a:t>What</a:t>
            </a:r>
            <a:r>
              <a:rPr lang="fr-FR" sz="2400" dirty="0">
                <a:latin typeface="Bell MT" panose="02020503060305020303" pitchFamily="18" charset="0"/>
              </a:rPr>
              <a:t> </a:t>
            </a:r>
            <a:r>
              <a:rPr lang="fr-FR" sz="2400" dirty="0" err="1">
                <a:latin typeface="Bell MT" panose="02020503060305020303" pitchFamily="18" charset="0"/>
              </a:rPr>
              <a:t>we</a:t>
            </a:r>
            <a:r>
              <a:rPr lang="fr-FR" sz="2400" dirty="0">
                <a:latin typeface="Bell MT" panose="02020503060305020303" pitchFamily="18" charset="0"/>
              </a:rPr>
              <a:t> have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AC7D78F-12B4-47AE-81DC-84761B2C222E}"/>
              </a:ext>
            </a:extLst>
          </p:cNvPr>
          <p:cNvSpPr txBox="1"/>
          <p:nvPr/>
        </p:nvSpPr>
        <p:spPr>
          <a:xfrm>
            <a:off x="1638899" y="5576456"/>
            <a:ext cx="2556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>
                <a:latin typeface="Bell MT" panose="02020503060305020303" pitchFamily="18" charset="0"/>
              </a:rPr>
              <a:t>What</a:t>
            </a:r>
            <a:r>
              <a:rPr lang="fr-FR" sz="2800" dirty="0">
                <a:latin typeface="Bell MT" panose="02020503060305020303" pitchFamily="18" charset="0"/>
              </a:rPr>
              <a:t> </a:t>
            </a:r>
            <a:r>
              <a:rPr lang="fr-FR" sz="2800" dirty="0" err="1">
                <a:latin typeface="Bell MT" panose="02020503060305020303" pitchFamily="18" charset="0"/>
              </a:rPr>
              <a:t>is</a:t>
            </a:r>
            <a:r>
              <a:rPr lang="fr-FR" sz="2800" dirty="0">
                <a:latin typeface="Bell MT" panose="02020503060305020303" pitchFamily="18" charset="0"/>
              </a:rPr>
              <a:t> </a:t>
            </a:r>
            <a:r>
              <a:rPr lang="fr-FR" sz="2800" dirty="0" err="1">
                <a:latin typeface="Bell MT" panose="02020503060305020303" pitchFamily="18" charset="0"/>
              </a:rPr>
              <a:t>better</a:t>
            </a:r>
            <a:r>
              <a:rPr lang="fr-FR" sz="2800" dirty="0">
                <a:latin typeface="Bell MT" panose="02020503060305020303" pitchFamily="18" charset="0"/>
              </a:rPr>
              <a:t> ?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2AC6ED8-2F73-4A97-8F81-896F5E3274F5}"/>
              </a:ext>
            </a:extLst>
          </p:cNvPr>
          <p:cNvSpPr txBox="1"/>
          <p:nvPr/>
        </p:nvSpPr>
        <p:spPr>
          <a:xfrm>
            <a:off x="4806929" y="5237901"/>
            <a:ext cx="47660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1 </a:t>
            </a:r>
            <a:r>
              <a:rPr lang="fr-FR" sz="2400" dirty="0" err="1">
                <a:latin typeface="Bell MT" panose="02020503060305020303" pitchFamily="18" charset="0"/>
              </a:rPr>
              <a:t>motor</a:t>
            </a:r>
            <a:r>
              <a:rPr lang="fr-FR" sz="2400" dirty="0">
                <a:latin typeface="Bell MT" panose="02020503060305020303" pitchFamily="18" charset="0"/>
              </a:rPr>
              <a:t>, </a:t>
            </a:r>
            <a:r>
              <a:rPr lang="fr-FR" sz="2400" dirty="0" err="1">
                <a:latin typeface="Bell MT" panose="02020503060305020303" pitchFamily="18" charset="0"/>
              </a:rPr>
              <a:t>launched</a:t>
            </a:r>
            <a:r>
              <a:rPr lang="fr-FR" sz="2400" dirty="0">
                <a:latin typeface="Bell MT" panose="02020503060305020303" pitchFamily="18" charset="0"/>
              </a:rPr>
              <a:t> more stable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 err="1">
                <a:latin typeface="Bell MT" panose="02020503060305020303" pitchFamily="18" charset="0"/>
              </a:rPr>
              <a:t>Easier</a:t>
            </a:r>
            <a:r>
              <a:rPr lang="fr-FR" sz="2400" dirty="0">
                <a:latin typeface="Bell MT" panose="02020503060305020303" pitchFamily="18" charset="0"/>
              </a:rPr>
              <a:t> to </a:t>
            </a:r>
            <a:r>
              <a:rPr lang="fr-FR" sz="2400" dirty="0" err="1">
                <a:latin typeface="Bell MT" panose="02020503060305020303" pitchFamily="18" charset="0"/>
              </a:rPr>
              <a:t>implemente</a:t>
            </a:r>
            <a:r>
              <a:rPr lang="fr-FR" sz="2400" dirty="0">
                <a:latin typeface="Bell MT" panose="02020503060305020303" pitchFamily="18" charset="0"/>
              </a:rPr>
              <a:t> on the robot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Bell MT" panose="02020503060305020303" pitchFamily="18" charset="0"/>
              </a:rPr>
              <a:t>A </a:t>
            </a:r>
            <a:r>
              <a:rPr lang="fr-FR" sz="2400" dirty="0" err="1">
                <a:latin typeface="Bell MT" panose="02020503060305020303" pitchFamily="18" charset="0"/>
              </a:rPr>
              <a:t>ramp</a:t>
            </a:r>
            <a:r>
              <a:rPr lang="fr-FR" sz="2400" dirty="0">
                <a:latin typeface="Bell MT" panose="02020503060305020303" pitchFamily="18" charset="0"/>
              </a:rPr>
              <a:t> to </a:t>
            </a:r>
            <a:r>
              <a:rPr lang="fr-FR" sz="2400" dirty="0" err="1">
                <a:latin typeface="Bell MT" panose="02020503060305020303" pitchFamily="18" charset="0"/>
              </a:rPr>
              <a:t>adjust</a:t>
            </a:r>
            <a:r>
              <a:rPr lang="fr-FR" sz="2400" dirty="0">
                <a:latin typeface="Bell MT" panose="02020503060305020303" pitchFamily="18" charset="0"/>
              </a:rPr>
              <a:t> the </a:t>
            </a:r>
            <a:r>
              <a:rPr lang="fr-FR" sz="2400" dirty="0" err="1">
                <a:latin typeface="Bell MT" panose="02020503060305020303" pitchFamily="18" charset="0"/>
              </a:rPr>
              <a:t>aim</a:t>
            </a:r>
            <a:endParaRPr lang="fr-FR" sz="2400" dirty="0">
              <a:latin typeface="Bell MT" panose="020205030603050203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33ADBDA-1D03-484F-AAB4-B6EF3D6EC4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61" y="1992103"/>
            <a:ext cx="2896248" cy="282317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2DA63D5-BE94-4E4B-9964-278AE5D632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375" y="1992103"/>
            <a:ext cx="2411704" cy="282317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75218CB-9EE7-40BE-98E0-4A59DE5E6FFE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</a:t>
            </a:r>
            <a:r>
              <a:rPr lang="fr-FR" sz="2000" dirty="0">
                <a:solidFill>
                  <a:schemeClr val="tx1"/>
                </a:solidFill>
              </a:rPr>
              <a:t>6.Prototypes </a:t>
            </a:r>
            <a:r>
              <a:rPr lang="fr-FR" sz="2000" dirty="0"/>
              <a:t>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246230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C3D79D1-0205-45F0-B81B-695027A167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71DC2BF-F5C7-43C2-BCED-A4FD584F4B05}"/>
              </a:ext>
            </a:extLst>
          </p:cNvPr>
          <p:cNvSpPr txBox="1"/>
          <p:nvPr/>
        </p:nvSpPr>
        <p:spPr>
          <a:xfrm>
            <a:off x="1016678" y="945663"/>
            <a:ext cx="1555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6.5 PCB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93FE5A2-4B13-4BED-B6E2-5DF3327E20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66" y="2046366"/>
            <a:ext cx="8802328" cy="43821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832E64-3B5F-45D9-8C21-3B5F2A0C2871}"/>
              </a:ext>
            </a:extLst>
          </p:cNvPr>
          <p:cNvSpPr/>
          <p:nvPr/>
        </p:nvSpPr>
        <p:spPr>
          <a:xfrm>
            <a:off x="2949535" y="5422367"/>
            <a:ext cx="2684477" cy="81373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DA42E1-FF74-4991-82CD-C524D2484B50}"/>
              </a:ext>
            </a:extLst>
          </p:cNvPr>
          <p:cNvSpPr/>
          <p:nvPr/>
        </p:nvSpPr>
        <p:spPr>
          <a:xfrm>
            <a:off x="5924830" y="5422367"/>
            <a:ext cx="2684477" cy="81373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74EB9-A375-4BA8-993A-8E5D5992FF0C}"/>
              </a:ext>
            </a:extLst>
          </p:cNvPr>
          <p:cNvSpPr/>
          <p:nvPr/>
        </p:nvSpPr>
        <p:spPr>
          <a:xfrm>
            <a:off x="8002500" y="4817667"/>
            <a:ext cx="241885" cy="52621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B95A1E-1F5B-473F-80C0-802E9BEB7B73}"/>
              </a:ext>
            </a:extLst>
          </p:cNvPr>
          <p:cNvSpPr/>
          <p:nvPr/>
        </p:nvSpPr>
        <p:spPr>
          <a:xfrm>
            <a:off x="7891218" y="3472487"/>
            <a:ext cx="620217" cy="11193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49E2A1-6F26-433A-9646-C7F8A1C0E5AC}"/>
              </a:ext>
            </a:extLst>
          </p:cNvPr>
          <p:cNvSpPr/>
          <p:nvPr/>
        </p:nvSpPr>
        <p:spPr>
          <a:xfrm>
            <a:off x="7981271" y="2192606"/>
            <a:ext cx="412719" cy="109895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29B17C-6ECE-47C1-A776-D197312CB270}"/>
              </a:ext>
            </a:extLst>
          </p:cNvPr>
          <p:cNvSpPr/>
          <p:nvPr/>
        </p:nvSpPr>
        <p:spPr>
          <a:xfrm>
            <a:off x="5924830" y="2351166"/>
            <a:ext cx="1697373" cy="4068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EC7968-4701-4A96-A1A2-08719F62E462}"/>
              </a:ext>
            </a:extLst>
          </p:cNvPr>
          <p:cNvSpPr/>
          <p:nvPr/>
        </p:nvSpPr>
        <p:spPr>
          <a:xfrm>
            <a:off x="2809718" y="2679167"/>
            <a:ext cx="2941740" cy="1055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888AA4-8F16-41A1-9F79-877218D940D5}"/>
              </a:ext>
            </a:extLst>
          </p:cNvPr>
          <p:cNvSpPr/>
          <p:nvPr/>
        </p:nvSpPr>
        <p:spPr>
          <a:xfrm>
            <a:off x="8269550" y="4817667"/>
            <a:ext cx="241885" cy="52621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76200">
                <a:solidFill>
                  <a:schemeClr val="tx1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562ABB7-5301-42FE-9370-160B96E6BC8A}"/>
              </a:ext>
            </a:extLst>
          </p:cNvPr>
          <p:cNvSpPr txBox="1"/>
          <p:nvPr/>
        </p:nvSpPr>
        <p:spPr>
          <a:xfrm>
            <a:off x="2809718" y="2265238"/>
            <a:ext cx="2077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ALIMENTATION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C59FF6D-213C-49A5-82E4-E0FAF8539AEC}"/>
              </a:ext>
            </a:extLst>
          </p:cNvPr>
          <p:cNvSpPr txBox="1"/>
          <p:nvPr/>
        </p:nvSpPr>
        <p:spPr>
          <a:xfrm>
            <a:off x="3580245" y="6507327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</a:rPr>
              <a:t>PORT B MYRIO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14F79EB-6C0A-4594-BDE4-7DEA6356F825}"/>
              </a:ext>
            </a:extLst>
          </p:cNvPr>
          <p:cNvSpPr txBox="1"/>
          <p:nvPr/>
        </p:nvSpPr>
        <p:spPr>
          <a:xfrm>
            <a:off x="6425608" y="6507328"/>
            <a:ext cx="2085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</a:rPr>
              <a:t>PORT A MYRIO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1F7CC94-6294-48C7-A9A0-417FDD6517F3}"/>
              </a:ext>
            </a:extLst>
          </p:cNvPr>
          <p:cNvSpPr txBox="1"/>
          <p:nvPr/>
        </p:nvSpPr>
        <p:spPr>
          <a:xfrm>
            <a:off x="10344186" y="3645202"/>
            <a:ext cx="1015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00B0F0"/>
                </a:solidFill>
              </a:rPr>
              <a:t>TRIEUR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FAAC304-77C5-48D4-BBD3-9221844324FC}"/>
              </a:ext>
            </a:extLst>
          </p:cNvPr>
          <p:cNvSpPr txBox="1"/>
          <p:nvPr/>
        </p:nvSpPr>
        <p:spPr>
          <a:xfrm>
            <a:off x="6204580" y="1842956"/>
            <a:ext cx="1354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LANCEUR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CB2AAD5-AFFF-4213-9B60-CD76DE592528}"/>
              </a:ext>
            </a:extLst>
          </p:cNvPr>
          <p:cNvSpPr txBox="1"/>
          <p:nvPr/>
        </p:nvSpPr>
        <p:spPr>
          <a:xfrm>
            <a:off x="10356795" y="2272256"/>
            <a:ext cx="16081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C000"/>
                </a:solidFill>
              </a:rPr>
              <a:t>MOTEUR +</a:t>
            </a:r>
            <a:br>
              <a:rPr lang="fr-FR" sz="2400" dirty="0">
                <a:solidFill>
                  <a:srgbClr val="FFC000"/>
                </a:solidFill>
              </a:rPr>
            </a:br>
            <a:r>
              <a:rPr lang="fr-FR" sz="2400" dirty="0">
                <a:solidFill>
                  <a:srgbClr val="FFC000"/>
                </a:solidFill>
              </a:rPr>
              <a:t>ENCODEUR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0740C32-E7DD-4CA3-AC11-0A6B3036A85E}"/>
              </a:ext>
            </a:extLst>
          </p:cNvPr>
          <p:cNvSpPr txBox="1"/>
          <p:nvPr/>
        </p:nvSpPr>
        <p:spPr>
          <a:xfrm>
            <a:off x="10356795" y="4586834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00B050"/>
                </a:solidFill>
              </a:rPr>
              <a:t>SUIVEUR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CF41B18-9498-4545-8F16-175FA26660BF}"/>
              </a:ext>
            </a:extLst>
          </p:cNvPr>
          <p:cNvSpPr txBox="1"/>
          <p:nvPr/>
        </p:nvSpPr>
        <p:spPr>
          <a:xfrm>
            <a:off x="6324091" y="4896602"/>
            <a:ext cx="832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7030A0"/>
                </a:solidFill>
              </a:rPr>
              <a:t>BRAS</a:t>
            </a:r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25371271-8C89-4DAD-B963-6007BFFB6DA4}"/>
              </a:ext>
            </a:extLst>
          </p:cNvPr>
          <p:cNvCxnSpPr/>
          <p:nvPr/>
        </p:nvCxnSpPr>
        <p:spPr>
          <a:xfrm>
            <a:off x="7267068" y="5080773"/>
            <a:ext cx="6241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0EDC4D4E-4578-4418-8FF9-E5CBEB373B11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8609307" y="4817667"/>
            <a:ext cx="1747488" cy="263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88C70756-534F-441B-AC14-D4B125744D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51" y="1785256"/>
            <a:ext cx="5757187" cy="464322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9B22541-384A-4E0B-A91F-EA26E48227E3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</a:t>
            </a:r>
            <a:r>
              <a:rPr lang="fr-FR" sz="2000" dirty="0">
                <a:solidFill>
                  <a:schemeClr val="tx1"/>
                </a:solidFill>
              </a:rPr>
              <a:t>6.Prototypes </a:t>
            </a:r>
            <a:r>
              <a:rPr lang="fr-FR" sz="2000" dirty="0"/>
              <a:t>7.Achevment 8.Video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F27A1B9-425E-431E-B88C-07412AA87550}"/>
              </a:ext>
            </a:extLst>
          </p:cNvPr>
          <p:cNvCxnSpPr>
            <a:cxnSpLocks/>
          </p:cNvCxnSpPr>
          <p:nvPr/>
        </p:nvCxnSpPr>
        <p:spPr>
          <a:xfrm flipH="1">
            <a:off x="8629233" y="3827094"/>
            <a:ext cx="1747488" cy="263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B45461C-72DB-4F0D-A862-5F39472C1B81}"/>
              </a:ext>
            </a:extLst>
          </p:cNvPr>
          <p:cNvCxnSpPr>
            <a:cxnSpLocks/>
          </p:cNvCxnSpPr>
          <p:nvPr/>
        </p:nvCxnSpPr>
        <p:spPr>
          <a:xfrm flipH="1">
            <a:off x="8532731" y="2659053"/>
            <a:ext cx="1747488" cy="2631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Image 44">
            <a:extLst>
              <a:ext uri="{FF2B5EF4-FFF2-40B4-BE49-F238E27FC236}">
                <a16:creationId xmlns:a16="http://schemas.microsoft.com/office/drawing/2014/main" id="{ADE54056-DE0B-4AB7-BD1B-F69D6F7C4E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438" y="1694207"/>
            <a:ext cx="6164498" cy="481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9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6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2FF66E-A992-425A-A80D-1A417FD320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0797395-A469-4D7C-894D-F0328B0E6272}"/>
              </a:ext>
            </a:extLst>
          </p:cNvPr>
          <p:cNvSpPr txBox="1"/>
          <p:nvPr/>
        </p:nvSpPr>
        <p:spPr>
          <a:xfrm>
            <a:off x="1016678" y="945663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6.6 Arena</a:t>
            </a:r>
          </a:p>
        </p:txBody>
      </p:sp>
      <p:pic>
        <p:nvPicPr>
          <p:cNvPr id="1026" name="Picture 2" descr="D:\Téléchargements\32944462_1431504496955147_4443379418466877440_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4248" y="1758488"/>
            <a:ext cx="6343755" cy="4757816"/>
          </a:xfrm>
          <a:prstGeom prst="rect">
            <a:avLst/>
          </a:prstGeom>
          <a:noFill/>
        </p:spPr>
      </p:pic>
      <p:pic>
        <p:nvPicPr>
          <p:cNvPr id="1027" name="Picture 3" descr="D:\Téléchargements\32906553_1431504316955165_8381228803803840512_n.jpg"/>
          <p:cNvPicPr>
            <a:picLocks noChangeAspect="1" noChangeArrowheads="1"/>
          </p:cNvPicPr>
          <p:nvPr/>
        </p:nvPicPr>
        <p:blipFill>
          <a:blip r:embed="rId4" cstate="print"/>
          <a:srcRect l="21346" t="634" r="12986" b="35080"/>
          <a:stretch>
            <a:fillRect/>
          </a:stretch>
        </p:blipFill>
        <p:spPr bwMode="auto">
          <a:xfrm>
            <a:off x="853708" y="1918940"/>
            <a:ext cx="2615148" cy="3413456"/>
          </a:xfrm>
          <a:prstGeom prst="rect">
            <a:avLst/>
          </a:prstGeom>
          <a:noFill/>
        </p:spPr>
      </p:pic>
      <p:pic>
        <p:nvPicPr>
          <p:cNvPr id="1028" name="Picture 4" descr="D:\Téléchargements\32887348_1431504300288500_8811540872815443968_n.jpg"/>
          <p:cNvPicPr>
            <a:picLocks noChangeAspect="1" noChangeArrowheads="1"/>
          </p:cNvPicPr>
          <p:nvPr/>
        </p:nvPicPr>
        <p:blipFill>
          <a:blip r:embed="rId5" cstate="print"/>
          <a:srcRect l="37366" t="33468" r="20430" b="19657"/>
          <a:stretch>
            <a:fillRect/>
          </a:stretch>
        </p:blipFill>
        <p:spPr bwMode="auto">
          <a:xfrm>
            <a:off x="4224429" y="827773"/>
            <a:ext cx="2159000" cy="3197245"/>
          </a:xfrm>
          <a:prstGeom prst="rect">
            <a:avLst/>
          </a:prstGeom>
          <a:noFill/>
        </p:spPr>
      </p:pic>
      <p:pic>
        <p:nvPicPr>
          <p:cNvPr id="1029" name="Picture 5" descr="D:\Téléchargements\32928276_1431504443621819_8491365638017646592_n.jpg"/>
          <p:cNvPicPr>
            <a:picLocks noChangeAspect="1" noChangeArrowheads="1"/>
          </p:cNvPicPr>
          <p:nvPr/>
        </p:nvPicPr>
        <p:blipFill>
          <a:blip r:embed="rId6" cstate="print"/>
          <a:srcRect l="12903" t="17742" r="17440" b="45161"/>
          <a:stretch>
            <a:fillRect/>
          </a:stretch>
        </p:blipFill>
        <p:spPr bwMode="auto">
          <a:xfrm>
            <a:off x="6791215" y="2496420"/>
            <a:ext cx="4578626" cy="1828800"/>
          </a:xfrm>
          <a:prstGeom prst="rect">
            <a:avLst/>
          </a:prstGeom>
          <a:noFill/>
        </p:spPr>
      </p:pic>
      <p:pic>
        <p:nvPicPr>
          <p:cNvPr id="1030" name="Picture 6" descr="D:\Téléchargements\32857575_1431504053621858_172931132982034432_n.jpg"/>
          <p:cNvPicPr>
            <a:picLocks noChangeAspect="1" noChangeArrowheads="1"/>
          </p:cNvPicPr>
          <p:nvPr/>
        </p:nvPicPr>
        <p:blipFill>
          <a:blip r:embed="rId7" cstate="print"/>
          <a:srcRect l="20161" t="13172" r="33065" b="50538"/>
          <a:stretch>
            <a:fillRect/>
          </a:stretch>
        </p:blipFill>
        <p:spPr bwMode="auto">
          <a:xfrm>
            <a:off x="7931810" y="4789496"/>
            <a:ext cx="3217804" cy="1872429"/>
          </a:xfrm>
          <a:prstGeom prst="rect">
            <a:avLst/>
          </a:prstGeom>
          <a:noFill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FFD3CD-2B46-4C3B-9E59-4AB06B358D44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</a:t>
            </a:r>
            <a:r>
              <a:rPr lang="fr-FR" sz="2000" dirty="0">
                <a:solidFill>
                  <a:schemeClr val="tx1"/>
                </a:solidFill>
              </a:rPr>
              <a:t>6.Prototypes </a:t>
            </a:r>
            <a:r>
              <a:rPr lang="fr-FR" sz="2000" dirty="0"/>
              <a:t>7.Achevment 8.Video</a:t>
            </a:r>
          </a:p>
        </p:txBody>
      </p:sp>
    </p:spTree>
    <p:extLst>
      <p:ext uri="{BB962C8B-B14F-4D97-AF65-F5344CB8AC3E}">
        <p14:creationId xmlns:p14="http://schemas.microsoft.com/office/powerpoint/2010/main" val="152634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C639D6B-3D91-49CE-858A-FD6812DBBD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pic>
        <p:nvPicPr>
          <p:cNvPr id="2050" name="Picture 2" descr="https://scontent-cdt1-1.xx.fbcdn.net/v/t1.15752-9/32864669_1860811693970751_2841183860589330432_n.png?_nc_cat=0&amp;oh=fc6b490da00110a1d842fdbf04d010f9&amp;oe=5B98F7DD">
            <a:extLst>
              <a:ext uri="{FF2B5EF4-FFF2-40B4-BE49-F238E27FC236}">
                <a16:creationId xmlns:a16="http://schemas.microsoft.com/office/drawing/2014/main" id="{37ECD059-3E74-4A7F-A465-3CE34911D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4" t="280" r="-1022" b="-207"/>
          <a:stretch>
            <a:fillRect/>
          </a:stretch>
        </p:blipFill>
        <p:spPr bwMode="auto">
          <a:xfrm>
            <a:off x="341745" y="1745673"/>
            <a:ext cx="11323782" cy="35407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E94F0C5-0BB7-488B-B929-95D4B0E185EC}"/>
              </a:ext>
            </a:extLst>
          </p:cNvPr>
          <p:cNvSpPr txBox="1"/>
          <p:nvPr/>
        </p:nvSpPr>
        <p:spPr>
          <a:xfrm>
            <a:off x="1016678" y="945663"/>
            <a:ext cx="2436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7.1 </a:t>
            </a:r>
            <a:r>
              <a:rPr lang="fr-FR" sz="3200" u="sng" dirty="0" err="1">
                <a:latin typeface="Bell MT" panose="02020503060305020303" pitchFamily="18" charset="0"/>
              </a:rPr>
              <a:t>TimeLine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8700648" y="5070764"/>
            <a:ext cx="2567709" cy="92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8081828" y="4996876"/>
            <a:ext cx="361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Coupe NI : 04-10-2018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B1363C-2890-457C-93E7-7234F3A89457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6.Prototypes </a:t>
            </a:r>
            <a:r>
              <a:rPr lang="fr-FR" sz="2000" dirty="0">
                <a:solidFill>
                  <a:schemeClr val="tx1"/>
                </a:solidFill>
              </a:rPr>
              <a:t>7.Achevment </a:t>
            </a:r>
            <a:r>
              <a:rPr lang="fr-FR" sz="2000" dirty="0"/>
              <a:t>8.Video</a:t>
            </a:r>
          </a:p>
        </p:txBody>
      </p:sp>
    </p:spTree>
    <p:extLst>
      <p:ext uri="{BB962C8B-B14F-4D97-AF65-F5344CB8AC3E}">
        <p14:creationId xmlns:p14="http://schemas.microsoft.com/office/powerpoint/2010/main" val="20682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FCE82E4-BC8F-45E5-B1F4-864C27D016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95E50B8-7344-4BE8-BBA7-740522610C73}"/>
              </a:ext>
            </a:extLst>
          </p:cNvPr>
          <p:cNvSpPr txBox="1"/>
          <p:nvPr/>
        </p:nvSpPr>
        <p:spPr>
          <a:xfrm>
            <a:off x="1016678" y="945663"/>
            <a:ext cx="50952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7.2 </a:t>
            </a:r>
            <a:r>
              <a:rPr lang="fr-FR" sz="3200" u="sng" dirty="0" err="1">
                <a:latin typeface="Bell MT" panose="02020503060305020303" pitchFamily="18" charset="0"/>
              </a:rPr>
              <a:t>Achevment</a:t>
            </a:r>
            <a:r>
              <a:rPr lang="fr-FR" sz="3200" u="sng" dirty="0">
                <a:latin typeface="Bell MT" panose="02020503060305020303" pitchFamily="18" charset="0"/>
              </a:rPr>
              <a:t> of the </a:t>
            </a:r>
            <a:r>
              <a:rPr lang="fr-FR" sz="3200" u="sng" dirty="0" err="1">
                <a:latin typeface="Bell MT" panose="02020503060305020303" pitchFamily="18" charset="0"/>
              </a:rPr>
              <a:t>project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12A85FA-A375-45A0-A348-49B41F1FD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12994"/>
            <a:ext cx="12192000" cy="32947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19929C-4D91-4B99-8123-BCFD4462F6ED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6.Prototypes </a:t>
            </a:r>
            <a:r>
              <a:rPr lang="fr-FR" sz="2000" dirty="0">
                <a:solidFill>
                  <a:schemeClr val="tx1"/>
                </a:solidFill>
              </a:rPr>
              <a:t>7.Achevment </a:t>
            </a:r>
            <a:r>
              <a:rPr lang="fr-FR" sz="2000" dirty="0"/>
              <a:t>8.Video</a:t>
            </a:r>
          </a:p>
        </p:txBody>
      </p:sp>
    </p:spTree>
    <p:extLst>
      <p:ext uri="{BB962C8B-B14F-4D97-AF65-F5344CB8AC3E}">
        <p14:creationId xmlns:p14="http://schemas.microsoft.com/office/powerpoint/2010/main" val="4089449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EFC6E44-DEEB-4330-A9B2-C9404442BC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21B06E4-A7F2-4722-A038-FDA8D4A66F88}"/>
              </a:ext>
            </a:extLst>
          </p:cNvPr>
          <p:cNvSpPr txBox="1"/>
          <p:nvPr/>
        </p:nvSpPr>
        <p:spPr>
          <a:xfrm>
            <a:off x="1016678" y="945663"/>
            <a:ext cx="3458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7.3 SVN </a:t>
            </a:r>
            <a:r>
              <a:rPr lang="fr-FR" sz="3200" u="sng" dirty="0" err="1">
                <a:latin typeface="Bell MT" panose="02020503060305020303" pitchFamily="18" charset="0"/>
              </a:rPr>
              <a:t>GitKraken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3AAEC-0E17-4E46-9C6B-EABC994F6DD5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6.Prototypes </a:t>
            </a:r>
            <a:r>
              <a:rPr lang="fr-FR" sz="2000" dirty="0">
                <a:solidFill>
                  <a:schemeClr val="tx1"/>
                </a:solidFill>
              </a:rPr>
              <a:t>7.Achevment </a:t>
            </a:r>
            <a:r>
              <a:rPr lang="fr-FR" sz="2000" dirty="0"/>
              <a:t>8.Video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F84BB71-337C-4F58-A957-1D3064116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033" y="1370374"/>
            <a:ext cx="4118767" cy="509392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D610C78-8DE3-49F7-A854-05E6FD447FAC}"/>
              </a:ext>
            </a:extLst>
          </p:cNvPr>
          <p:cNvSpPr txBox="1"/>
          <p:nvPr/>
        </p:nvSpPr>
        <p:spPr>
          <a:xfrm>
            <a:off x="520700" y="1955800"/>
            <a:ext cx="353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using </a:t>
            </a:r>
            <a:r>
              <a:rPr lang="en-US" dirty="0" err="1"/>
              <a:t>GitKraken</a:t>
            </a:r>
            <a:r>
              <a:rPr lang="en-US" dirty="0"/>
              <a:t> as a graphical interface for GitLab, in order to facilitate the versioning of our documents such as codes, 3D conceptions and everything else.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2300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BE4D385-2459-44B8-A365-E4899F2737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4B08811-9608-4881-8F1B-8E371A6D6D6C}"/>
              </a:ext>
            </a:extLst>
          </p:cNvPr>
          <p:cNvSpPr txBox="1"/>
          <p:nvPr/>
        </p:nvSpPr>
        <p:spPr>
          <a:xfrm>
            <a:off x="1016678" y="945663"/>
            <a:ext cx="4364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8.1 </a:t>
            </a:r>
            <a:r>
              <a:rPr lang="fr-FR" sz="3200" u="sng" dirty="0" err="1">
                <a:latin typeface="Bell MT" panose="02020503060305020303" pitchFamily="18" charset="0"/>
              </a:rPr>
              <a:t>Video</a:t>
            </a:r>
            <a:r>
              <a:rPr lang="fr-FR" sz="3200" u="sng" dirty="0">
                <a:latin typeface="Bell MT" panose="02020503060305020303" pitchFamily="18" charset="0"/>
              </a:rPr>
              <a:t> of the follower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A34E6D-8835-4FA2-AB73-55F8839C46A3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6.Prototypes 7.Achevment </a:t>
            </a:r>
            <a:r>
              <a:rPr lang="fr-FR" sz="2000" dirty="0">
                <a:solidFill>
                  <a:schemeClr val="tx1"/>
                </a:solidFill>
              </a:rPr>
              <a:t>8.Video</a:t>
            </a:r>
          </a:p>
        </p:txBody>
      </p:sp>
      <p:pic>
        <p:nvPicPr>
          <p:cNvPr id="2" name="parcours">
            <a:hlinkClick r:id="" action="ppaction://media"/>
            <a:extLst>
              <a:ext uri="{FF2B5EF4-FFF2-40B4-BE49-F238E27FC236}">
                <a16:creationId xmlns:a16="http://schemas.microsoft.com/office/drawing/2014/main" id="{046EE8C9-3172-443C-8296-F1DB2698EB6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207154" y="952901"/>
            <a:ext cx="2924145" cy="51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9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EBDB97A-E943-4A86-A89C-C5E5AAEDDE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1C2ED7A-4A84-4A28-A8D6-B9AB3FB44649}"/>
              </a:ext>
            </a:extLst>
          </p:cNvPr>
          <p:cNvSpPr txBox="1"/>
          <p:nvPr/>
        </p:nvSpPr>
        <p:spPr>
          <a:xfrm>
            <a:off x="1016678" y="945663"/>
            <a:ext cx="4339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u="sng" dirty="0">
                <a:latin typeface="Bell MT" panose="02020503060305020303" pitchFamily="18" charset="0"/>
              </a:rPr>
              <a:t>8.2 </a:t>
            </a:r>
            <a:r>
              <a:rPr lang="fr-FR" sz="3200" u="sng" dirty="0" err="1">
                <a:latin typeface="Bell MT" panose="02020503060305020303" pitchFamily="18" charset="0"/>
              </a:rPr>
              <a:t>Video</a:t>
            </a:r>
            <a:r>
              <a:rPr lang="fr-FR" sz="3200" u="sng" dirty="0">
                <a:latin typeface="Bell MT" panose="02020503060305020303" pitchFamily="18" charset="0"/>
              </a:rPr>
              <a:t> of the </a:t>
            </a:r>
            <a:r>
              <a:rPr lang="fr-FR" sz="3200" u="sng" dirty="0" err="1">
                <a:latin typeface="Bell MT" panose="02020503060305020303" pitchFamily="18" charset="0"/>
              </a:rPr>
              <a:t>thrower</a:t>
            </a:r>
            <a:endParaRPr lang="fr-FR" sz="3200" u="sng" dirty="0">
              <a:latin typeface="Bell MT" panose="020205030603050203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762C87-1AFF-48E5-9804-6D25B6EC6442}"/>
              </a:ext>
            </a:extLst>
          </p:cNvPr>
          <p:cNvSpPr/>
          <p:nvPr/>
        </p:nvSpPr>
        <p:spPr>
          <a:xfrm>
            <a:off x="105877" y="163629"/>
            <a:ext cx="10778145" cy="625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1.The team 2.The </a:t>
            </a:r>
            <a:r>
              <a:rPr lang="fr-FR" sz="2000" dirty="0" err="1"/>
              <a:t>competition</a:t>
            </a:r>
            <a:r>
              <a:rPr lang="fr-FR" sz="2000" dirty="0"/>
              <a:t> 3.Context 4.Aim 5.Architecture 6.Prototypes 7.Achevment </a:t>
            </a:r>
            <a:r>
              <a:rPr lang="fr-FR" sz="2000" dirty="0">
                <a:solidFill>
                  <a:schemeClr val="tx1"/>
                </a:solidFill>
              </a:rPr>
              <a:t>8.Video</a:t>
            </a:r>
          </a:p>
        </p:txBody>
      </p:sp>
      <p:pic>
        <p:nvPicPr>
          <p:cNvPr id="2" name="lanceur">
            <a:hlinkClick r:id="" action="ppaction://media"/>
            <a:extLst>
              <a:ext uri="{FF2B5EF4-FFF2-40B4-BE49-F238E27FC236}">
                <a16:creationId xmlns:a16="http://schemas.microsoft.com/office/drawing/2014/main" id="{B2789FBD-DC20-46FC-8A4E-5EB0CEA02DA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04346" y="1828801"/>
            <a:ext cx="7627054" cy="429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0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78788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01DD602-BBA6-4021-A9D9-90CE9645A0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pic>
        <p:nvPicPr>
          <p:cNvPr id="3074" name="Picture 2" descr="C:\Users\Melanie\Desktop\question-avant-evenemen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500" y="1339850"/>
            <a:ext cx="4191000" cy="4178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ZoneTexte 5"/>
          <p:cNvSpPr txBox="1"/>
          <p:nvPr/>
        </p:nvSpPr>
        <p:spPr>
          <a:xfrm>
            <a:off x="3753852" y="904771"/>
            <a:ext cx="4918510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fr-FR" sz="3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MERCI DE VOTRE ECOUTE</a:t>
            </a:r>
          </a:p>
        </p:txBody>
      </p:sp>
    </p:spTree>
    <p:extLst>
      <p:ext uri="{BB962C8B-B14F-4D97-AF65-F5344CB8AC3E}">
        <p14:creationId xmlns:p14="http://schemas.microsoft.com/office/powerpoint/2010/main" val="66144417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TM02900688[[fn=Facette]]</Template>
  <TotalTime>918</TotalTime>
  <Words>764</Words>
  <Application>Microsoft Office PowerPoint</Application>
  <PresentationFormat>Grand écran</PresentationFormat>
  <Paragraphs>145</Paragraphs>
  <Slides>19</Slides>
  <Notes>0</Notes>
  <HiddenSlides>0</HiddenSlides>
  <MMClips>2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19</vt:i4>
      </vt:variant>
    </vt:vector>
  </HeadingPairs>
  <TitlesOfParts>
    <vt:vector size="29" baseType="lpstr">
      <vt:lpstr>Arial</vt:lpstr>
      <vt:lpstr>Bell MT</vt:lpstr>
      <vt:lpstr>Calibri</vt:lpstr>
      <vt:lpstr>Calibri Light</vt:lpstr>
      <vt:lpstr>Candara</vt:lpstr>
      <vt:lpstr>Tw Cen MT</vt:lpstr>
      <vt:lpstr>Wingdings 2</vt:lpstr>
      <vt:lpstr>HDOfficeLightV0</vt:lpstr>
      <vt:lpstr>1_HDOfficeLightV0</vt:lpstr>
      <vt:lpstr>Ronds dans l’eau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Mine</dc:creator>
  <cp:lastModifiedBy>Corentin Marolleau</cp:lastModifiedBy>
  <cp:revision>100</cp:revision>
  <dcterms:created xsi:type="dcterms:W3CDTF">2018-05-07T08:16:39Z</dcterms:created>
  <dcterms:modified xsi:type="dcterms:W3CDTF">2018-05-20T16:33:18Z</dcterms:modified>
</cp:coreProperties>
</file>